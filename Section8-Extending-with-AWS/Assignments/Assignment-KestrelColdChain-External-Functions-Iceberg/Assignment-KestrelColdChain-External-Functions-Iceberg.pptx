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your next assignment. In this one, Snowflake calls a service running in AWS to work out the carbon footprint of every shipment, and the results are stored in your own S3 bucket. It uses what you learned in Section 8 about external functions and Iceberg tables, plus Time Travel and dynamic tables. You'll need your own AWS account, and it shouldn't take you more than a couple of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scenario. You're a data engineer at Kestrel Cold Chain, a refrigerated freight company in Rotterdam. New EU rules mean they now have to report the carbon footprint of every shipment, which is measured as CO2e, short for carbon dioxide equivalent. The maths for that belongs to another team, who run it as a Lambda function in AWS, and the booking website uses the same function. So you can't just copy the formula into SQL, because the two versions would drift apart. And the auditors want the reporting data in Kestrel's own S3 bucket, in an open format their own tools can read. The starter files give you a quarter's worth of shipments, including a few bad records, along with the code for that Lambda function.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your tasks. First, put the emissions calculator behind an endpoint that only Snowflake can call. Then call it from Snowflake and score every shipment, without copying any of the maths into SQL. This is exactly what external functions from Section 8 are for. Next, make sure the bad records are set aside, so they don't fail the whole run. After that, store the results in your own S3 bucket, in a format other tools can read, which is where Iceberg tables come in. Then handle the corrections and the late shipments, and show what a shipment looked like before it was fixed. And finally, publish a monthly report for the auditors. The starter files give you the shipments and the Lambda code. Give yourself a bit more time on this one, since it runs across AWS and Snowflake. And if an IAM step trips you up, my walkthrough at the link on screen covers both the AWS console and the CLI.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gnifydata.com/labs/snowflake-external-functions-iceberg-lakehouse-shipment-emissions" TargetMode="External"/><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Rounded Rectangle 5"/>
          <p:cNvSpPr/>
          <p:nvPr/>
        </p:nvSpPr>
        <p:spPr>
          <a:xfrm>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7" name="Rounded Rectangle 6"/>
          <p:cNvSpPr/>
          <p:nvPr/>
        </p:nvSpPr>
        <p:spPr>
          <a:xfrm rot="36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8" name="Rounded Rectangle 7"/>
          <p:cNvSpPr/>
          <p:nvPr/>
        </p:nvSpPr>
        <p:spPr>
          <a:xfrm rot="72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9" name="Diamond 8"/>
          <p:cNvSpPr/>
          <p:nvPr/>
        </p:nvSpPr>
        <p:spPr>
          <a:xfrm>
            <a:off x="10725912" y="3822192"/>
            <a:ext cx="402336" cy="402336"/>
          </a:xfrm>
          <a:prstGeom prst="diamond">
            <a:avLst/>
          </a:prstGeom>
          <a:solidFill>
            <a:srgbClr val="CBE8F7"/>
          </a:solidFill>
          <a:ln>
            <a:noFill/>
          </a:ln>
          <a:effectLst/>
        </p:spPr>
        <p:txBody>
          <a:bodyPr rtlCol="0" anchor="ctr"/>
          <a:lstStyle/>
          <a:p>
            <a:pPr algn="ctr"/>
          </a:p>
        </p:txBody>
      </p:sp>
      <p:sp>
        <p:nvSpPr>
          <p:cNvPr id="10" name="Diamond 9"/>
          <p:cNvSpPr/>
          <p:nvPr/>
        </p:nvSpPr>
        <p:spPr>
          <a:xfrm>
            <a:off x="11596994" y="4325112"/>
            <a:ext cx="402336" cy="402336"/>
          </a:xfrm>
          <a:prstGeom prst="diamond">
            <a:avLst/>
          </a:prstGeom>
          <a:solidFill>
            <a:srgbClr val="CBE8F7"/>
          </a:solidFill>
          <a:ln>
            <a:noFill/>
          </a:ln>
          <a:effectLst/>
        </p:spPr>
        <p:txBody>
          <a:bodyPr rtlCol="0" anchor="ctr"/>
          <a:lstStyle/>
          <a:p>
            <a:pPr algn="ctr"/>
          </a:p>
        </p:txBody>
      </p:sp>
      <p:sp>
        <p:nvSpPr>
          <p:cNvPr id="11" name="Diamond 10"/>
          <p:cNvSpPr/>
          <p:nvPr/>
        </p:nvSpPr>
        <p:spPr>
          <a:xfrm>
            <a:off x="11596994" y="5330951"/>
            <a:ext cx="402336" cy="402336"/>
          </a:xfrm>
          <a:prstGeom prst="diamond">
            <a:avLst/>
          </a:prstGeom>
          <a:solidFill>
            <a:srgbClr val="CBE8F7"/>
          </a:solidFill>
          <a:ln>
            <a:noFill/>
          </a:ln>
          <a:effectLst/>
        </p:spPr>
        <p:txBody>
          <a:bodyPr rtlCol="0" anchor="ctr"/>
          <a:lstStyle/>
          <a:p>
            <a:pPr algn="ctr"/>
          </a:p>
        </p:txBody>
      </p:sp>
      <p:sp>
        <p:nvSpPr>
          <p:cNvPr id="12" name="Diamond 11"/>
          <p:cNvSpPr/>
          <p:nvPr/>
        </p:nvSpPr>
        <p:spPr>
          <a:xfrm>
            <a:off x="10725912" y="5833872"/>
            <a:ext cx="402336" cy="402336"/>
          </a:xfrm>
          <a:prstGeom prst="diamond">
            <a:avLst/>
          </a:prstGeom>
          <a:solidFill>
            <a:srgbClr val="CBE8F7"/>
          </a:solidFill>
          <a:ln>
            <a:noFill/>
          </a:ln>
          <a:effectLst/>
        </p:spPr>
        <p:txBody>
          <a:bodyPr rtlCol="0" anchor="ctr"/>
          <a:lstStyle/>
          <a:p>
            <a:pPr algn="ctr"/>
          </a:p>
        </p:txBody>
      </p:sp>
      <p:sp>
        <p:nvSpPr>
          <p:cNvPr id="13" name="Diamond 12"/>
          <p:cNvSpPr/>
          <p:nvPr/>
        </p:nvSpPr>
        <p:spPr>
          <a:xfrm>
            <a:off x="9854830" y="5330952"/>
            <a:ext cx="402336" cy="402336"/>
          </a:xfrm>
          <a:prstGeom prst="diamond">
            <a:avLst/>
          </a:prstGeom>
          <a:solidFill>
            <a:srgbClr val="CBE8F7"/>
          </a:solidFill>
          <a:ln>
            <a:noFill/>
          </a:ln>
          <a:effectLst/>
        </p:spPr>
        <p:txBody>
          <a:bodyPr rtlCol="0" anchor="ctr"/>
          <a:lstStyle/>
          <a:p>
            <a:pPr algn="ctr"/>
          </a:p>
        </p:txBody>
      </p:sp>
      <p:sp>
        <p:nvSpPr>
          <p:cNvPr id="14" name="Diamond 13"/>
          <p:cNvSpPr/>
          <p:nvPr/>
        </p:nvSpPr>
        <p:spPr>
          <a:xfrm>
            <a:off x="9854830" y="4325112"/>
            <a:ext cx="402336" cy="402336"/>
          </a:xfrm>
          <a:prstGeom prst="diamond">
            <a:avLst/>
          </a:prstGeom>
          <a:solidFill>
            <a:srgbClr val="CBE8F7"/>
          </a:solidFill>
          <a:ln>
            <a:noFill/>
          </a:ln>
          <a:effectLst/>
        </p:spPr>
        <p:txBody>
          <a:bodyPr rtlCol="0" anchor="ctr"/>
          <a:lstStyle/>
          <a:p>
            <a:pPr algn="ctr"/>
          </a:p>
        </p:txBody>
      </p:sp>
      <p:sp>
        <p:nvSpPr>
          <p:cNvPr id="15" name="Oval 14"/>
          <p:cNvSpPr/>
          <p:nvPr/>
        </p:nvSpPr>
        <p:spPr>
          <a:xfrm>
            <a:off x="10685679" y="4787799"/>
            <a:ext cx="482803" cy="482803"/>
          </a:xfrm>
          <a:prstGeom prst="ellipse">
            <a:avLst/>
          </a:prstGeom>
          <a:solidFill>
            <a:srgbClr val="CBE8F7"/>
          </a:solidFill>
          <a:ln>
            <a:noFill/>
          </a:ln>
          <a:effectLst/>
        </p:spPr>
        <p:txBody>
          <a:bodyPr rtlCol="0" anchor="ctr"/>
          <a:lstStyle/>
          <a:p>
            <a:pPr algn="ctr"/>
          </a:p>
        </p:txBody>
      </p:sp>
      <p:sp>
        <p:nvSpPr>
          <p:cNvPr id="16" name="Rounded Rectangle 15"/>
          <p:cNvSpPr/>
          <p:nvPr/>
        </p:nvSpPr>
        <p:spPr>
          <a:xfrm>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7" name="Rounded Rectangle 16"/>
          <p:cNvSpPr/>
          <p:nvPr/>
        </p:nvSpPr>
        <p:spPr>
          <a:xfrm rot="36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8" name="Rounded Rectangle 17"/>
          <p:cNvSpPr/>
          <p:nvPr/>
        </p:nvSpPr>
        <p:spPr>
          <a:xfrm rot="72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9" name="Diamond 18"/>
          <p:cNvSpPr/>
          <p:nvPr/>
        </p:nvSpPr>
        <p:spPr>
          <a:xfrm>
            <a:off x="894284" y="446228"/>
            <a:ext cx="76809" cy="76809"/>
          </a:xfrm>
          <a:prstGeom prst="diamond">
            <a:avLst/>
          </a:prstGeom>
          <a:solidFill>
            <a:srgbClr val="29B5E8"/>
          </a:solidFill>
          <a:ln>
            <a:noFill/>
          </a:ln>
          <a:effectLst/>
        </p:spPr>
        <p:txBody>
          <a:bodyPr rtlCol="0" anchor="ctr"/>
          <a:lstStyle/>
          <a:p>
            <a:pPr algn="ctr"/>
          </a:p>
        </p:txBody>
      </p:sp>
      <p:sp>
        <p:nvSpPr>
          <p:cNvPr id="20" name="Diamond 19"/>
          <p:cNvSpPr/>
          <p:nvPr/>
        </p:nvSpPr>
        <p:spPr>
          <a:xfrm>
            <a:off x="1060581" y="542240"/>
            <a:ext cx="76809" cy="76809"/>
          </a:xfrm>
          <a:prstGeom prst="diamond">
            <a:avLst/>
          </a:prstGeom>
          <a:solidFill>
            <a:srgbClr val="29B5E8"/>
          </a:solidFill>
          <a:ln>
            <a:noFill/>
          </a:ln>
          <a:effectLst/>
        </p:spPr>
        <p:txBody>
          <a:bodyPr rtlCol="0" anchor="ctr"/>
          <a:lstStyle/>
          <a:p>
            <a:pPr algn="ctr"/>
          </a:p>
        </p:txBody>
      </p:sp>
      <p:sp>
        <p:nvSpPr>
          <p:cNvPr id="21" name="Diamond 20"/>
          <p:cNvSpPr/>
          <p:nvPr/>
        </p:nvSpPr>
        <p:spPr>
          <a:xfrm>
            <a:off x="1060581" y="734263"/>
            <a:ext cx="76809" cy="76809"/>
          </a:xfrm>
          <a:prstGeom prst="diamond">
            <a:avLst/>
          </a:prstGeom>
          <a:solidFill>
            <a:srgbClr val="29B5E8"/>
          </a:solidFill>
          <a:ln>
            <a:noFill/>
          </a:ln>
          <a:effectLst/>
        </p:spPr>
        <p:txBody>
          <a:bodyPr rtlCol="0" anchor="ctr"/>
          <a:lstStyle/>
          <a:p>
            <a:pPr algn="ctr"/>
          </a:p>
        </p:txBody>
      </p:sp>
      <p:sp>
        <p:nvSpPr>
          <p:cNvPr id="22" name="Diamond 21"/>
          <p:cNvSpPr/>
          <p:nvPr/>
        </p:nvSpPr>
        <p:spPr>
          <a:xfrm>
            <a:off x="894284" y="830276"/>
            <a:ext cx="76809" cy="76809"/>
          </a:xfrm>
          <a:prstGeom prst="diamond">
            <a:avLst/>
          </a:prstGeom>
          <a:solidFill>
            <a:srgbClr val="29B5E8"/>
          </a:solidFill>
          <a:ln>
            <a:noFill/>
          </a:ln>
          <a:effectLst/>
        </p:spPr>
        <p:txBody>
          <a:bodyPr rtlCol="0" anchor="ctr"/>
          <a:lstStyle/>
          <a:p>
            <a:pPr algn="ctr"/>
          </a:p>
        </p:txBody>
      </p:sp>
      <p:sp>
        <p:nvSpPr>
          <p:cNvPr id="23" name="Diamond 22"/>
          <p:cNvSpPr/>
          <p:nvPr/>
        </p:nvSpPr>
        <p:spPr>
          <a:xfrm>
            <a:off x="727987" y="734264"/>
            <a:ext cx="76809" cy="76809"/>
          </a:xfrm>
          <a:prstGeom prst="diamond">
            <a:avLst/>
          </a:prstGeom>
          <a:solidFill>
            <a:srgbClr val="29B5E8"/>
          </a:solidFill>
          <a:ln>
            <a:noFill/>
          </a:ln>
          <a:effectLst/>
        </p:spPr>
        <p:txBody>
          <a:bodyPr rtlCol="0" anchor="ctr"/>
          <a:lstStyle/>
          <a:p>
            <a:pPr algn="ctr"/>
          </a:p>
        </p:txBody>
      </p:sp>
      <p:sp>
        <p:nvSpPr>
          <p:cNvPr id="24" name="Diamond 23"/>
          <p:cNvSpPr/>
          <p:nvPr/>
        </p:nvSpPr>
        <p:spPr>
          <a:xfrm>
            <a:off x="727987" y="542240"/>
            <a:ext cx="76809" cy="76809"/>
          </a:xfrm>
          <a:prstGeom prst="diamond">
            <a:avLst/>
          </a:prstGeom>
          <a:solidFill>
            <a:srgbClr val="29B5E8"/>
          </a:solidFill>
          <a:ln>
            <a:noFill/>
          </a:ln>
          <a:effectLst/>
        </p:spPr>
        <p:txBody>
          <a:bodyPr rtlCol="0" anchor="ctr"/>
          <a:lstStyle/>
          <a:p>
            <a:pPr algn="ctr"/>
          </a:p>
        </p:txBody>
      </p:sp>
      <p:sp>
        <p:nvSpPr>
          <p:cNvPr id="25" name="Oval 24"/>
          <p:cNvSpPr/>
          <p:nvPr/>
        </p:nvSpPr>
        <p:spPr>
          <a:xfrm>
            <a:off x="886603" y="630571"/>
            <a:ext cx="92171" cy="92171"/>
          </a:xfrm>
          <a:prstGeom prst="ellipse">
            <a:avLst/>
          </a:prstGeom>
          <a:solidFill>
            <a:srgbClr val="29B5E8"/>
          </a:solidFill>
          <a:ln>
            <a:noFill/>
          </a:ln>
          <a:effectLst/>
        </p:spPr>
        <p:txBody>
          <a:bodyPr rtlCol="0" anchor="ctr"/>
          <a:lstStyle/>
          <a:p>
            <a:pPr algn="ctr"/>
          </a:p>
        </p:txBody>
      </p:sp>
      <p:sp>
        <p:nvSpPr>
          <p:cNvPr id="26" name="TextBox 25"/>
          <p:cNvSpPr txBox="1"/>
          <p:nvPr/>
        </p:nvSpPr>
        <p:spPr>
          <a:xfrm>
            <a:off x="1325880" y="502920"/>
            <a:ext cx="5486400" cy="365760"/>
          </a:xfrm>
          <a:prstGeom prst="rect">
            <a:avLst/>
          </a:prstGeom>
          <a:noFill/>
        </p:spPr>
        <p:txBody>
          <a:bodyPr wrap="square">
            <a:spAutoFit/>
          </a:bodyPr>
          <a:lstStyle/>
          <a:p>
            <a:pPr algn="l">
              <a:defRPr sz="1300" b="1" i="0">
                <a:solidFill>
                  <a:srgbClr val="11567F"/>
                </a:solidFill>
                <a:latin typeface="Segoe UI Semibold"/>
              </a:defRPr>
            </a:pPr>
            <a:r>
              <a:rPr spc="250"/>
              <a:t>SNOWFLAKE ON AWS</a:t>
            </a:r>
          </a:p>
        </p:txBody>
      </p:sp>
      <p:sp>
        <p:nvSpPr>
          <p:cNvPr id="27" name="TextBox 26"/>
          <p:cNvSpPr txBox="1"/>
          <p:nvPr/>
        </p:nvSpPr>
        <p:spPr>
          <a:xfrm>
            <a:off x="8503920" y="502920"/>
            <a:ext cx="2953512" cy="365760"/>
          </a:xfrm>
          <a:prstGeom prst="rect">
            <a:avLst/>
          </a:prstGeom>
          <a:noFill/>
        </p:spPr>
        <p:txBody>
          <a:bodyPr wrap="square">
            <a:spAutoFit/>
          </a:bodyPr>
          <a:lstStyle/>
          <a:p>
            <a:pPr algn="r">
              <a:defRPr sz="1200" b="1" i="0">
                <a:solidFill>
                  <a:srgbClr val="5A7184"/>
                </a:solidFill>
                <a:latin typeface="Segoe UI"/>
              </a:defRPr>
            </a:pPr>
            <a:r>
              <a:rPr spc="150"/>
              <a:t>HANDS-ON LAB</a:t>
            </a:r>
          </a:p>
        </p:txBody>
      </p:sp>
      <p:sp>
        <p:nvSpPr>
          <p:cNvPr id="28" name="Rectangle 27"/>
          <p:cNvSpPr/>
          <p:nvPr/>
        </p:nvSpPr>
        <p:spPr>
          <a:xfrm>
            <a:off x="758952" y="1755648"/>
            <a:ext cx="73152" cy="310896"/>
          </a:xfrm>
          <a:prstGeom prst="rect">
            <a:avLst/>
          </a:prstGeom>
          <a:solidFill>
            <a:srgbClr val="29B5E8"/>
          </a:solidFill>
          <a:ln>
            <a:noFill/>
          </a:ln>
          <a:effectLst/>
        </p:spPr>
        <p:txBody>
          <a:bodyPr rtlCol="0" anchor="ctr"/>
          <a:lstStyle/>
          <a:p>
            <a:pPr algn="ctr"/>
          </a:p>
        </p:txBody>
      </p:sp>
      <p:sp>
        <p:nvSpPr>
          <p:cNvPr id="29" name="TextBox 28"/>
          <p:cNvSpPr txBox="1"/>
          <p:nvPr/>
        </p:nvSpPr>
        <p:spPr>
          <a:xfrm>
            <a:off x="978408" y="1700784"/>
            <a:ext cx="8229600" cy="365760"/>
          </a:xfrm>
          <a:prstGeom prst="rect">
            <a:avLst/>
          </a:prstGeom>
          <a:noFill/>
        </p:spPr>
        <p:txBody>
          <a:bodyPr wrap="square">
            <a:spAutoFit/>
          </a:bodyPr>
          <a:lstStyle/>
          <a:p>
            <a:pPr algn="l">
              <a:defRPr sz="1500" b="1" i="0">
                <a:solidFill>
                  <a:srgbClr val="29B5E8"/>
                </a:solidFill>
                <a:latin typeface="Segoe UI Semibold"/>
              </a:defRPr>
            </a:pPr>
            <a:r>
              <a:rPr spc="200"/>
              <a:t>EXTERNAL FUNCTIONS AND AN ICEBERG LAKEHOUSE</a:t>
            </a:r>
          </a:p>
        </p:txBody>
      </p:sp>
      <p:sp>
        <p:nvSpPr>
          <p:cNvPr id="30" name="TextBox 29"/>
          <p:cNvSpPr txBox="1"/>
          <p:nvPr/>
        </p:nvSpPr>
        <p:spPr>
          <a:xfrm>
            <a:off x="731520" y="2240280"/>
            <a:ext cx="9692640" cy="1188720"/>
          </a:xfrm>
          <a:prstGeom prst="rect">
            <a:avLst/>
          </a:prstGeom>
          <a:noFill/>
        </p:spPr>
        <p:txBody>
          <a:bodyPr wrap="square">
            <a:spAutoFit/>
          </a:bodyPr>
          <a:lstStyle/>
          <a:p>
            <a:pPr algn="l">
              <a:defRPr sz="4000" b="1" i="0">
                <a:solidFill>
                  <a:srgbClr val="11283B"/>
                </a:solidFill>
                <a:latin typeface="Segoe UI Semibold"/>
              </a:defRPr>
            </a:pPr>
            <a:r>
              <a:t>Kestrel Cold Chain</a:t>
            </a:r>
          </a:p>
        </p:txBody>
      </p:sp>
      <p:sp>
        <p:nvSpPr>
          <p:cNvPr id="31" name="TextBox 30"/>
          <p:cNvSpPr txBox="1"/>
          <p:nvPr/>
        </p:nvSpPr>
        <p:spPr>
          <a:xfrm>
            <a:off x="731520" y="3200400"/>
            <a:ext cx="8961120" cy="914400"/>
          </a:xfrm>
          <a:prstGeom prst="rect">
            <a:avLst/>
          </a:prstGeom>
          <a:noFill/>
        </p:spPr>
        <p:txBody>
          <a:bodyPr wrap="square">
            <a:spAutoFit/>
          </a:bodyPr>
          <a:lstStyle/>
          <a:p>
            <a:pPr algn="l">
              <a:defRPr sz="2600" b="1" i="0">
                <a:solidFill>
                  <a:srgbClr val="29B5E8"/>
                </a:solidFill>
                <a:latin typeface="Segoe UI Semibold"/>
              </a:defRPr>
            </a:pPr>
            <a:r>
              <a:t>Score every shipment's carbon footprint and keep the report in your own S3</a:t>
            </a:r>
          </a:p>
        </p:txBody>
      </p:sp>
      <p:sp>
        <p:nvSpPr>
          <p:cNvPr id="32" name="Rectangle 31"/>
          <p:cNvSpPr/>
          <p:nvPr/>
        </p:nvSpPr>
        <p:spPr>
          <a:xfrm>
            <a:off x="731520" y="4315968"/>
            <a:ext cx="2743200" cy="27432"/>
          </a:xfrm>
          <a:prstGeom prst="rect">
            <a:avLst/>
          </a:prstGeom>
          <a:solidFill>
            <a:srgbClr val="29B5E8"/>
          </a:solidFill>
          <a:ln>
            <a:noFill/>
          </a:ln>
          <a:effectLst/>
        </p:spPr>
        <p:txBody>
          <a:bodyPr rtlCol="0" anchor="ctr"/>
          <a:lstStyle/>
          <a:p>
            <a:pPr algn="ctr"/>
          </a:p>
        </p:txBody>
      </p:sp>
      <p:sp>
        <p:nvSpPr>
          <p:cNvPr id="33" name="TextBox 32"/>
          <p:cNvSpPr txBox="1"/>
          <p:nvPr/>
        </p:nvSpPr>
        <p:spPr>
          <a:xfrm>
            <a:off x="731520" y="4526280"/>
            <a:ext cx="8595360" cy="640080"/>
          </a:xfrm>
          <a:prstGeom prst="rect">
            <a:avLst/>
          </a:prstGeom>
          <a:noFill/>
        </p:spPr>
        <p:txBody>
          <a:bodyPr wrap="square">
            <a:spAutoFit/>
          </a:bodyPr>
          <a:lstStyle/>
          <a:p>
            <a:pPr algn="l">
              <a:defRPr sz="2000" b="0" i="0">
                <a:solidFill>
                  <a:srgbClr val="5A7184"/>
                </a:solidFill>
                <a:latin typeface="Segoe UI Semibold"/>
              </a:defRPr>
            </a:pPr>
            <a:r>
              <a:t>Intermediate  •  Should take you no more than a couple of hours</a:t>
            </a:r>
          </a:p>
        </p:txBody>
      </p:sp>
      <p:sp>
        <p:nvSpPr>
          <p:cNvPr id="34" name="TextBox 33"/>
          <p:cNvSpPr txBox="1"/>
          <p:nvPr/>
        </p:nvSpPr>
        <p:spPr>
          <a:xfrm>
            <a:off x="731520" y="5230368"/>
            <a:ext cx="8595360" cy="548640"/>
          </a:xfrm>
          <a:prstGeom prst="rect">
            <a:avLst/>
          </a:prstGeom>
          <a:noFill/>
        </p:spPr>
        <p:txBody>
          <a:bodyPr wrap="square">
            <a:spAutoFit/>
          </a:bodyPr>
          <a:lstStyle/>
          <a:p>
            <a:pPr algn="l">
              <a:defRPr sz="1500" b="0" i="0">
                <a:solidFill>
                  <a:srgbClr val="5A7184"/>
                </a:solidFill>
                <a:latin typeface="Segoe UI"/>
              </a:defRPr>
            </a:pPr>
            <a:r>
              <a:t>Uses what you learned in Section 8, plus Time Travel and dynamic tables</a:t>
            </a:r>
          </a:p>
        </p:txBody>
      </p:sp>
      <p:sp>
        <p:nvSpPr>
          <p:cNvPr id="35" name="TextBox 3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The Scenario</a:t>
            </a:r>
          </a:p>
        </p:txBody>
      </p:sp>
      <p:sp>
        <p:nvSpPr>
          <p:cNvPr id="7" name="Rectangle 6"/>
          <p:cNvSpPr/>
          <p:nvPr/>
        </p:nvSpPr>
        <p:spPr>
          <a:xfrm>
            <a:off x="731520" y="1005840"/>
            <a:ext cx="2286000" cy="27432"/>
          </a:xfrm>
          <a:prstGeom prst="rect">
            <a:avLst/>
          </a:prstGeom>
          <a:solidFill>
            <a:srgbClr val="E8833A"/>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A refrigerated freight forwarder in Rotterdam with a new reporting duty</a:t>
            </a:r>
          </a:p>
        </p:txBody>
      </p:sp>
      <p:sp>
        <p:nvSpPr>
          <p:cNvPr id="9" name="Rounded Rectangle 8"/>
          <p:cNvSpPr/>
          <p:nvPr/>
        </p:nvSpPr>
        <p:spPr>
          <a:xfrm>
            <a:off x="731520" y="1783080"/>
            <a:ext cx="10698480" cy="1005840"/>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1051560" y="2011680"/>
            <a:ext cx="548640" cy="548640"/>
          </a:xfrm>
          <a:prstGeom prst="ellipse">
            <a:avLst/>
          </a:prstGeom>
          <a:solidFill>
            <a:srgbClr val="29B5E8"/>
          </a:solidFill>
          <a:ln>
            <a:noFill/>
          </a:ln>
          <a:effectLst/>
        </p:spPr>
        <p:txBody>
          <a:bodyPr rtlCol="0" anchor="ctr" wrap="none"/>
          <a:lstStyle/>
          <a:p>
            <a:pPr algn="ctr">
              <a:defRPr sz="1000">
                <a:solidFill>
                  <a:srgbClr val="FFFFFF"/>
                </a:solidFill>
              </a:defRPr>
            </a:pPr>
            <a:r>
              <a:t>🚚</a:t>
            </a:r>
          </a:p>
        </p:txBody>
      </p:sp>
      <p:sp>
        <p:nvSpPr>
          <p:cNvPr id="11" name="TextBox 10"/>
          <p:cNvSpPr txBox="1"/>
          <p:nvPr/>
        </p:nvSpPr>
        <p:spPr>
          <a:xfrm>
            <a:off x="1828800" y="1929384"/>
            <a:ext cx="9326880" cy="411480"/>
          </a:xfrm>
          <a:prstGeom prst="rect">
            <a:avLst/>
          </a:prstGeom>
          <a:noFill/>
        </p:spPr>
        <p:txBody>
          <a:bodyPr wrap="square">
            <a:spAutoFit/>
          </a:bodyPr>
          <a:lstStyle/>
          <a:p>
            <a:pPr algn="l">
              <a:defRPr sz="1800" b="1" i="0">
                <a:solidFill>
                  <a:srgbClr val="11283B"/>
                </a:solidFill>
                <a:latin typeface="Segoe UI"/>
              </a:defRPr>
            </a:pPr>
            <a:r>
              <a:t>Every shipment now needs a carbon number</a:t>
            </a:r>
          </a:p>
        </p:txBody>
      </p:sp>
      <p:sp>
        <p:nvSpPr>
          <p:cNvPr id="12" name="TextBox 11"/>
          <p:cNvSpPr txBox="1"/>
          <p:nvPr/>
        </p:nvSpPr>
        <p:spPr>
          <a:xfrm>
            <a:off x="1828800" y="2350008"/>
            <a:ext cx="9326880" cy="402336"/>
          </a:xfrm>
          <a:prstGeom prst="rect">
            <a:avLst/>
          </a:prstGeom>
          <a:noFill/>
        </p:spPr>
        <p:txBody>
          <a:bodyPr wrap="square">
            <a:spAutoFit/>
          </a:bodyPr>
          <a:lstStyle/>
          <a:p>
            <a:pPr algn="l">
              <a:defRPr sz="1350" b="0" i="0">
                <a:solidFill>
                  <a:srgbClr val="5A7184"/>
                </a:solidFill>
                <a:latin typeface="Segoe UI"/>
              </a:defRPr>
            </a:pPr>
            <a:r>
              <a:t>New EU sustainability rules mean Kestrel has to report the CO2e of every shipment, by road, rail, sea and air.</a:t>
            </a:r>
          </a:p>
        </p:txBody>
      </p:sp>
      <p:sp>
        <p:nvSpPr>
          <p:cNvPr id="13" name="Rounded Rectangle 12"/>
          <p:cNvSpPr/>
          <p:nvPr/>
        </p:nvSpPr>
        <p:spPr>
          <a:xfrm>
            <a:off x="731520" y="2916936"/>
            <a:ext cx="10698480" cy="1005840"/>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4" name="Oval 13"/>
          <p:cNvSpPr/>
          <p:nvPr/>
        </p:nvSpPr>
        <p:spPr>
          <a:xfrm>
            <a:off x="1051560" y="3145536"/>
            <a:ext cx="548640" cy="548640"/>
          </a:xfrm>
          <a:prstGeom prst="ellipse">
            <a:avLst/>
          </a:prstGeom>
          <a:solidFill>
            <a:srgbClr val="E8833A"/>
          </a:solidFill>
          <a:ln>
            <a:noFill/>
          </a:ln>
          <a:effectLst/>
        </p:spPr>
        <p:txBody>
          <a:bodyPr rtlCol="0" anchor="ctr" wrap="none"/>
          <a:lstStyle/>
          <a:p>
            <a:pPr algn="ctr">
              <a:defRPr sz="1000">
                <a:solidFill>
                  <a:srgbClr val="FFFFFF"/>
                </a:solidFill>
              </a:defRPr>
            </a:pPr>
            <a:r>
              <a:t>🧮</a:t>
            </a:r>
          </a:p>
        </p:txBody>
      </p:sp>
      <p:sp>
        <p:nvSpPr>
          <p:cNvPr id="15" name="TextBox 14"/>
          <p:cNvSpPr txBox="1"/>
          <p:nvPr/>
        </p:nvSpPr>
        <p:spPr>
          <a:xfrm>
            <a:off x="1828800" y="3063240"/>
            <a:ext cx="9326880" cy="411480"/>
          </a:xfrm>
          <a:prstGeom prst="rect">
            <a:avLst/>
          </a:prstGeom>
          <a:noFill/>
        </p:spPr>
        <p:txBody>
          <a:bodyPr wrap="square">
            <a:spAutoFit/>
          </a:bodyPr>
          <a:lstStyle/>
          <a:p>
            <a:pPr algn="l">
              <a:defRPr sz="1800" b="1" i="0">
                <a:solidFill>
                  <a:srgbClr val="11283B"/>
                </a:solidFill>
                <a:latin typeface="Segoe UI"/>
              </a:defRPr>
            </a:pPr>
            <a:r>
              <a:t>The emissions maths belongs to another team</a:t>
            </a:r>
          </a:p>
        </p:txBody>
      </p:sp>
      <p:sp>
        <p:nvSpPr>
          <p:cNvPr id="16" name="TextBox 15"/>
          <p:cNvSpPr txBox="1"/>
          <p:nvPr/>
        </p:nvSpPr>
        <p:spPr>
          <a:xfrm>
            <a:off x="1828800" y="3483864"/>
            <a:ext cx="9326880" cy="402336"/>
          </a:xfrm>
          <a:prstGeom prst="rect">
            <a:avLst/>
          </a:prstGeom>
          <a:noFill/>
        </p:spPr>
        <p:txBody>
          <a:bodyPr wrap="square">
            <a:spAutoFit/>
          </a:bodyPr>
          <a:lstStyle/>
          <a:p>
            <a:pPr algn="l">
              <a:defRPr sz="1350" b="0" i="0">
                <a:solidFill>
                  <a:srgbClr val="5A7184"/>
                </a:solidFill>
                <a:latin typeface="Segoe UI"/>
              </a:defRPr>
            </a:pPr>
            <a:r>
              <a:t>It runs as an AWS Lambda function the booking website also uses. Copy it into SQL and the two drift apart.</a:t>
            </a:r>
          </a:p>
        </p:txBody>
      </p:sp>
      <p:sp>
        <p:nvSpPr>
          <p:cNvPr id="17" name="Rounded Rectangle 16"/>
          <p:cNvSpPr/>
          <p:nvPr/>
        </p:nvSpPr>
        <p:spPr>
          <a:xfrm>
            <a:off x="731520" y="4050792"/>
            <a:ext cx="10698480" cy="1005840"/>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18" name="Oval 17"/>
          <p:cNvSpPr/>
          <p:nvPr/>
        </p:nvSpPr>
        <p:spPr>
          <a:xfrm>
            <a:off x="1051560" y="4279392"/>
            <a:ext cx="548640" cy="548640"/>
          </a:xfrm>
          <a:prstGeom prst="ellipse">
            <a:avLst/>
          </a:prstGeom>
          <a:solidFill>
            <a:srgbClr val="E5484D"/>
          </a:solidFill>
          <a:ln>
            <a:noFill/>
          </a:ln>
          <a:effectLst/>
        </p:spPr>
        <p:txBody>
          <a:bodyPr rtlCol="0" anchor="ctr" wrap="none"/>
          <a:lstStyle/>
          <a:p>
            <a:pPr algn="ctr">
              <a:defRPr sz="1000">
                <a:solidFill>
                  <a:srgbClr val="FFFFFF"/>
                </a:solidFill>
              </a:defRPr>
            </a:pPr>
            <a:r>
              <a:t>🗄️</a:t>
            </a:r>
          </a:p>
        </p:txBody>
      </p:sp>
      <p:sp>
        <p:nvSpPr>
          <p:cNvPr id="19" name="TextBox 18"/>
          <p:cNvSpPr txBox="1"/>
          <p:nvPr/>
        </p:nvSpPr>
        <p:spPr>
          <a:xfrm>
            <a:off x="1828800" y="4197096"/>
            <a:ext cx="9326880" cy="411480"/>
          </a:xfrm>
          <a:prstGeom prst="rect">
            <a:avLst/>
          </a:prstGeom>
          <a:noFill/>
        </p:spPr>
        <p:txBody>
          <a:bodyPr wrap="square">
            <a:spAutoFit/>
          </a:bodyPr>
          <a:lstStyle/>
          <a:p>
            <a:pPr algn="l">
              <a:defRPr sz="1800" b="1" i="0">
                <a:solidFill>
                  <a:srgbClr val="11283B"/>
                </a:solidFill>
                <a:latin typeface="Segoe UI"/>
              </a:defRPr>
            </a:pPr>
            <a:r>
              <a:t>And the auditors want the data in Kestrel's own bucket</a:t>
            </a:r>
          </a:p>
        </p:txBody>
      </p:sp>
      <p:sp>
        <p:nvSpPr>
          <p:cNvPr id="20" name="TextBox 19"/>
          <p:cNvSpPr txBox="1"/>
          <p:nvPr/>
        </p:nvSpPr>
        <p:spPr>
          <a:xfrm>
            <a:off x="1828800" y="4617720"/>
            <a:ext cx="9326880" cy="402336"/>
          </a:xfrm>
          <a:prstGeom prst="rect">
            <a:avLst/>
          </a:prstGeom>
          <a:noFill/>
        </p:spPr>
        <p:txBody>
          <a:bodyPr wrap="square">
            <a:spAutoFit/>
          </a:bodyPr>
          <a:lstStyle/>
          <a:p>
            <a:pPr algn="l">
              <a:defRPr sz="1350" b="0" i="0">
                <a:solidFill>
                  <a:srgbClr val="5A7184"/>
                </a:solidFill>
                <a:latin typeface="Segoe UI"/>
              </a:defRPr>
            </a:pPr>
            <a:r>
              <a:t>The reporting tables must sit in Kestrel's S3, in an open table format their own tools can read.</a:t>
            </a:r>
          </a:p>
        </p:txBody>
      </p:sp>
      <p:sp>
        <p:nvSpPr>
          <p:cNvPr id="21" name="Rounded Rectangle 20"/>
          <p:cNvSpPr/>
          <p:nvPr/>
        </p:nvSpPr>
        <p:spPr>
          <a:xfrm>
            <a:off x="731520" y="5230368"/>
            <a:ext cx="10698480" cy="960120"/>
          </a:xfrm>
          <a:prstGeom prst="roundRect">
            <a:avLst>
              <a:gd name="adj" fmla="val 8000"/>
            </a:avLst>
          </a:prstGeom>
          <a:solidFill>
            <a:srgbClr val="EAF3FA"/>
          </a:solidFill>
          <a:ln w="19050">
            <a:solidFill>
              <a:srgbClr val="1BA37A"/>
            </a:solidFill>
          </a:ln>
          <a:effectLst/>
        </p:spPr>
        <p:txBody>
          <a:bodyPr rtlCol="0" anchor="ctr"/>
          <a:lstStyle/>
          <a:p>
            <a:pPr algn="ctr"/>
          </a:p>
        </p:txBody>
      </p:sp>
      <p:sp>
        <p:nvSpPr>
          <p:cNvPr id="22" name="Oval 21"/>
          <p:cNvSpPr/>
          <p:nvPr/>
        </p:nvSpPr>
        <p:spPr>
          <a:xfrm>
            <a:off x="987552" y="5504688"/>
            <a:ext cx="420624" cy="420624"/>
          </a:xfrm>
          <a:prstGeom prst="ellipse">
            <a:avLst/>
          </a:prstGeom>
          <a:solidFill>
            <a:srgbClr val="1BA37A"/>
          </a:solidFill>
          <a:ln>
            <a:noFill/>
          </a:ln>
          <a:effectLst/>
        </p:spPr>
        <p:txBody>
          <a:bodyPr rtlCol="0" anchor="ctr" wrap="none"/>
          <a:lstStyle/>
          <a:p>
            <a:pPr algn="ctr">
              <a:defRPr sz="800">
                <a:solidFill>
                  <a:srgbClr val="FFFFFF"/>
                </a:solidFill>
              </a:defRPr>
            </a:pPr>
            <a:r>
              <a:t>☁️</a:t>
            </a:r>
          </a:p>
        </p:txBody>
      </p:sp>
      <p:sp>
        <p:nvSpPr>
          <p:cNvPr id="23" name="TextBox 22"/>
          <p:cNvSpPr txBox="1"/>
          <p:nvPr/>
        </p:nvSpPr>
        <p:spPr>
          <a:xfrm>
            <a:off x="1645920" y="5321807"/>
            <a:ext cx="9509760" cy="274320"/>
          </a:xfrm>
          <a:prstGeom prst="rect">
            <a:avLst/>
          </a:prstGeom>
          <a:noFill/>
        </p:spPr>
        <p:txBody>
          <a:bodyPr wrap="square">
            <a:spAutoFit/>
          </a:bodyPr>
          <a:lstStyle/>
          <a:p>
            <a:pPr algn="l">
              <a:defRPr sz="1050" b="1" i="0">
                <a:solidFill>
                  <a:srgbClr val="5A7184"/>
                </a:solidFill>
                <a:latin typeface="Segoe UI"/>
              </a:defRPr>
            </a:pPr>
            <a:r>
              <a:t>THE DATA</a:t>
            </a:r>
          </a:p>
        </p:txBody>
      </p:sp>
      <p:sp>
        <p:nvSpPr>
          <p:cNvPr id="24" name="TextBox 23"/>
          <p:cNvSpPr txBox="1"/>
          <p:nvPr/>
        </p:nvSpPr>
        <p:spPr>
          <a:xfrm>
            <a:off x="1645920" y="5577840"/>
            <a:ext cx="9601200" cy="566928"/>
          </a:xfrm>
          <a:prstGeom prst="rect">
            <a:avLst/>
          </a:prstGeom>
          <a:noFill/>
        </p:spPr>
        <p:txBody>
          <a:bodyPr wrap="square">
            <a:spAutoFit/>
          </a:bodyPr>
          <a:lstStyle/>
          <a:p>
            <a:pPr algn="l">
              <a:defRPr sz="1350" b="0" i="0">
                <a:solidFill>
                  <a:srgbClr val="11283B"/>
                </a:solidFill>
                <a:latin typeface="Segoe UI"/>
              </a:defRPr>
            </a:pPr>
            <a:r>
              <a:t>A quarter of shipments and the Lambda code, both in the starter files. You need your own AWS account.</a:t>
            </a:r>
          </a:p>
        </p:txBody>
      </p:sp>
      <p:sp>
        <p:nvSpPr>
          <p:cNvPr id="25" name="TextBox 2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Your Tasks</a:t>
            </a:r>
          </a:p>
        </p:txBody>
      </p:sp>
      <p:sp>
        <p:nvSpPr>
          <p:cNvPr id="7" name="Rectangle 6"/>
          <p:cNvSpPr/>
          <p:nvPr/>
        </p:nvSpPr>
        <p:spPr>
          <a:xfrm>
            <a:off x="731520" y="1005840"/>
            <a:ext cx="2286000" cy="27432"/>
          </a:xfrm>
          <a:prstGeom prst="rect">
            <a:avLst/>
          </a:prstGeom>
          <a:solidFill>
            <a:srgbClr val="29B5E8"/>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Try it yourself first with the starter files, then compare with the full solution</a:t>
            </a:r>
          </a:p>
        </p:txBody>
      </p:sp>
      <p:sp>
        <p:nvSpPr>
          <p:cNvPr id="9" name="Rounded Rectangle 8"/>
          <p:cNvSpPr/>
          <p:nvPr/>
        </p:nvSpPr>
        <p:spPr>
          <a:xfrm>
            <a:off x="731520" y="1691640"/>
            <a:ext cx="5257800" cy="603504"/>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886968" y="1810512"/>
            <a:ext cx="365760" cy="365760"/>
          </a:xfrm>
          <a:prstGeom prst="ellipse">
            <a:avLst/>
          </a:prstGeom>
          <a:solidFill>
            <a:srgbClr val="29B5E8"/>
          </a:solidFill>
          <a:ln>
            <a:noFill/>
          </a:ln>
          <a:effectLst/>
        </p:spPr>
        <p:txBody>
          <a:bodyPr rtlCol="0" anchor="ctr" wrap="none"/>
          <a:lstStyle/>
          <a:p>
            <a:pPr algn="ctr">
              <a:defRPr sz="700">
                <a:solidFill>
                  <a:srgbClr val="FFFFFF"/>
                </a:solidFill>
              </a:defRPr>
            </a:pPr>
            <a:r>
              <a:t>1</a:t>
            </a:r>
          </a:p>
        </p:txBody>
      </p:sp>
      <p:sp>
        <p:nvSpPr>
          <p:cNvPr id="11" name="TextBox 10"/>
          <p:cNvSpPr txBox="1"/>
          <p:nvPr/>
        </p:nvSpPr>
        <p:spPr>
          <a:xfrm>
            <a:off x="1417320" y="1691640"/>
            <a:ext cx="4434840" cy="603504"/>
          </a:xfrm>
          <a:prstGeom prst="rect">
            <a:avLst/>
          </a:prstGeom>
          <a:noFill/>
        </p:spPr>
        <p:txBody>
          <a:bodyPr wrap="square" anchor="ctr">
            <a:spAutoFit/>
          </a:bodyPr>
          <a:lstStyle/>
          <a:p>
            <a:pPr algn="l">
              <a:defRPr sz="1350" b="1" i="0">
                <a:solidFill>
                  <a:srgbClr val="11283B"/>
                </a:solidFill>
                <a:latin typeface="Segoe UI"/>
              </a:defRPr>
            </a:pPr>
            <a:r>
              <a:t>Put the calculator behind an endpoint only Snowflake can call</a:t>
            </a:r>
          </a:p>
        </p:txBody>
      </p:sp>
      <p:sp>
        <p:nvSpPr>
          <p:cNvPr id="12" name="Rounded Rectangle 11"/>
          <p:cNvSpPr/>
          <p:nvPr/>
        </p:nvSpPr>
        <p:spPr>
          <a:xfrm>
            <a:off x="6172200" y="1691640"/>
            <a:ext cx="5257800" cy="603504"/>
          </a:xfrm>
          <a:prstGeom prst="roundRect">
            <a:avLst>
              <a:gd name="adj" fmla="val 8000"/>
            </a:avLst>
          </a:prstGeom>
          <a:solidFill>
            <a:srgbClr val="F4F8FB"/>
          </a:solidFill>
          <a:ln w="19050">
            <a:solidFill>
              <a:srgbClr val="6B5BD2"/>
            </a:solidFill>
          </a:ln>
          <a:effectLst/>
        </p:spPr>
        <p:txBody>
          <a:bodyPr rtlCol="0" anchor="ctr"/>
          <a:lstStyle/>
          <a:p>
            <a:pPr algn="ctr"/>
          </a:p>
        </p:txBody>
      </p:sp>
      <p:sp>
        <p:nvSpPr>
          <p:cNvPr id="13" name="Oval 12"/>
          <p:cNvSpPr/>
          <p:nvPr/>
        </p:nvSpPr>
        <p:spPr>
          <a:xfrm>
            <a:off x="6327648" y="1810512"/>
            <a:ext cx="365760" cy="365760"/>
          </a:xfrm>
          <a:prstGeom prst="ellipse">
            <a:avLst/>
          </a:prstGeom>
          <a:solidFill>
            <a:srgbClr val="6B5BD2"/>
          </a:solidFill>
          <a:ln>
            <a:noFill/>
          </a:ln>
          <a:effectLst/>
        </p:spPr>
        <p:txBody>
          <a:bodyPr rtlCol="0" anchor="ctr" wrap="none"/>
          <a:lstStyle/>
          <a:p>
            <a:pPr algn="ctr">
              <a:defRPr sz="700">
                <a:solidFill>
                  <a:srgbClr val="FFFFFF"/>
                </a:solidFill>
              </a:defRPr>
            </a:pPr>
            <a:r>
              <a:t>2</a:t>
            </a:r>
          </a:p>
        </p:txBody>
      </p:sp>
      <p:sp>
        <p:nvSpPr>
          <p:cNvPr id="14" name="TextBox 13"/>
          <p:cNvSpPr txBox="1"/>
          <p:nvPr/>
        </p:nvSpPr>
        <p:spPr>
          <a:xfrm>
            <a:off x="6858000" y="1691640"/>
            <a:ext cx="4434840" cy="603504"/>
          </a:xfrm>
          <a:prstGeom prst="rect">
            <a:avLst/>
          </a:prstGeom>
          <a:noFill/>
        </p:spPr>
        <p:txBody>
          <a:bodyPr wrap="square" anchor="ctr">
            <a:spAutoFit/>
          </a:bodyPr>
          <a:lstStyle/>
          <a:p>
            <a:pPr algn="l">
              <a:defRPr sz="1350" b="1" i="0">
                <a:solidFill>
                  <a:srgbClr val="11283B"/>
                </a:solidFill>
                <a:latin typeface="Segoe UI"/>
              </a:defRPr>
            </a:pPr>
            <a:r>
              <a:t>Score every shipment from Snowflake, with no maths copied into SQL</a:t>
            </a:r>
          </a:p>
        </p:txBody>
      </p:sp>
      <p:sp>
        <p:nvSpPr>
          <p:cNvPr id="15" name="Rounded Rectangle 14"/>
          <p:cNvSpPr/>
          <p:nvPr/>
        </p:nvSpPr>
        <p:spPr>
          <a:xfrm>
            <a:off x="731520" y="2404872"/>
            <a:ext cx="5257800" cy="603504"/>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6" name="Oval 15"/>
          <p:cNvSpPr/>
          <p:nvPr/>
        </p:nvSpPr>
        <p:spPr>
          <a:xfrm>
            <a:off x="886968" y="2523744"/>
            <a:ext cx="365760" cy="365760"/>
          </a:xfrm>
          <a:prstGeom prst="ellipse">
            <a:avLst/>
          </a:prstGeom>
          <a:solidFill>
            <a:srgbClr val="E8833A"/>
          </a:solidFill>
          <a:ln>
            <a:noFill/>
          </a:ln>
          <a:effectLst/>
        </p:spPr>
        <p:txBody>
          <a:bodyPr rtlCol="0" anchor="ctr" wrap="none"/>
          <a:lstStyle/>
          <a:p>
            <a:pPr algn="ctr">
              <a:defRPr sz="700">
                <a:solidFill>
                  <a:srgbClr val="FFFFFF"/>
                </a:solidFill>
              </a:defRPr>
            </a:pPr>
            <a:r>
              <a:t>3</a:t>
            </a:r>
          </a:p>
        </p:txBody>
      </p:sp>
      <p:sp>
        <p:nvSpPr>
          <p:cNvPr id="17" name="TextBox 16"/>
          <p:cNvSpPr txBox="1"/>
          <p:nvPr/>
        </p:nvSpPr>
        <p:spPr>
          <a:xfrm>
            <a:off x="1417320" y="2404872"/>
            <a:ext cx="4434840" cy="603504"/>
          </a:xfrm>
          <a:prstGeom prst="rect">
            <a:avLst/>
          </a:prstGeom>
          <a:noFill/>
        </p:spPr>
        <p:txBody>
          <a:bodyPr wrap="square" anchor="ctr">
            <a:spAutoFit/>
          </a:bodyPr>
          <a:lstStyle/>
          <a:p>
            <a:pPr algn="l">
              <a:defRPr sz="1350" b="1" i="0">
                <a:solidFill>
                  <a:srgbClr val="11283B"/>
                </a:solidFill>
                <a:latin typeface="Segoe UI"/>
              </a:defRPr>
            </a:pPr>
            <a:r>
              <a:t>Set bad records aside so they don't fail the whole run</a:t>
            </a:r>
          </a:p>
        </p:txBody>
      </p:sp>
      <p:sp>
        <p:nvSpPr>
          <p:cNvPr id="18" name="Rounded Rectangle 17"/>
          <p:cNvSpPr/>
          <p:nvPr/>
        </p:nvSpPr>
        <p:spPr>
          <a:xfrm>
            <a:off x="6172200" y="2404872"/>
            <a:ext cx="5257800" cy="603504"/>
          </a:xfrm>
          <a:prstGeom prst="roundRect">
            <a:avLst>
              <a:gd name="adj" fmla="val 8000"/>
            </a:avLst>
          </a:prstGeom>
          <a:solidFill>
            <a:srgbClr val="F4F8FB"/>
          </a:solidFill>
          <a:ln w="19050">
            <a:solidFill>
              <a:srgbClr val="1BA37A"/>
            </a:solidFill>
          </a:ln>
          <a:effectLst/>
        </p:spPr>
        <p:txBody>
          <a:bodyPr rtlCol="0" anchor="ctr"/>
          <a:lstStyle/>
          <a:p>
            <a:pPr algn="ctr"/>
          </a:p>
        </p:txBody>
      </p:sp>
      <p:sp>
        <p:nvSpPr>
          <p:cNvPr id="19" name="Oval 18"/>
          <p:cNvSpPr/>
          <p:nvPr/>
        </p:nvSpPr>
        <p:spPr>
          <a:xfrm>
            <a:off x="6327648" y="2523744"/>
            <a:ext cx="365760" cy="365760"/>
          </a:xfrm>
          <a:prstGeom prst="ellipse">
            <a:avLst/>
          </a:prstGeom>
          <a:solidFill>
            <a:srgbClr val="1BA37A"/>
          </a:solidFill>
          <a:ln>
            <a:noFill/>
          </a:ln>
          <a:effectLst/>
        </p:spPr>
        <p:txBody>
          <a:bodyPr rtlCol="0" anchor="ctr" wrap="none"/>
          <a:lstStyle/>
          <a:p>
            <a:pPr algn="ctr">
              <a:defRPr sz="700">
                <a:solidFill>
                  <a:srgbClr val="FFFFFF"/>
                </a:solidFill>
              </a:defRPr>
            </a:pPr>
            <a:r>
              <a:t>4</a:t>
            </a:r>
          </a:p>
        </p:txBody>
      </p:sp>
      <p:sp>
        <p:nvSpPr>
          <p:cNvPr id="20" name="TextBox 19"/>
          <p:cNvSpPr txBox="1"/>
          <p:nvPr/>
        </p:nvSpPr>
        <p:spPr>
          <a:xfrm>
            <a:off x="6858000" y="2404872"/>
            <a:ext cx="4434840" cy="603504"/>
          </a:xfrm>
          <a:prstGeom prst="rect">
            <a:avLst/>
          </a:prstGeom>
          <a:noFill/>
        </p:spPr>
        <p:txBody>
          <a:bodyPr wrap="square" anchor="ctr">
            <a:spAutoFit/>
          </a:bodyPr>
          <a:lstStyle/>
          <a:p>
            <a:pPr algn="l">
              <a:defRPr sz="1350" b="1" i="0">
                <a:solidFill>
                  <a:srgbClr val="11283B"/>
                </a:solidFill>
                <a:latin typeface="Segoe UI"/>
              </a:defRPr>
            </a:pPr>
            <a:r>
              <a:t>Store the results in your own S3, in a format other tools can read</a:t>
            </a:r>
          </a:p>
        </p:txBody>
      </p:sp>
      <p:sp>
        <p:nvSpPr>
          <p:cNvPr id="21" name="Rounded Rectangle 20"/>
          <p:cNvSpPr/>
          <p:nvPr/>
        </p:nvSpPr>
        <p:spPr>
          <a:xfrm>
            <a:off x="731520" y="3118104"/>
            <a:ext cx="5257800" cy="603504"/>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22" name="Oval 21"/>
          <p:cNvSpPr/>
          <p:nvPr/>
        </p:nvSpPr>
        <p:spPr>
          <a:xfrm>
            <a:off x="886968" y="3236976"/>
            <a:ext cx="365760" cy="365760"/>
          </a:xfrm>
          <a:prstGeom prst="ellipse">
            <a:avLst/>
          </a:prstGeom>
          <a:solidFill>
            <a:srgbClr val="E5484D"/>
          </a:solidFill>
          <a:ln>
            <a:noFill/>
          </a:ln>
          <a:effectLst/>
        </p:spPr>
        <p:txBody>
          <a:bodyPr rtlCol="0" anchor="ctr" wrap="none"/>
          <a:lstStyle/>
          <a:p>
            <a:pPr algn="ctr">
              <a:defRPr sz="700">
                <a:solidFill>
                  <a:srgbClr val="FFFFFF"/>
                </a:solidFill>
              </a:defRPr>
            </a:pPr>
            <a:r>
              <a:t>5</a:t>
            </a:r>
          </a:p>
        </p:txBody>
      </p:sp>
      <p:sp>
        <p:nvSpPr>
          <p:cNvPr id="23" name="TextBox 22"/>
          <p:cNvSpPr txBox="1"/>
          <p:nvPr/>
        </p:nvSpPr>
        <p:spPr>
          <a:xfrm>
            <a:off x="1417320" y="3118104"/>
            <a:ext cx="4434840" cy="603504"/>
          </a:xfrm>
          <a:prstGeom prst="rect">
            <a:avLst/>
          </a:prstGeom>
          <a:noFill/>
        </p:spPr>
        <p:txBody>
          <a:bodyPr wrap="square" anchor="ctr">
            <a:spAutoFit/>
          </a:bodyPr>
          <a:lstStyle/>
          <a:p>
            <a:pPr algn="l">
              <a:defRPr sz="1350" b="1" i="0">
                <a:solidFill>
                  <a:srgbClr val="11283B"/>
                </a:solidFill>
                <a:latin typeface="Segoe UI"/>
              </a:defRPr>
            </a:pPr>
            <a:r>
              <a:t>Handle corrections and late shipments, and show the value before a fix</a:t>
            </a:r>
          </a:p>
        </p:txBody>
      </p:sp>
      <p:sp>
        <p:nvSpPr>
          <p:cNvPr id="24" name="Rounded Rectangle 23"/>
          <p:cNvSpPr/>
          <p:nvPr/>
        </p:nvSpPr>
        <p:spPr>
          <a:xfrm>
            <a:off x="6172200" y="3118104"/>
            <a:ext cx="5257800" cy="603504"/>
          </a:xfrm>
          <a:prstGeom prst="roundRect">
            <a:avLst>
              <a:gd name="adj" fmla="val 8000"/>
            </a:avLst>
          </a:prstGeom>
          <a:solidFill>
            <a:srgbClr val="F4F8FB"/>
          </a:solidFill>
          <a:ln w="19050">
            <a:solidFill>
              <a:srgbClr val="11567F"/>
            </a:solidFill>
          </a:ln>
          <a:effectLst/>
        </p:spPr>
        <p:txBody>
          <a:bodyPr rtlCol="0" anchor="ctr"/>
          <a:lstStyle/>
          <a:p>
            <a:pPr algn="ctr"/>
          </a:p>
        </p:txBody>
      </p:sp>
      <p:sp>
        <p:nvSpPr>
          <p:cNvPr id="25" name="Oval 24"/>
          <p:cNvSpPr/>
          <p:nvPr/>
        </p:nvSpPr>
        <p:spPr>
          <a:xfrm>
            <a:off x="6327648" y="3236976"/>
            <a:ext cx="365760" cy="365760"/>
          </a:xfrm>
          <a:prstGeom prst="ellipse">
            <a:avLst/>
          </a:prstGeom>
          <a:solidFill>
            <a:srgbClr val="11567F"/>
          </a:solidFill>
          <a:ln>
            <a:noFill/>
          </a:ln>
          <a:effectLst/>
        </p:spPr>
        <p:txBody>
          <a:bodyPr rtlCol="0" anchor="ctr" wrap="none"/>
          <a:lstStyle/>
          <a:p>
            <a:pPr algn="ctr">
              <a:defRPr sz="700">
                <a:solidFill>
                  <a:srgbClr val="FFFFFF"/>
                </a:solidFill>
              </a:defRPr>
            </a:pPr>
            <a:r>
              <a:t>6</a:t>
            </a:r>
          </a:p>
        </p:txBody>
      </p:sp>
      <p:sp>
        <p:nvSpPr>
          <p:cNvPr id="26" name="TextBox 25"/>
          <p:cNvSpPr txBox="1"/>
          <p:nvPr/>
        </p:nvSpPr>
        <p:spPr>
          <a:xfrm>
            <a:off x="6858000" y="3118104"/>
            <a:ext cx="4434840" cy="603504"/>
          </a:xfrm>
          <a:prstGeom prst="rect">
            <a:avLst/>
          </a:prstGeom>
          <a:noFill/>
        </p:spPr>
        <p:txBody>
          <a:bodyPr wrap="square" anchor="ctr">
            <a:spAutoFit/>
          </a:bodyPr>
          <a:lstStyle/>
          <a:p>
            <a:pPr algn="l">
              <a:defRPr sz="1350" b="1" i="0">
                <a:solidFill>
                  <a:srgbClr val="11283B"/>
                </a:solidFill>
                <a:latin typeface="Segoe UI"/>
              </a:defRPr>
            </a:pPr>
            <a:r>
              <a:t>Publish a monthly report for the auditors</a:t>
            </a:r>
          </a:p>
        </p:txBody>
      </p:sp>
      <p:sp>
        <p:nvSpPr>
          <p:cNvPr id="27" name="Rounded Rectangle 26">
            <a:hlinkClick r:id="rId2"/>
          </p:cNvPr>
          <p:cNvSpPr/>
          <p:nvPr/>
        </p:nvSpPr>
        <p:spPr>
          <a:xfrm>
            <a:off x="731520" y="3977639"/>
            <a:ext cx="10698480" cy="1280160"/>
          </a:xfrm>
          <a:prstGeom prst="roundRect">
            <a:avLst>
              <a:gd name="adj" fmla="val 8000"/>
            </a:avLst>
          </a:prstGeom>
          <a:solidFill>
            <a:srgbClr val="EAF3FA"/>
          </a:solidFill>
          <a:ln w="19050">
            <a:solidFill>
              <a:srgbClr val="11567F"/>
            </a:solidFill>
          </a:ln>
          <a:effectLst/>
        </p:spPr>
        <p:txBody>
          <a:bodyPr rtlCol="0" anchor="ctr"/>
          <a:lstStyle/>
          <a:p>
            <a:pPr algn="ctr"/>
          </a:p>
        </p:txBody>
      </p:sp>
      <p:sp>
        <p:nvSpPr>
          <p:cNvPr id="28" name="Oval 27"/>
          <p:cNvSpPr/>
          <p:nvPr/>
        </p:nvSpPr>
        <p:spPr>
          <a:xfrm>
            <a:off x="1051560" y="4160520"/>
            <a:ext cx="420624" cy="420624"/>
          </a:xfrm>
          <a:prstGeom prst="ellipse">
            <a:avLst/>
          </a:prstGeom>
          <a:solidFill>
            <a:srgbClr val="11567F"/>
          </a:solidFill>
          <a:ln>
            <a:noFill/>
          </a:ln>
          <a:effectLst/>
        </p:spPr>
        <p:txBody>
          <a:bodyPr rtlCol="0" anchor="ctr" wrap="none"/>
          <a:lstStyle/>
          <a:p>
            <a:pPr algn="ctr">
              <a:defRPr sz="800">
                <a:solidFill>
                  <a:srgbClr val="FFFFFF"/>
                </a:solidFill>
              </a:defRPr>
            </a:pPr>
            <a:r>
              <a:t>🔗</a:t>
            </a:r>
          </a:p>
        </p:txBody>
      </p:sp>
      <p:sp>
        <p:nvSpPr>
          <p:cNvPr id="29" name="TextBox 28"/>
          <p:cNvSpPr txBox="1"/>
          <p:nvPr/>
        </p:nvSpPr>
        <p:spPr>
          <a:xfrm>
            <a:off x="1691640" y="4160520"/>
            <a:ext cx="8229600" cy="365760"/>
          </a:xfrm>
          <a:prstGeom prst="rect">
            <a:avLst/>
          </a:prstGeom>
          <a:noFill/>
        </p:spPr>
        <p:txBody>
          <a:bodyPr wrap="square">
            <a:spAutoFit/>
          </a:bodyPr>
          <a:lstStyle/>
          <a:p>
            <a:pPr algn="l">
              <a:defRPr sz="1200" b="1" i="0">
                <a:solidFill>
                  <a:srgbClr val="5A7184"/>
                </a:solidFill>
                <a:latin typeface="Segoe UI"/>
              </a:defRPr>
            </a:pPr>
            <a:r>
              <a:rPr spc="150"/>
              <a:t>FULL SOLUTION, WALKTHROUGH AND SOURCE CODE</a:t>
            </a:r>
          </a:p>
        </p:txBody>
      </p:sp>
      <p:sp>
        <p:nvSpPr>
          <p:cNvPr id="30" name="TextBox 29"/>
          <p:cNvSpPr txBox="1"/>
          <p:nvPr/>
        </p:nvSpPr>
        <p:spPr>
          <a:xfrm>
            <a:off x="914400" y="4617720"/>
            <a:ext cx="10332720" cy="502920"/>
          </a:xfrm>
          <a:prstGeom prst="rect">
            <a:avLst/>
          </a:prstGeom>
          <a:noFill/>
        </p:spPr>
        <p:txBody>
          <a:bodyPr wrap="none" anchor="ctr">
            <a:spAutoFit/>
          </a:bodyPr>
          <a:lstStyle/>
          <a:p>
            <a:pPr algn="ctr"/>
            <a:r>
              <a:rPr sz="1300" b="1" u="sng">
                <a:solidFill>
                  <a:srgbClr val="11567F"/>
                </a:solidFill>
                <a:latin typeface="Segoe UI Semibold"/>
                <a:hlinkClick r:id="rId2"/>
              </a:rPr>
              <a:t>https://cognifydata.com/labs/snowflake-external-functions-iceberg-lakehouse-shipment-emissions</a:t>
            </a:r>
          </a:p>
        </p:txBody>
      </p:sp>
      <p:sp>
        <p:nvSpPr>
          <p:cNvPr id="31" name="Rounded Rectangle 30"/>
          <p:cNvSpPr/>
          <p:nvPr/>
        </p:nvSpPr>
        <p:spPr>
          <a:xfrm>
            <a:off x="73152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2" name="Oval 31"/>
          <p:cNvSpPr/>
          <p:nvPr/>
        </p:nvSpPr>
        <p:spPr>
          <a:xfrm>
            <a:off x="91440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3" name="TextBox 32"/>
          <p:cNvSpPr txBox="1"/>
          <p:nvPr/>
        </p:nvSpPr>
        <p:spPr>
          <a:xfrm>
            <a:off x="1371600" y="5422392"/>
            <a:ext cx="2743200" cy="530352"/>
          </a:xfrm>
          <a:prstGeom prst="rect">
            <a:avLst/>
          </a:prstGeom>
          <a:noFill/>
        </p:spPr>
        <p:txBody>
          <a:bodyPr wrap="square" anchor="ctr">
            <a:spAutoFit/>
          </a:bodyPr>
          <a:lstStyle/>
          <a:p>
            <a:pPr algn="l">
              <a:defRPr sz="1400" b="1" i="0">
                <a:solidFill>
                  <a:srgbClr val="11283B"/>
                </a:solidFill>
                <a:latin typeface="Segoe UI"/>
              </a:defRPr>
            </a:pPr>
            <a:r>
              <a:t>Starter files attached</a:t>
            </a:r>
          </a:p>
        </p:txBody>
      </p:sp>
      <p:sp>
        <p:nvSpPr>
          <p:cNvPr id="34" name="Rounded Rectangle 33"/>
          <p:cNvSpPr/>
          <p:nvPr/>
        </p:nvSpPr>
        <p:spPr>
          <a:xfrm>
            <a:off x="436626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5" name="Oval 34"/>
          <p:cNvSpPr/>
          <p:nvPr/>
        </p:nvSpPr>
        <p:spPr>
          <a:xfrm>
            <a:off x="454914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6" name="TextBox 35"/>
          <p:cNvSpPr txBox="1"/>
          <p:nvPr/>
        </p:nvSpPr>
        <p:spPr>
          <a:xfrm>
            <a:off x="5006340" y="5422392"/>
            <a:ext cx="2743200" cy="530352"/>
          </a:xfrm>
          <a:prstGeom prst="rect">
            <a:avLst/>
          </a:prstGeom>
          <a:noFill/>
        </p:spPr>
        <p:txBody>
          <a:bodyPr wrap="square" anchor="ctr">
            <a:spAutoFit/>
          </a:bodyPr>
          <a:lstStyle/>
          <a:p>
            <a:pPr algn="l">
              <a:defRPr sz="1400" b="1" i="0">
                <a:solidFill>
                  <a:srgbClr val="11283B"/>
                </a:solidFill>
                <a:latin typeface="Segoe UI"/>
              </a:defRPr>
            </a:pPr>
            <a:r>
              <a:t>Free, no sign-up</a:t>
            </a:r>
          </a:p>
        </p:txBody>
      </p:sp>
      <p:sp>
        <p:nvSpPr>
          <p:cNvPr id="37" name="Rounded Rectangle 36"/>
          <p:cNvSpPr/>
          <p:nvPr/>
        </p:nvSpPr>
        <p:spPr>
          <a:xfrm>
            <a:off x="800100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8" name="Oval 37"/>
          <p:cNvSpPr/>
          <p:nvPr/>
        </p:nvSpPr>
        <p:spPr>
          <a:xfrm>
            <a:off x="8183879"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9" name="TextBox 38"/>
          <p:cNvSpPr txBox="1"/>
          <p:nvPr/>
        </p:nvSpPr>
        <p:spPr>
          <a:xfrm>
            <a:off x="8641080" y="5422392"/>
            <a:ext cx="2743200" cy="530352"/>
          </a:xfrm>
          <a:prstGeom prst="rect">
            <a:avLst/>
          </a:prstGeom>
          <a:noFill/>
        </p:spPr>
        <p:txBody>
          <a:bodyPr wrap="square" anchor="ctr">
            <a:spAutoFit/>
          </a:bodyPr>
          <a:lstStyle/>
          <a:p>
            <a:pPr algn="l">
              <a:defRPr sz="1400" b="1" i="0">
                <a:solidFill>
                  <a:srgbClr val="11283B"/>
                </a:solidFill>
                <a:latin typeface="Segoe UI"/>
              </a:defRPr>
            </a:pPr>
            <a:r>
              <a:t>Step-by-step solution</a:t>
            </a:r>
          </a:p>
        </p:txBody>
      </p:sp>
      <p:sp>
        <p:nvSpPr>
          <p:cNvPr id="40" name="TextBox 39"/>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1567F"/>
      </a:hlink>
      <a:folHlink>
        <a:srgbClr val="1156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