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your next assignment. In this one, you use Python inside Snowflake to clean up messy insurance claims and flag the suspicious ones. It uses what you learned in Section 7 about UDFs, UDTFs and stored procedures, along with tasks from Section 6, and it shouldn't take you more than a couple of hours.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scenario. You're a data engineer on the claims team at Copperleaf Insurance, and the claims come in from brokers in five countries. Every broker formats them differently, so the same policy number shows up in four different styles, the dates come in five formats, and the amounts come in five currencies. The signs of fraud are there, such as a cash payment or a missing police report, but they're buried in the adjusters' notes, and nobody has time to read them all. And new claims keep arriving, and sometimes a broker sends the same claim again with a corrected amount. The starter script loads all of this data for you.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your tasks. First, clean up the policy numbers and the dates, whatever format they arrive in. This is a job Python does much better than SQL, so write it as a UDF. Then convert every amount to US dollars and give each claim a severity. Next, pull the fraud signals out of the adjuster notes. One note can have several signals, which is a hint that you need a function that returns rows, so a UDTF. After that, bring it all together so it processes only the new claims, and updates a resubmitted claim instead of adding it twice. Then run it on a schedule, with a record of what every run did. And finally, give the claims team a queue of the claims that need a person to look at them. Download the starter files from this lecture to get the claims loaded. Write the functions yourself before you look at mine, because that's where you'll really learn this. My full solution is at the link on screen.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gnifydata.com/labs/snowpark-udfs-udtfs-stored-procedures-insurance-claims" TargetMode="External"/><Relationship Id="rId3"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EAF3FA"/>
          </a:solidFill>
          <a:ln>
            <a:noFill/>
          </a:ln>
          <a:effectLst/>
        </p:spPr>
        <p:txBody>
          <a:bodyPr rtlCol="0" anchor="ctr"/>
          <a:lstStyle/>
          <a:p>
            <a:pPr algn="ctr"/>
          </a:p>
        </p:txBody>
      </p:sp>
      <p:sp>
        <p:nvSpPr>
          <p:cNvPr id="4" name="TextBox 3"/>
          <p:cNvSpPr txBox="1"/>
          <p:nvPr/>
        </p:nvSpPr>
        <p:spPr>
          <a:xfrm>
            <a:off x="731520" y="6473952"/>
            <a:ext cx="7680960" cy="320040"/>
          </a:xfrm>
          <a:prstGeom prst="rect">
            <a:avLst/>
          </a:prstGeom>
          <a:noFill/>
        </p:spPr>
        <p:txBody>
          <a:bodyPr wrap="square">
            <a:spAutoFit/>
          </a:bodyPr>
          <a:lstStyle/>
          <a:p>
            <a:pPr algn="l">
              <a:defRPr sz="900" b="0" i="1">
                <a:solidFill>
                  <a:srgbClr val="5A7184"/>
                </a:solidFill>
                <a:latin typeface="Segoe UI"/>
              </a:defRPr>
            </a:pPr>
            <a:r>
              <a:t>Snowflake on AWS  •  Build &amp; Architect Data Pipelines</a:t>
            </a:r>
          </a:p>
        </p:txBody>
      </p:sp>
      <p:sp>
        <p:nvSpPr>
          <p:cNvPr id="5" name="TextBox 4"/>
          <p:cNvSpPr txBox="1"/>
          <p:nvPr/>
        </p:nvSpPr>
        <p:spPr>
          <a:xfrm>
            <a:off x="8595360" y="6473952"/>
            <a:ext cx="2377440" cy="320040"/>
          </a:xfrm>
          <a:prstGeom prst="rect">
            <a:avLst/>
          </a:prstGeom>
          <a:noFill/>
        </p:spPr>
        <p:txBody>
          <a:bodyPr wrap="square">
            <a:spAutoFit/>
          </a:bodyPr>
          <a:lstStyle/>
          <a:p>
            <a:pPr algn="ctr">
              <a:defRPr sz="900" b="0" i="0">
                <a:solidFill>
                  <a:srgbClr val="11567F"/>
                </a:solidFill>
                <a:latin typeface="Segoe UI Semibold"/>
              </a:defRPr>
            </a:pPr>
            <a:r>
              <a:t>cognifydata.com</a:t>
            </a:r>
          </a:p>
        </p:txBody>
      </p:sp>
      <p:sp>
        <p:nvSpPr>
          <p:cNvPr id="6" name="Rounded Rectangle 5"/>
          <p:cNvSpPr/>
          <p:nvPr/>
        </p:nvSpPr>
        <p:spPr>
          <a:xfrm>
            <a:off x="10806380" y="4023360"/>
            <a:ext cx="241401" cy="2011680"/>
          </a:xfrm>
          <a:prstGeom prst="roundRect">
            <a:avLst>
              <a:gd name="adj" fmla="val 50000"/>
            </a:avLst>
          </a:prstGeom>
          <a:solidFill>
            <a:srgbClr val="CBE8F7"/>
          </a:solidFill>
          <a:ln>
            <a:noFill/>
          </a:ln>
          <a:effectLst/>
        </p:spPr>
        <p:txBody>
          <a:bodyPr rtlCol="0" anchor="ctr"/>
          <a:lstStyle/>
          <a:p>
            <a:pPr algn="ctr"/>
          </a:p>
        </p:txBody>
      </p:sp>
      <p:sp>
        <p:nvSpPr>
          <p:cNvPr id="7" name="Rounded Rectangle 6"/>
          <p:cNvSpPr/>
          <p:nvPr/>
        </p:nvSpPr>
        <p:spPr>
          <a:xfrm rot="3600000">
            <a:off x="10806380" y="4023360"/>
            <a:ext cx="241401" cy="2011680"/>
          </a:xfrm>
          <a:prstGeom prst="roundRect">
            <a:avLst>
              <a:gd name="adj" fmla="val 50000"/>
            </a:avLst>
          </a:prstGeom>
          <a:solidFill>
            <a:srgbClr val="CBE8F7"/>
          </a:solidFill>
          <a:ln>
            <a:noFill/>
          </a:ln>
          <a:effectLst/>
        </p:spPr>
        <p:txBody>
          <a:bodyPr rtlCol="0" anchor="ctr"/>
          <a:lstStyle/>
          <a:p>
            <a:pPr algn="ctr"/>
          </a:p>
        </p:txBody>
      </p:sp>
      <p:sp>
        <p:nvSpPr>
          <p:cNvPr id="8" name="Rounded Rectangle 7"/>
          <p:cNvSpPr/>
          <p:nvPr/>
        </p:nvSpPr>
        <p:spPr>
          <a:xfrm rot="7200000">
            <a:off x="10806380" y="4023360"/>
            <a:ext cx="241401" cy="2011680"/>
          </a:xfrm>
          <a:prstGeom prst="roundRect">
            <a:avLst>
              <a:gd name="adj" fmla="val 50000"/>
            </a:avLst>
          </a:prstGeom>
          <a:solidFill>
            <a:srgbClr val="CBE8F7"/>
          </a:solidFill>
          <a:ln>
            <a:noFill/>
          </a:ln>
          <a:effectLst/>
        </p:spPr>
        <p:txBody>
          <a:bodyPr rtlCol="0" anchor="ctr"/>
          <a:lstStyle/>
          <a:p>
            <a:pPr algn="ctr"/>
          </a:p>
        </p:txBody>
      </p:sp>
      <p:sp>
        <p:nvSpPr>
          <p:cNvPr id="9" name="Diamond 8"/>
          <p:cNvSpPr/>
          <p:nvPr/>
        </p:nvSpPr>
        <p:spPr>
          <a:xfrm>
            <a:off x="10725912" y="3822192"/>
            <a:ext cx="402336" cy="402336"/>
          </a:xfrm>
          <a:prstGeom prst="diamond">
            <a:avLst/>
          </a:prstGeom>
          <a:solidFill>
            <a:srgbClr val="CBE8F7"/>
          </a:solidFill>
          <a:ln>
            <a:noFill/>
          </a:ln>
          <a:effectLst/>
        </p:spPr>
        <p:txBody>
          <a:bodyPr rtlCol="0" anchor="ctr"/>
          <a:lstStyle/>
          <a:p>
            <a:pPr algn="ctr"/>
          </a:p>
        </p:txBody>
      </p:sp>
      <p:sp>
        <p:nvSpPr>
          <p:cNvPr id="10" name="Diamond 9"/>
          <p:cNvSpPr/>
          <p:nvPr/>
        </p:nvSpPr>
        <p:spPr>
          <a:xfrm>
            <a:off x="11596994" y="4325112"/>
            <a:ext cx="402336" cy="402336"/>
          </a:xfrm>
          <a:prstGeom prst="diamond">
            <a:avLst/>
          </a:prstGeom>
          <a:solidFill>
            <a:srgbClr val="CBE8F7"/>
          </a:solidFill>
          <a:ln>
            <a:noFill/>
          </a:ln>
          <a:effectLst/>
        </p:spPr>
        <p:txBody>
          <a:bodyPr rtlCol="0" anchor="ctr"/>
          <a:lstStyle/>
          <a:p>
            <a:pPr algn="ctr"/>
          </a:p>
        </p:txBody>
      </p:sp>
      <p:sp>
        <p:nvSpPr>
          <p:cNvPr id="11" name="Diamond 10"/>
          <p:cNvSpPr/>
          <p:nvPr/>
        </p:nvSpPr>
        <p:spPr>
          <a:xfrm>
            <a:off x="11596994" y="5330951"/>
            <a:ext cx="402336" cy="402336"/>
          </a:xfrm>
          <a:prstGeom prst="diamond">
            <a:avLst/>
          </a:prstGeom>
          <a:solidFill>
            <a:srgbClr val="CBE8F7"/>
          </a:solidFill>
          <a:ln>
            <a:noFill/>
          </a:ln>
          <a:effectLst/>
        </p:spPr>
        <p:txBody>
          <a:bodyPr rtlCol="0" anchor="ctr"/>
          <a:lstStyle/>
          <a:p>
            <a:pPr algn="ctr"/>
          </a:p>
        </p:txBody>
      </p:sp>
      <p:sp>
        <p:nvSpPr>
          <p:cNvPr id="12" name="Diamond 11"/>
          <p:cNvSpPr/>
          <p:nvPr/>
        </p:nvSpPr>
        <p:spPr>
          <a:xfrm>
            <a:off x="10725912" y="5833872"/>
            <a:ext cx="402336" cy="402336"/>
          </a:xfrm>
          <a:prstGeom prst="diamond">
            <a:avLst/>
          </a:prstGeom>
          <a:solidFill>
            <a:srgbClr val="CBE8F7"/>
          </a:solidFill>
          <a:ln>
            <a:noFill/>
          </a:ln>
          <a:effectLst/>
        </p:spPr>
        <p:txBody>
          <a:bodyPr rtlCol="0" anchor="ctr"/>
          <a:lstStyle/>
          <a:p>
            <a:pPr algn="ctr"/>
          </a:p>
        </p:txBody>
      </p:sp>
      <p:sp>
        <p:nvSpPr>
          <p:cNvPr id="13" name="Diamond 12"/>
          <p:cNvSpPr/>
          <p:nvPr/>
        </p:nvSpPr>
        <p:spPr>
          <a:xfrm>
            <a:off x="9854830" y="5330952"/>
            <a:ext cx="402336" cy="402336"/>
          </a:xfrm>
          <a:prstGeom prst="diamond">
            <a:avLst/>
          </a:prstGeom>
          <a:solidFill>
            <a:srgbClr val="CBE8F7"/>
          </a:solidFill>
          <a:ln>
            <a:noFill/>
          </a:ln>
          <a:effectLst/>
        </p:spPr>
        <p:txBody>
          <a:bodyPr rtlCol="0" anchor="ctr"/>
          <a:lstStyle/>
          <a:p>
            <a:pPr algn="ctr"/>
          </a:p>
        </p:txBody>
      </p:sp>
      <p:sp>
        <p:nvSpPr>
          <p:cNvPr id="14" name="Diamond 13"/>
          <p:cNvSpPr/>
          <p:nvPr/>
        </p:nvSpPr>
        <p:spPr>
          <a:xfrm>
            <a:off x="9854830" y="4325112"/>
            <a:ext cx="402336" cy="402336"/>
          </a:xfrm>
          <a:prstGeom prst="diamond">
            <a:avLst/>
          </a:prstGeom>
          <a:solidFill>
            <a:srgbClr val="CBE8F7"/>
          </a:solidFill>
          <a:ln>
            <a:noFill/>
          </a:ln>
          <a:effectLst/>
        </p:spPr>
        <p:txBody>
          <a:bodyPr rtlCol="0" anchor="ctr"/>
          <a:lstStyle/>
          <a:p>
            <a:pPr algn="ctr"/>
          </a:p>
        </p:txBody>
      </p:sp>
      <p:sp>
        <p:nvSpPr>
          <p:cNvPr id="15" name="Oval 14"/>
          <p:cNvSpPr/>
          <p:nvPr/>
        </p:nvSpPr>
        <p:spPr>
          <a:xfrm>
            <a:off x="10685679" y="4787799"/>
            <a:ext cx="482803" cy="482803"/>
          </a:xfrm>
          <a:prstGeom prst="ellipse">
            <a:avLst/>
          </a:prstGeom>
          <a:solidFill>
            <a:srgbClr val="CBE8F7"/>
          </a:solidFill>
          <a:ln>
            <a:noFill/>
          </a:ln>
          <a:effectLst/>
        </p:spPr>
        <p:txBody>
          <a:bodyPr rtlCol="0" anchor="ctr"/>
          <a:lstStyle/>
          <a:p>
            <a:pPr algn="ctr"/>
          </a:p>
        </p:txBody>
      </p:sp>
      <p:sp>
        <p:nvSpPr>
          <p:cNvPr id="16" name="Rounded Rectangle 15"/>
          <p:cNvSpPr/>
          <p:nvPr/>
        </p:nvSpPr>
        <p:spPr>
          <a:xfrm>
            <a:off x="909646" y="484632"/>
            <a:ext cx="46085" cy="384048"/>
          </a:xfrm>
          <a:prstGeom prst="roundRect">
            <a:avLst>
              <a:gd name="adj" fmla="val 50000"/>
            </a:avLst>
          </a:prstGeom>
          <a:solidFill>
            <a:srgbClr val="29B5E8"/>
          </a:solidFill>
          <a:ln>
            <a:noFill/>
          </a:ln>
          <a:effectLst/>
        </p:spPr>
        <p:txBody>
          <a:bodyPr rtlCol="0" anchor="ctr"/>
          <a:lstStyle/>
          <a:p>
            <a:pPr algn="ctr"/>
          </a:p>
        </p:txBody>
      </p:sp>
      <p:sp>
        <p:nvSpPr>
          <p:cNvPr id="17" name="Rounded Rectangle 16"/>
          <p:cNvSpPr/>
          <p:nvPr/>
        </p:nvSpPr>
        <p:spPr>
          <a:xfrm rot="3600000">
            <a:off x="909646" y="484632"/>
            <a:ext cx="46085" cy="384048"/>
          </a:xfrm>
          <a:prstGeom prst="roundRect">
            <a:avLst>
              <a:gd name="adj" fmla="val 50000"/>
            </a:avLst>
          </a:prstGeom>
          <a:solidFill>
            <a:srgbClr val="29B5E8"/>
          </a:solidFill>
          <a:ln>
            <a:noFill/>
          </a:ln>
          <a:effectLst/>
        </p:spPr>
        <p:txBody>
          <a:bodyPr rtlCol="0" anchor="ctr"/>
          <a:lstStyle/>
          <a:p>
            <a:pPr algn="ctr"/>
          </a:p>
        </p:txBody>
      </p:sp>
      <p:sp>
        <p:nvSpPr>
          <p:cNvPr id="18" name="Rounded Rectangle 17"/>
          <p:cNvSpPr/>
          <p:nvPr/>
        </p:nvSpPr>
        <p:spPr>
          <a:xfrm rot="7200000">
            <a:off x="909646" y="484632"/>
            <a:ext cx="46085" cy="384048"/>
          </a:xfrm>
          <a:prstGeom prst="roundRect">
            <a:avLst>
              <a:gd name="adj" fmla="val 50000"/>
            </a:avLst>
          </a:prstGeom>
          <a:solidFill>
            <a:srgbClr val="29B5E8"/>
          </a:solidFill>
          <a:ln>
            <a:noFill/>
          </a:ln>
          <a:effectLst/>
        </p:spPr>
        <p:txBody>
          <a:bodyPr rtlCol="0" anchor="ctr"/>
          <a:lstStyle/>
          <a:p>
            <a:pPr algn="ctr"/>
          </a:p>
        </p:txBody>
      </p:sp>
      <p:sp>
        <p:nvSpPr>
          <p:cNvPr id="19" name="Diamond 18"/>
          <p:cNvSpPr/>
          <p:nvPr/>
        </p:nvSpPr>
        <p:spPr>
          <a:xfrm>
            <a:off x="894284" y="446228"/>
            <a:ext cx="76809" cy="76809"/>
          </a:xfrm>
          <a:prstGeom prst="diamond">
            <a:avLst/>
          </a:prstGeom>
          <a:solidFill>
            <a:srgbClr val="29B5E8"/>
          </a:solidFill>
          <a:ln>
            <a:noFill/>
          </a:ln>
          <a:effectLst/>
        </p:spPr>
        <p:txBody>
          <a:bodyPr rtlCol="0" anchor="ctr"/>
          <a:lstStyle/>
          <a:p>
            <a:pPr algn="ctr"/>
          </a:p>
        </p:txBody>
      </p:sp>
      <p:sp>
        <p:nvSpPr>
          <p:cNvPr id="20" name="Diamond 19"/>
          <p:cNvSpPr/>
          <p:nvPr/>
        </p:nvSpPr>
        <p:spPr>
          <a:xfrm>
            <a:off x="1060581" y="542240"/>
            <a:ext cx="76809" cy="76809"/>
          </a:xfrm>
          <a:prstGeom prst="diamond">
            <a:avLst/>
          </a:prstGeom>
          <a:solidFill>
            <a:srgbClr val="29B5E8"/>
          </a:solidFill>
          <a:ln>
            <a:noFill/>
          </a:ln>
          <a:effectLst/>
        </p:spPr>
        <p:txBody>
          <a:bodyPr rtlCol="0" anchor="ctr"/>
          <a:lstStyle/>
          <a:p>
            <a:pPr algn="ctr"/>
          </a:p>
        </p:txBody>
      </p:sp>
      <p:sp>
        <p:nvSpPr>
          <p:cNvPr id="21" name="Diamond 20"/>
          <p:cNvSpPr/>
          <p:nvPr/>
        </p:nvSpPr>
        <p:spPr>
          <a:xfrm>
            <a:off x="1060581" y="734263"/>
            <a:ext cx="76809" cy="76809"/>
          </a:xfrm>
          <a:prstGeom prst="diamond">
            <a:avLst/>
          </a:prstGeom>
          <a:solidFill>
            <a:srgbClr val="29B5E8"/>
          </a:solidFill>
          <a:ln>
            <a:noFill/>
          </a:ln>
          <a:effectLst/>
        </p:spPr>
        <p:txBody>
          <a:bodyPr rtlCol="0" anchor="ctr"/>
          <a:lstStyle/>
          <a:p>
            <a:pPr algn="ctr"/>
          </a:p>
        </p:txBody>
      </p:sp>
      <p:sp>
        <p:nvSpPr>
          <p:cNvPr id="22" name="Diamond 21"/>
          <p:cNvSpPr/>
          <p:nvPr/>
        </p:nvSpPr>
        <p:spPr>
          <a:xfrm>
            <a:off x="894284" y="830276"/>
            <a:ext cx="76809" cy="76809"/>
          </a:xfrm>
          <a:prstGeom prst="diamond">
            <a:avLst/>
          </a:prstGeom>
          <a:solidFill>
            <a:srgbClr val="29B5E8"/>
          </a:solidFill>
          <a:ln>
            <a:noFill/>
          </a:ln>
          <a:effectLst/>
        </p:spPr>
        <p:txBody>
          <a:bodyPr rtlCol="0" anchor="ctr"/>
          <a:lstStyle/>
          <a:p>
            <a:pPr algn="ctr"/>
          </a:p>
        </p:txBody>
      </p:sp>
      <p:sp>
        <p:nvSpPr>
          <p:cNvPr id="23" name="Diamond 22"/>
          <p:cNvSpPr/>
          <p:nvPr/>
        </p:nvSpPr>
        <p:spPr>
          <a:xfrm>
            <a:off x="727987" y="734264"/>
            <a:ext cx="76809" cy="76809"/>
          </a:xfrm>
          <a:prstGeom prst="diamond">
            <a:avLst/>
          </a:prstGeom>
          <a:solidFill>
            <a:srgbClr val="29B5E8"/>
          </a:solidFill>
          <a:ln>
            <a:noFill/>
          </a:ln>
          <a:effectLst/>
        </p:spPr>
        <p:txBody>
          <a:bodyPr rtlCol="0" anchor="ctr"/>
          <a:lstStyle/>
          <a:p>
            <a:pPr algn="ctr"/>
          </a:p>
        </p:txBody>
      </p:sp>
      <p:sp>
        <p:nvSpPr>
          <p:cNvPr id="24" name="Diamond 23"/>
          <p:cNvSpPr/>
          <p:nvPr/>
        </p:nvSpPr>
        <p:spPr>
          <a:xfrm>
            <a:off x="727987" y="542240"/>
            <a:ext cx="76809" cy="76809"/>
          </a:xfrm>
          <a:prstGeom prst="diamond">
            <a:avLst/>
          </a:prstGeom>
          <a:solidFill>
            <a:srgbClr val="29B5E8"/>
          </a:solidFill>
          <a:ln>
            <a:noFill/>
          </a:ln>
          <a:effectLst/>
        </p:spPr>
        <p:txBody>
          <a:bodyPr rtlCol="0" anchor="ctr"/>
          <a:lstStyle/>
          <a:p>
            <a:pPr algn="ctr"/>
          </a:p>
        </p:txBody>
      </p:sp>
      <p:sp>
        <p:nvSpPr>
          <p:cNvPr id="25" name="Oval 24"/>
          <p:cNvSpPr/>
          <p:nvPr/>
        </p:nvSpPr>
        <p:spPr>
          <a:xfrm>
            <a:off x="886603" y="630571"/>
            <a:ext cx="92171" cy="92171"/>
          </a:xfrm>
          <a:prstGeom prst="ellipse">
            <a:avLst/>
          </a:prstGeom>
          <a:solidFill>
            <a:srgbClr val="29B5E8"/>
          </a:solidFill>
          <a:ln>
            <a:noFill/>
          </a:ln>
          <a:effectLst/>
        </p:spPr>
        <p:txBody>
          <a:bodyPr rtlCol="0" anchor="ctr"/>
          <a:lstStyle/>
          <a:p>
            <a:pPr algn="ctr"/>
          </a:p>
        </p:txBody>
      </p:sp>
      <p:sp>
        <p:nvSpPr>
          <p:cNvPr id="26" name="TextBox 25"/>
          <p:cNvSpPr txBox="1"/>
          <p:nvPr/>
        </p:nvSpPr>
        <p:spPr>
          <a:xfrm>
            <a:off x="1325880" y="502920"/>
            <a:ext cx="5486400" cy="365760"/>
          </a:xfrm>
          <a:prstGeom prst="rect">
            <a:avLst/>
          </a:prstGeom>
          <a:noFill/>
        </p:spPr>
        <p:txBody>
          <a:bodyPr wrap="square">
            <a:spAutoFit/>
          </a:bodyPr>
          <a:lstStyle/>
          <a:p>
            <a:pPr algn="l">
              <a:defRPr sz="1300" b="1" i="0">
                <a:solidFill>
                  <a:srgbClr val="11567F"/>
                </a:solidFill>
                <a:latin typeface="Segoe UI Semibold"/>
              </a:defRPr>
            </a:pPr>
            <a:r>
              <a:rPr spc="250"/>
              <a:t>SNOWFLAKE ON AWS</a:t>
            </a:r>
          </a:p>
        </p:txBody>
      </p:sp>
      <p:sp>
        <p:nvSpPr>
          <p:cNvPr id="27" name="TextBox 26"/>
          <p:cNvSpPr txBox="1"/>
          <p:nvPr/>
        </p:nvSpPr>
        <p:spPr>
          <a:xfrm>
            <a:off x="8503920" y="502920"/>
            <a:ext cx="2953512" cy="365760"/>
          </a:xfrm>
          <a:prstGeom prst="rect">
            <a:avLst/>
          </a:prstGeom>
          <a:noFill/>
        </p:spPr>
        <p:txBody>
          <a:bodyPr wrap="square">
            <a:spAutoFit/>
          </a:bodyPr>
          <a:lstStyle/>
          <a:p>
            <a:pPr algn="r">
              <a:defRPr sz="1200" b="1" i="0">
                <a:solidFill>
                  <a:srgbClr val="5A7184"/>
                </a:solidFill>
                <a:latin typeface="Segoe UI"/>
              </a:defRPr>
            </a:pPr>
            <a:r>
              <a:rPr spc="150"/>
              <a:t>HANDS-ON LAB</a:t>
            </a:r>
          </a:p>
        </p:txBody>
      </p:sp>
      <p:sp>
        <p:nvSpPr>
          <p:cNvPr id="28" name="Rectangle 27"/>
          <p:cNvSpPr/>
          <p:nvPr/>
        </p:nvSpPr>
        <p:spPr>
          <a:xfrm>
            <a:off x="758952" y="1755648"/>
            <a:ext cx="73152" cy="310896"/>
          </a:xfrm>
          <a:prstGeom prst="rect">
            <a:avLst/>
          </a:prstGeom>
          <a:solidFill>
            <a:srgbClr val="29B5E8"/>
          </a:solidFill>
          <a:ln>
            <a:noFill/>
          </a:ln>
          <a:effectLst/>
        </p:spPr>
        <p:txBody>
          <a:bodyPr rtlCol="0" anchor="ctr"/>
          <a:lstStyle/>
          <a:p>
            <a:pPr algn="ctr"/>
          </a:p>
        </p:txBody>
      </p:sp>
      <p:sp>
        <p:nvSpPr>
          <p:cNvPr id="29" name="TextBox 28"/>
          <p:cNvSpPr txBox="1"/>
          <p:nvPr/>
        </p:nvSpPr>
        <p:spPr>
          <a:xfrm>
            <a:off x="978408" y="1700784"/>
            <a:ext cx="8229600" cy="365760"/>
          </a:xfrm>
          <a:prstGeom prst="rect">
            <a:avLst/>
          </a:prstGeom>
          <a:noFill/>
        </p:spPr>
        <p:txBody>
          <a:bodyPr wrap="square">
            <a:spAutoFit/>
          </a:bodyPr>
          <a:lstStyle/>
          <a:p>
            <a:pPr algn="l">
              <a:defRPr sz="1500" b="1" i="0">
                <a:solidFill>
                  <a:srgbClr val="29B5E8"/>
                </a:solidFill>
                <a:latin typeface="Segoe UI Semibold"/>
              </a:defRPr>
            </a:pPr>
            <a:r>
              <a:rPr spc="200"/>
              <a:t>SNOWPARK UDFS, UDTFS AND STORED PROCEDURES</a:t>
            </a:r>
          </a:p>
        </p:txBody>
      </p:sp>
      <p:sp>
        <p:nvSpPr>
          <p:cNvPr id="30" name="TextBox 29"/>
          <p:cNvSpPr txBox="1"/>
          <p:nvPr/>
        </p:nvSpPr>
        <p:spPr>
          <a:xfrm>
            <a:off x="731520" y="2240280"/>
            <a:ext cx="9692640" cy="1188720"/>
          </a:xfrm>
          <a:prstGeom prst="rect">
            <a:avLst/>
          </a:prstGeom>
          <a:noFill/>
        </p:spPr>
        <p:txBody>
          <a:bodyPr wrap="square">
            <a:spAutoFit/>
          </a:bodyPr>
          <a:lstStyle/>
          <a:p>
            <a:pPr algn="l">
              <a:defRPr sz="4000" b="1" i="0">
                <a:solidFill>
                  <a:srgbClr val="11283B"/>
                </a:solidFill>
                <a:latin typeface="Segoe UI Semibold"/>
              </a:defRPr>
            </a:pPr>
            <a:r>
              <a:t>Copperleaf Insurance</a:t>
            </a:r>
          </a:p>
        </p:txBody>
      </p:sp>
      <p:sp>
        <p:nvSpPr>
          <p:cNvPr id="31" name="TextBox 30"/>
          <p:cNvSpPr txBox="1"/>
          <p:nvPr/>
        </p:nvSpPr>
        <p:spPr>
          <a:xfrm>
            <a:off x="731520" y="3200400"/>
            <a:ext cx="8961120" cy="914400"/>
          </a:xfrm>
          <a:prstGeom prst="rect">
            <a:avLst/>
          </a:prstGeom>
          <a:noFill/>
        </p:spPr>
        <p:txBody>
          <a:bodyPr wrap="square">
            <a:spAutoFit/>
          </a:bodyPr>
          <a:lstStyle/>
          <a:p>
            <a:pPr algn="l">
              <a:defRPr sz="2600" b="1" i="0">
                <a:solidFill>
                  <a:srgbClr val="29B5E8"/>
                </a:solidFill>
                <a:latin typeface="Segoe UI Semibold"/>
              </a:defRPr>
            </a:pPr>
            <a:r>
              <a:t>Clean and score messy insurance claims with Python inside Snowflake</a:t>
            </a:r>
          </a:p>
        </p:txBody>
      </p:sp>
      <p:sp>
        <p:nvSpPr>
          <p:cNvPr id="32" name="Rectangle 31"/>
          <p:cNvSpPr/>
          <p:nvPr/>
        </p:nvSpPr>
        <p:spPr>
          <a:xfrm>
            <a:off x="731520" y="4315968"/>
            <a:ext cx="2743200" cy="27432"/>
          </a:xfrm>
          <a:prstGeom prst="rect">
            <a:avLst/>
          </a:prstGeom>
          <a:solidFill>
            <a:srgbClr val="29B5E8"/>
          </a:solidFill>
          <a:ln>
            <a:noFill/>
          </a:ln>
          <a:effectLst/>
        </p:spPr>
        <p:txBody>
          <a:bodyPr rtlCol="0" anchor="ctr"/>
          <a:lstStyle/>
          <a:p>
            <a:pPr algn="ctr"/>
          </a:p>
        </p:txBody>
      </p:sp>
      <p:sp>
        <p:nvSpPr>
          <p:cNvPr id="33" name="TextBox 32"/>
          <p:cNvSpPr txBox="1"/>
          <p:nvPr/>
        </p:nvSpPr>
        <p:spPr>
          <a:xfrm>
            <a:off x="731520" y="4526280"/>
            <a:ext cx="8595360" cy="640080"/>
          </a:xfrm>
          <a:prstGeom prst="rect">
            <a:avLst/>
          </a:prstGeom>
          <a:noFill/>
        </p:spPr>
        <p:txBody>
          <a:bodyPr wrap="square">
            <a:spAutoFit/>
          </a:bodyPr>
          <a:lstStyle/>
          <a:p>
            <a:pPr algn="l">
              <a:defRPr sz="2000" b="0" i="0">
                <a:solidFill>
                  <a:srgbClr val="5A7184"/>
                </a:solidFill>
                <a:latin typeface="Segoe UI Semibold"/>
              </a:defRPr>
            </a:pPr>
            <a:r>
              <a:t>Intermediate  •  Should take you no more than a couple of hours</a:t>
            </a:r>
          </a:p>
        </p:txBody>
      </p:sp>
      <p:sp>
        <p:nvSpPr>
          <p:cNvPr id="34" name="TextBox 33"/>
          <p:cNvSpPr txBox="1"/>
          <p:nvPr/>
        </p:nvSpPr>
        <p:spPr>
          <a:xfrm>
            <a:off x="731520" y="5230368"/>
            <a:ext cx="8595360" cy="548640"/>
          </a:xfrm>
          <a:prstGeom prst="rect">
            <a:avLst/>
          </a:prstGeom>
          <a:noFill/>
        </p:spPr>
        <p:txBody>
          <a:bodyPr wrap="square">
            <a:spAutoFit/>
          </a:bodyPr>
          <a:lstStyle/>
          <a:p>
            <a:pPr algn="l">
              <a:defRPr sz="1500" b="0" i="0">
                <a:solidFill>
                  <a:srgbClr val="5A7184"/>
                </a:solidFill>
                <a:latin typeface="Segoe UI"/>
              </a:defRPr>
            </a:pPr>
            <a:r>
              <a:t>Uses what you learned in Section 6 and Section 7</a:t>
            </a:r>
          </a:p>
        </p:txBody>
      </p:sp>
      <p:sp>
        <p:nvSpPr>
          <p:cNvPr id="35" name="TextBox 34"/>
          <p:cNvSpPr txBox="1"/>
          <p:nvPr/>
        </p:nvSpPr>
        <p:spPr>
          <a:xfrm>
            <a:off x="11155680" y="6400800"/>
            <a:ext cx="914400" cy="365760"/>
          </a:xfrm>
          <a:prstGeom prst="rect">
            <a:avLst/>
          </a:prstGeom>
          <a:noFill/>
        </p:spPr>
        <p:txBody>
          <a:bodyPr wrap="square">
            <a:spAutoFit/>
          </a:bodyPr>
          <a:lstStyle/>
          <a:p>
            <a:pPr algn="r">
              <a:defRPr sz="1000" b="0" i="0">
                <a:solidFill>
                  <a:srgbClr val="5A7184"/>
                </a:solidFill>
                <a:latin typeface="Segoe UI"/>
              </a:defRPr>
            </a:pPr>
            <a: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EAF3FA"/>
          </a:solidFill>
          <a:ln>
            <a:noFill/>
          </a:ln>
          <a:effectLst/>
        </p:spPr>
        <p:txBody>
          <a:bodyPr rtlCol="0" anchor="ctr"/>
          <a:lstStyle/>
          <a:p>
            <a:pPr algn="ctr"/>
          </a:p>
        </p:txBody>
      </p:sp>
      <p:sp>
        <p:nvSpPr>
          <p:cNvPr id="4" name="TextBox 3"/>
          <p:cNvSpPr txBox="1"/>
          <p:nvPr/>
        </p:nvSpPr>
        <p:spPr>
          <a:xfrm>
            <a:off x="731520" y="6473952"/>
            <a:ext cx="7680960" cy="320040"/>
          </a:xfrm>
          <a:prstGeom prst="rect">
            <a:avLst/>
          </a:prstGeom>
          <a:noFill/>
        </p:spPr>
        <p:txBody>
          <a:bodyPr wrap="square">
            <a:spAutoFit/>
          </a:bodyPr>
          <a:lstStyle/>
          <a:p>
            <a:pPr algn="l">
              <a:defRPr sz="900" b="0" i="1">
                <a:solidFill>
                  <a:srgbClr val="5A7184"/>
                </a:solidFill>
                <a:latin typeface="Segoe UI"/>
              </a:defRPr>
            </a:pPr>
            <a:r>
              <a:t>Snowflake on AWS  •  Build &amp; Architect Data Pipelines</a:t>
            </a:r>
          </a:p>
        </p:txBody>
      </p:sp>
      <p:sp>
        <p:nvSpPr>
          <p:cNvPr id="5" name="TextBox 4"/>
          <p:cNvSpPr txBox="1"/>
          <p:nvPr/>
        </p:nvSpPr>
        <p:spPr>
          <a:xfrm>
            <a:off x="8595360" y="6473952"/>
            <a:ext cx="2377440" cy="320040"/>
          </a:xfrm>
          <a:prstGeom prst="rect">
            <a:avLst/>
          </a:prstGeom>
          <a:noFill/>
        </p:spPr>
        <p:txBody>
          <a:bodyPr wrap="square">
            <a:spAutoFit/>
          </a:bodyPr>
          <a:lstStyle/>
          <a:p>
            <a:pPr algn="ctr">
              <a:defRPr sz="900" b="0" i="0">
                <a:solidFill>
                  <a:srgbClr val="11567F"/>
                </a:solidFill>
                <a:latin typeface="Segoe UI Semibold"/>
              </a:defRPr>
            </a:pPr>
            <a:r>
              <a:t>cognifydata.com</a:t>
            </a:r>
          </a:p>
        </p:txBody>
      </p:sp>
      <p:sp>
        <p:nvSpPr>
          <p:cNvPr id="6" name="TextBox 5"/>
          <p:cNvSpPr txBox="1"/>
          <p:nvPr/>
        </p:nvSpPr>
        <p:spPr>
          <a:xfrm>
            <a:off x="731520" y="365760"/>
            <a:ext cx="10698480" cy="640080"/>
          </a:xfrm>
          <a:prstGeom prst="rect">
            <a:avLst/>
          </a:prstGeom>
          <a:noFill/>
        </p:spPr>
        <p:txBody>
          <a:bodyPr wrap="square">
            <a:spAutoFit/>
          </a:bodyPr>
          <a:lstStyle/>
          <a:p>
            <a:pPr algn="l">
              <a:defRPr sz="3200" b="1" i="0">
                <a:solidFill>
                  <a:srgbClr val="11283B"/>
                </a:solidFill>
                <a:latin typeface="Segoe UI Semibold"/>
              </a:defRPr>
            </a:pPr>
            <a:r>
              <a:t>The Scenario</a:t>
            </a:r>
          </a:p>
        </p:txBody>
      </p:sp>
      <p:sp>
        <p:nvSpPr>
          <p:cNvPr id="7" name="Rectangle 6"/>
          <p:cNvSpPr/>
          <p:nvPr/>
        </p:nvSpPr>
        <p:spPr>
          <a:xfrm>
            <a:off x="731520" y="1005840"/>
            <a:ext cx="2286000" cy="27432"/>
          </a:xfrm>
          <a:prstGeom prst="rect">
            <a:avLst/>
          </a:prstGeom>
          <a:solidFill>
            <a:srgbClr val="E8833A"/>
          </a:solidFill>
          <a:ln>
            <a:noFill/>
          </a:ln>
          <a:effectLst/>
        </p:spPr>
        <p:txBody>
          <a:bodyPr rtlCol="0" anchor="ctr"/>
          <a:lstStyle/>
          <a:p>
            <a:pPr algn="ctr"/>
          </a:p>
        </p:txBody>
      </p:sp>
      <p:sp>
        <p:nvSpPr>
          <p:cNvPr id="8" name="TextBox 7"/>
          <p:cNvSpPr txBox="1"/>
          <p:nvPr/>
        </p:nvSpPr>
        <p:spPr>
          <a:xfrm>
            <a:off x="731520" y="1170432"/>
            <a:ext cx="10698480" cy="457200"/>
          </a:xfrm>
          <a:prstGeom prst="rect">
            <a:avLst/>
          </a:prstGeom>
          <a:noFill/>
        </p:spPr>
        <p:txBody>
          <a:bodyPr wrap="square">
            <a:spAutoFit/>
          </a:bodyPr>
          <a:lstStyle/>
          <a:p>
            <a:pPr algn="l">
              <a:defRPr sz="1600" b="0" i="1">
                <a:solidFill>
                  <a:srgbClr val="5A7184"/>
                </a:solidFill>
                <a:latin typeface="Segoe UI"/>
              </a:defRPr>
            </a:pPr>
            <a:r>
              <a:t>An insurer receiving claims from brokers in five countries</a:t>
            </a:r>
          </a:p>
        </p:txBody>
      </p:sp>
      <p:sp>
        <p:nvSpPr>
          <p:cNvPr id="9" name="Rounded Rectangle 8"/>
          <p:cNvSpPr/>
          <p:nvPr/>
        </p:nvSpPr>
        <p:spPr>
          <a:xfrm>
            <a:off x="731520" y="1783080"/>
            <a:ext cx="10698480" cy="1005840"/>
          </a:xfrm>
          <a:prstGeom prst="roundRect">
            <a:avLst>
              <a:gd name="adj" fmla="val 8000"/>
            </a:avLst>
          </a:prstGeom>
          <a:solidFill>
            <a:srgbClr val="F4F8FB"/>
          </a:solidFill>
          <a:ln w="19050">
            <a:solidFill>
              <a:srgbClr val="29B5E8"/>
            </a:solidFill>
          </a:ln>
          <a:effectLst/>
        </p:spPr>
        <p:txBody>
          <a:bodyPr rtlCol="0" anchor="ctr"/>
          <a:lstStyle/>
          <a:p>
            <a:pPr algn="ctr"/>
          </a:p>
        </p:txBody>
      </p:sp>
      <p:sp>
        <p:nvSpPr>
          <p:cNvPr id="10" name="Oval 9"/>
          <p:cNvSpPr/>
          <p:nvPr/>
        </p:nvSpPr>
        <p:spPr>
          <a:xfrm>
            <a:off x="1051560" y="2011680"/>
            <a:ext cx="548640" cy="548640"/>
          </a:xfrm>
          <a:prstGeom prst="ellipse">
            <a:avLst/>
          </a:prstGeom>
          <a:solidFill>
            <a:srgbClr val="29B5E8"/>
          </a:solidFill>
          <a:ln>
            <a:noFill/>
          </a:ln>
          <a:effectLst/>
        </p:spPr>
        <p:txBody>
          <a:bodyPr rtlCol="0" anchor="ctr" wrap="none"/>
          <a:lstStyle/>
          <a:p>
            <a:pPr algn="ctr">
              <a:defRPr sz="1000">
                <a:solidFill>
                  <a:srgbClr val="FFFFFF"/>
                </a:solidFill>
              </a:defRPr>
            </a:pPr>
            <a:r>
              <a:t>🧩</a:t>
            </a:r>
          </a:p>
        </p:txBody>
      </p:sp>
      <p:sp>
        <p:nvSpPr>
          <p:cNvPr id="11" name="TextBox 10"/>
          <p:cNvSpPr txBox="1"/>
          <p:nvPr/>
        </p:nvSpPr>
        <p:spPr>
          <a:xfrm>
            <a:off x="1828800" y="1929384"/>
            <a:ext cx="9326880" cy="411480"/>
          </a:xfrm>
          <a:prstGeom prst="rect">
            <a:avLst/>
          </a:prstGeom>
          <a:noFill/>
        </p:spPr>
        <p:txBody>
          <a:bodyPr wrap="square">
            <a:spAutoFit/>
          </a:bodyPr>
          <a:lstStyle/>
          <a:p>
            <a:pPr algn="l">
              <a:defRPr sz="1800" b="1" i="0">
                <a:solidFill>
                  <a:srgbClr val="11283B"/>
                </a:solidFill>
                <a:latin typeface="Segoe UI"/>
              </a:defRPr>
            </a:pPr>
            <a:r>
              <a:t>Every broker formats claims differently</a:t>
            </a:r>
          </a:p>
        </p:txBody>
      </p:sp>
      <p:sp>
        <p:nvSpPr>
          <p:cNvPr id="12" name="TextBox 11"/>
          <p:cNvSpPr txBox="1"/>
          <p:nvPr/>
        </p:nvSpPr>
        <p:spPr>
          <a:xfrm>
            <a:off x="1828800" y="2350008"/>
            <a:ext cx="9326880" cy="402336"/>
          </a:xfrm>
          <a:prstGeom prst="rect">
            <a:avLst/>
          </a:prstGeom>
          <a:noFill/>
        </p:spPr>
        <p:txBody>
          <a:bodyPr wrap="square">
            <a:spAutoFit/>
          </a:bodyPr>
          <a:lstStyle/>
          <a:p>
            <a:pPr algn="l">
              <a:defRPr sz="1350" b="0" i="0">
                <a:solidFill>
                  <a:srgbClr val="5A7184"/>
                </a:solidFill>
                <a:latin typeface="Segoe UI"/>
              </a:defRPr>
            </a:pPr>
            <a:r>
              <a:t>Policy numbers in four styles, incident dates in five formats, amounts in five currencies.</a:t>
            </a:r>
          </a:p>
        </p:txBody>
      </p:sp>
      <p:sp>
        <p:nvSpPr>
          <p:cNvPr id="13" name="Rounded Rectangle 12"/>
          <p:cNvSpPr/>
          <p:nvPr/>
        </p:nvSpPr>
        <p:spPr>
          <a:xfrm>
            <a:off x="731520" y="2916936"/>
            <a:ext cx="10698480" cy="1005840"/>
          </a:xfrm>
          <a:prstGeom prst="roundRect">
            <a:avLst>
              <a:gd name="adj" fmla="val 8000"/>
            </a:avLst>
          </a:prstGeom>
          <a:solidFill>
            <a:srgbClr val="F4F8FB"/>
          </a:solidFill>
          <a:ln w="19050">
            <a:solidFill>
              <a:srgbClr val="E5484D"/>
            </a:solidFill>
          </a:ln>
          <a:effectLst/>
        </p:spPr>
        <p:txBody>
          <a:bodyPr rtlCol="0" anchor="ctr"/>
          <a:lstStyle/>
          <a:p>
            <a:pPr algn="ctr"/>
          </a:p>
        </p:txBody>
      </p:sp>
      <p:sp>
        <p:nvSpPr>
          <p:cNvPr id="14" name="Oval 13"/>
          <p:cNvSpPr/>
          <p:nvPr/>
        </p:nvSpPr>
        <p:spPr>
          <a:xfrm>
            <a:off x="1051560" y="3145536"/>
            <a:ext cx="548640" cy="548640"/>
          </a:xfrm>
          <a:prstGeom prst="ellipse">
            <a:avLst/>
          </a:prstGeom>
          <a:solidFill>
            <a:srgbClr val="E5484D"/>
          </a:solidFill>
          <a:ln>
            <a:noFill/>
          </a:ln>
          <a:effectLst/>
        </p:spPr>
        <p:txBody>
          <a:bodyPr rtlCol="0" anchor="ctr" wrap="none"/>
          <a:lstStyle/>
          <a:p>
            <a:pPr algn="ctr">
              <a:defRPr sz="1000">
                <a:solidFill>
                  <a:srgbClr val="FFFFFF"/>
                </a:solidFill>
              </a:defRPr>
            </a:pPr>
            <a:r>
              <a:t>🚩</a:t>
            </a:r>
          </a:p>
        </p:txBody>
      </p:sp>
      <p:sp>
        <p:nvSpPr>
          <p:cNvPr id="15" name="TextBox 14"/>
          <p:cNvSpPr txBox="1"/>
          <p:nvPr/>
        </p:nvSpPr>
        <p:spPr>
          <a:xfrm>
            <a:off x="1828800" y="3063240"/>
            <a:ext cx="9326880" cy="411480"/>
          </a:xfrm>
          <a:prstGeom prst="rect">
            <a:avLst/>
          </a:prstGeom>
          <a:noFill/>
        </p:spPr>
        <p:txBody>
          <a:bodyPr wrap="square">
            <a:spAutoFit/>
          </a:bodyPr>
          <a:lstStyle/>
          <a:p>
            <a:pPr algn="l">
              <a:defRPr sz="1800" b="1" i="0">
                <a:solidFill>
                  <a:srgbClr val="11283B"/>
                </a:solidFill>
                <a:latin typeface="Segoe UI"/>
              </a:defRPr>
            </a:pPr>
            <a:r>
              <a:t>Fraud signals are buried in free text</a:t>
            </a:r>
          </a:p>
        </p:txBody>
      </p:sp>
      <p:sp>
        <p:nvSpPr>
          <p:cNvPr id="16" name="TextBox 15"/>
          <p:cNvSpPr txBox="1"/>
          <p:nvPr/>
        </p:nvSpPr>
        <p:spPr>
          <a:xfrm>
            <a:off x="1828800" y="3483864"/>
            <a:ext cx="9326880" cy="402336"/>
          </a:xfrm>
          <a:prstGeom prst="rect">
            <a:avLst/>
          </a:prstGeom>
          <a:noFill/>
        </p:spPr>
        <p:txBody>
          <a:bodyPr wrap="square">
            <a:spAutoFit/>
          </a:bodyPr>
          <a:lstStyle/>
          <a:p>
            <a:pPr algn="l">
              <a:defRPr sz="1350" b="0" i="0">
                <a:solidFill>
                  <a:srgbClr val="5A7184"/>
                </a:solidFill>
                <a:latin typeface="Segoe UI"/>
              </a:defRPr>
            </a:pPr>
            <a:r>
              <a:t>Adjuster notes mention cash payments, missing police reports, prior claims. Nobody reads them all.</a:t>
            </a:r>
          </a:p>
        </p:txBody>
      </p:sp>
      <p:sp>
        <p:nvSpPr>
          <p:cNvPr id="17" name="Rounded Rectangle 16"/>
          <p:cNvSpPr/>
          <p:nvPr/>
        </p:nvSpPr>
        <p:spPr>
          <a:xfrm>
            <a:off x="731520" y="4050792"/>
            <a:ext cx="10698480" cy="1005840"/>
          </a:xfrm>
          <a:prstGeom prst="roundRect">
            <a:avLst>
              <a:gd name="adj" fmla="val 8000"/>
            </a:avLst>
          </a:prstGeom>
          <a:solidFill>
            <a:srgbClr val="F4F8FB"/>
          </a:solidFill>
          <a:ln w="19050">
            <a:solidFill>
              <a:srgbClr val="E8833A"/>
            </a:solidFill>
          </a:ln>
          <a:effectLst/>
        </p:spPr>
        <p:txBody>
          <a:bodyPr rtlCol="0" anchor="ctr"/>
          <a:lstStyle/>
          <a:p>
            <a:pPr algn="ctr"/>
          </a:p>
        </p:txBody>
      </p:sp>
      <p:sp>
        <p:nvSpPr>
          <p:cNvPr id="18" name="Oval 17"/>
          <p:cNvSpPr/>
          <p:nvPr/>
        </p:nvSpPr>
        <p:spPr>
          <a:xfrm>
            <a:off x="1051560" y="4279392"/>
            <a:ext cx="548640" cy="548640"/>
          </a:xfrm>
          <a:prstGeom prst="ellipse">
            <a:avLst/>
          </a:prstGeom>
          <a:solidFill>
            <a:srgbClr val="E8833A"/>
          </a:solidFill>
          <a:ln>
            <a:noFill/>
          </a:ln>
          <a:effectLst/>
        </p:spPr>
        <p:txBody>
          <a:bodyPr rtlCol="0" anchor="ctr" wrap="none"/>
          <a:lstStyle/>
          <a:p>
            <a:pPr algn="ctr">
              <a:defRPr sz="1000">
                <a:solidFill>
                  <a:srgbClr val="FFFFFF"/>
                </a:solidFill>
              </a:defRPr>
            </a:pPr>
            <a:r>
              <a:t>⏱️</a:t>
            </a:r>
          </a:p>
        </p:txBody>
      </p:sp>
      <p:sp>
        <p:nvSpPr>
          <p:cNvPr id="19" name="TextBox 18"/>
          <p:cNvSpPr txBox="1"/>
          <p:nvPr/>
        </p:nvSpPr>
        <p:spPr>
          <a:xfrm>
            <a:off x="1828800" y="4197096"/>
            <a:ext cx="9326880" cy="411480"/>
          </a:xfrm>
          <a:prstGeom prst="rect">
            <a:avLst/>
          </a:prstGeom>
          <a:noFill/>
        </p:spPr>
        <p:txBody>
          <a:bodyPr wrap="square">
            <a:spAutoFit/>
          </a:bodyPr>
          <a:lstStyle/>
          <a:p>
            <a:pPr algn="l">
              <a:defRPr sz="1800" b="1" i="0">
                <a:solidFill>
                  <a:srgbClr val="11283B"/>
                </a:solidFill>
                <a:latin typeface="Segoe UI"/>
              </a:defRPr>
            </a:pPr>
            <a:r>
              <a:t>And claims keep arriving, sometimes twice</a:t>
            </a:r>
          </a:p>
        </p:txBody>
      </p:sp>
      <p:sp>
        <p:nvSpPr>
          <p:cNvPr id="20" name="TextBox 19"/>
          <p:cNvSpPr txBox="1"/>
          <p:nvPr/>
        </p:nvSpPr>
        <p:spPr>
          <a:xfrm>
            <a:off x="1828800" y="4617720"/>
            <a:ext cx="9326880" cy="402336"/>
          </a:xfrm>
          <a:prstGeom prst="rect">
            <a:avLst/>
          </a:prstGeom>
          <a:noFill/>
        </p:spPr>
        <p:txBody>
          <a:bodyPr wrap="square">
            <a:spAutoFit/>
          </a:bodyPr>
          <a:lstStyle/>
          <a:p>
            <a:pPr algn="l">
              <a:defRPr sz="1350" b="0" i="0">
                <a:solidFill>
                  <a:srgbClr val="5A7184"/>
                </a:solidFill>
                <a:latin typeface="Segoe UI"/>
              </a:defRPr>
            </a:pPr>
            <a:r>
              <a:t>New batches land all day, and brokers resubmit corrected claims. There can't be any duplicates.</a:t>
            </a:r>
          </a:p>
        </p:txBody>
      </p:sp>
      <p:sp>
        <p:nvSpPr>
          <p:cNvPr id="21" name="Rounded Rectangle 20"/>
          <p:cNvSpPr/>
          <p:nvPr/>
        </p:nvSpPr>
        <p:spPr>
          <a:xfrm>
            <a:off x="731520" y="5230368"/>
            <a:ext cx="10698480" cy="960120"/>
          </a:xfrm>
          <a:prstGeom prst="roundRect">
            <a:avLst>
              <a:gd name="adj" fmla="val 8000"/>
            </a:avLst>
          </a:prstGeom>
          <a:solidFill>
            <a:srgbClr val="EAF3FA"/>
          </a:solidFill>
          <a:ln w="19050">
            <a:solidFill>
              <a:srgbClr val="1BA37A"/>
            </a:solidFill>
          </a:ln>
          <a:effectLst/>
        </p:spPr>
        <p:txBody>
          <a:bodyPr rtlCol="0" anchor="ctr"/>
          <a:lstStyle/>
          <a:p>
            <a:pPr algn="ctr"/>
          </a:p>
        </p:txBody>
      </p:sp>
      <p:sp>
        <p:nvSpPr>
          <p:cNvPr id="22" name="Oval 21"/>
          <p:cNvSpPr/>
          <p:nvPr/>
        </p:nvSpPr>
        <p:spPr>
          <a:xfrm>
            <a:off x="987552" y="5504688"/>
            <a:ext cx="420624" cy="420624"/>
          </a:xfrm>
          <a:prstGeom prst="ellipse">
            <a:avLst/>
          </a:prstGeom>
          <a:solidFill>
            <a:srgbClr val="1BA37A"/>
          </a:solidFill>
          <a:ln>
            <a:noFill/>
          </a:ln>
          <a:effectLst/>
        </p:spPr>
        <p:txBody>
          <a:bodyPr rtlCol="0" anchor="ctr" wrap="none"/>
          <a:lstStyle/>
          <a:p>
            <a:pPr algn="ctr">
              <a:defRPr sz="800">
                <a:solidFill>
                  <a:srgbClr val="FFFFFF"/>
                </a:solidFill>
              </a:defRPr>
            </a:pPr>
            <a:r>
              <a:t>📋</a:t>
            </a:r>
          </a:p>
        </p:txBody>
      </p:sp>
      <p:sp>
        <p:nvSpPr>
          <p:cNvPr id="23" name="TextBox 22"/>
          <p:cNvSpPr txBox="1"/>
          <p:nvPr/>
        </p:nvSpPr>
        <p:spPr>
          <a:xfrm>
            <a:off x="1645920" y="5321807"/>
            <a:ext cx="9509760" cy="274320"/>
          </a:xfrm>
          <a:prstGeom prst="rect">
            <a:avLst/>
          </a:prstGeom>
          <a:noFill/>
        </p:spPr>
        <p:txBody>
          <a:bodyPr wrap="square">
            <a:spAutoFit/>
          </a:bodyPr>
          <a:lstStyle/>
          <a:p>
            <a:pPr algn="l">
              <a:defRPr sz="1050" b="1" i="0">
                <a:solidFill>
                  <a:srgbClr val="5A7184"/>
                </a:solidFill>
                <a:latin typeface="Segoe UI"/>
              </a:defRPr>
            </a:pPr>
            <a:r>
              <a:t>THE DATA</a:t>
            </a:r>
          </a:p>
        </p:txBody>
      </p:sp>
      <p:sp>
        <p:nvSpPr>
          <p:cNvPr id="24" name="TextBox 23"/>
          <p:cNvSpPr txBox="1"/>
          <p:nvPr/>
        </p:nvSpPr>
        <p:spPr>
          <a:xfrm>
            <a:off x="1645920" y="5577840"/>
            <a:ext cx="9601200" cy="566928"/>
          </a:xfrm>
          <a:prstGeom prst="rect">
            <a:avLst/>
          </a:prstGeom>
          <a:noFill/>
        </p:spPr>
        <p:txBody>
          <a:bodyPr wrap="square">
            <a:spAutoFit/>
          </a:bodyPr>
          <a:lstStyle/>
          <a:p>
            <a:pPr algn="l">
              <a:defRPr sz="1350" b="0" i="0">
                <a:solidFill>
                  <a:srgbClr val="11283B"/>
                </a:solidFill>
                <a:latin typeface="Segoe UI"/>
              </a:defRPr>
            </a:pPr>
            <a:r>
              <a:t>Messy claims, a second batch with a resubmitted claim, and exchange rates. The starter script loads them for you.</a:t>
            </a:r>
          </a:p>
        </p:txBody>
      </p:sp>
      <p:sp>
        <p:nvSpPr>
          <p:cNvPr id="25" name="TextBox 24"/>
          <p:cNvSpPr txBox="1"/>
          <p:nvPr/>
        </p:nvSpPr>
        <p:spPr>
          <a:xfrm>
            <a:off x="11155680" y="6400800"/>
            <a:ext cx="914400" cy="365760"/>
          </a:xfrm>
          <a:prstGeom prst="rect">
            <a:avLst/>
          </a:prstGeom>
          <a:noFill/>
        </p:spPr>
        <p:txBody>
          <a:bodyPr wrap="square">
            <a:spAutoFit/>
          </a:bodyPr>
          <a:lstStyle/>
          <a:p>
            <a:pPr algn="r">
              <a:defRPr sz="1000" b="0" i="0">
                <a:solidFill>
                  <a:srgbClr val="5A7184"/>
                </a:solidFill>
                <a:latin typeface="Segoe UI"/>
              </a:defRPr>
            </a:pPr>
            <a: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EAF3FA"/>
          </a:solidFill>
          <a:ln>
            <a:noFill/>
          </a:ln>
          <a:effectLst/>
        </p:spPr>
        <p:txBody>
          <a:bodyPr rtlCol="0" anchor="ctr"/>
          <a:lstStyle/>
          <a:p>
            <a:pPr algn="ctr"/>
          </a:p>
        </p:txBody>
      </p:sp>
      <p:sp>
        <p:nvSpPr>
          <p:cNvPr id="4" name="TextBox 3"/>
          <p:cNvSpPr txBox="1"/>
          <p:nvPr/>
        </p:nvSpPr>
        <p:spPr>
          <a:xfrm>
            <a:off x="731520" y="6473952"/>
            <a:ext cx="7680960" cy="320040"/>
          </a:xfrm>
          <a:prstGeom prst="rect">
            <a:avLst/>
          </a:prstGeom>
          <a:noFill/>
        </p:spPr>
        <p:txBody>
          <a:bodyPr wrap="square">
            <a:spAutoFit/>
          </a:bodyPr>
          <a:lstStyle/>
          <a:p>
            <a:pPr algn="l">
              <a:defRPr sz="900" b="0" i="1">
                <a:solidFill>
                  <a:srgbClr val="5A7184"/>
                </a:solidFill>
                <a:latin typeface="Segoe UI"/>
              </a:defRPr>
            </a:pPr>
            <a:r>
              <a:t>Snowflake on AWS  •  Build &amp; Architect Data Pipelines</a:t>
            </a:r>
          </a:p>
        </p:txBody>
      </p:sp>
      <p:sp>
        <p:nvSpPr>
          <p:cNvPr id="5" name="TextBox 4"/>
          <p:cNvSpPr txBox="1"/>
          <p:nvPr/>
        </p:nvSpPr>
        <p:spPr>
          <a:xfrm>
            <a:off x="8595360" y="6473952"/>
            <a:ext cx="2377440" cy="320040"/>
          </a:xfrm>
          <a:prstGeom prst="rect">
            <a:avLst/>
          </a:prstGeom>
          <a:noFill/>
        </p:spPr>
        <p:txBody>
          <a:bodyPr wrap="square">
            <a:spAutoFit/>
          </a:bodyPr>
          <a:lstStyle/>
          <a:p>
            <a:pPr algn="ctr">
              <a:defRPr sz="900" b="0" i="0">
                <a:solidFill>
                  <a:srgbClr val="11567F"/>
                </a:solidFill>
                <a:latin typeface="Segoe UI Semibold"/>
              </a:defRPr>
            </a:pPr>
            <a:r>
              <a:t>cognifydata.com</a:t>
            </a:r>
          </a:p>
        </p:txBody>
      </p:sp>
      <p:sp>
        <p:nvSpPr>
          <p:cNvPr id="6" name="TextBox 5"/>
          <p:cNvSpPr txBox="1"/>
          <p:nvPr/>
        </p:nvSpPr>
        <p:spPr>
          <a:xfrm>
            <a:off x="731520" y="365760"/>
            <a:ext cx="10698480" cy="640080"/>
          </a:xfrm>
          <a:prstGeom prst="rect">
            <a:avLst/>
          </a:prstGeom>
          <a:noFill/>
        </p:spPr>
        <p:txBody>
          <a:bodyPr wrap="square">
            <a:spAutoFit/>
          </a:bodyPr>
          <a:lstStyle/>
          <a:p>
            <a:pPr algn="l">
              <a:defRPr sz="3200" b="1" i="0">
                <a:solidFill>
                  <a:srgbClr val="11283B"/>
                </a:solidFill>
                <a:latin typeface="Segoe UI Semibold"/>
              </a:defRPr>
            </a:pPr>
            <a:r>
              <a:t>Your Tasks</a:t>
            </a:r>
          </a:p>
        </p:txBody>
      </p:sp>
      <p:sp>
        <p:nvSpPr>
          <p:cNvPr id="7" name="Rectangle 6"/>
          <p:cNvSpPr/>
          <p:nvPr/>
        </p:nvSpPr>
        <p:spPr>
          <a:xfrm>
            <a:off x="731520" y="1005840"/>
            <a:ext cx="2286000" cy="27432"/>
          </a:xfrm>
          <a:prstGeom prst="rect">
            <a:avLst/>
          </a:prstGeom>
          <a:solidFill>
            <a:srgbClr val="29B5E8"/>
          </a:solidFill>
          <a:ln>
            <a:noFill/>
          </a:ln>
          <a:effectLst/>
        </p:spPr>
        <p:txBody>
          <a:bodyPr rtlCol="0" anchor="ctr"/>
          <a:lstStyle/>
          <a:p>
            <a:pPr algn="ctr"/>
          </a:p>
        </p:txBody>
      </p:sp>
      <p:sp>
        <p:nvSpPr>
          <p:cNvPr id="8" name="TextBox 7"/>
          <p:cNvSpPr txBox="1"/>
          <p:nvPr/>
        </p:nvSpPr>
        <p:spPr>
          <a:xfrm>
            <a:off x="731520" y="1170432"/>
            <a:ext cx="10698480" cy="457200"/>
          </a:xfrm>
          <a:prstGeom prst="rect">
            <a:avLst/>
          </a:prstGeom>
          <a:noFill/>
        </p:spPr>
        <p:txBody>
          <a:bodyPr wrap="square">
            <a:spAutoFit/>
          </a:bodyPr>
          <a:lstStyle/>
          <a:p>
            <a:pPr algn="l">
              <a:defRPr sz="1600" b="0" i="1">
                <a:solidFill>
                  <a:srgbClr val="5A7184"/>
                </a:solidFill>
                <a:latin typeface="Segoe UI"/>
              </a:defRPr>
            </a:pPr>
            <a:r>
              <a:t>Try it yourself first with the starter files, then compare with the full solution</a:t>
            </a:r>
          </a:p>
        </p:txBody>
      </p:sp>
      <p:sp>
        <p:nvSpPr>
          <p:cNvPr id="9" name="Rounded Rectangle 8"/>
          <p:cNvSpPr/>
          <p:nvPr/>
        </p:nvSpPr>
        <p:spPr>
          <a:xfrm>
            <a:off x="731520" y="1691640"/>
            <a:ext cx="5257800" cy="603504"/>
          </a:xfrm>
          <a:prstGeom prst="roundRect">
            <a:avLst>
              <a:gd name="adj" fmla="val 8000"/>
            </a:avLst>
          </a:prstGeom>
          <a:solidFill>
            <a:srgbClr val="F4F8FB"/>
          </a:solidFill>
          <a:ln w="19050">
            <a:solidFill>
              <a:srgbClr val="29B5E8"/>
            </a:solidFill>
          </a:ln>
          <a:effectLst/>
        </p:spPr>
        <p:txBody>
          <a:bodyPr rtlCol="0" anchor="ctr"/>
          <a:lstStyle/>
          <a:p>
            <a:pPr algn="ctr"/>
          </a:p>
        </p:txBody>
      </p:sp>
      <p:sp>
        <p:nvSpPr>
          <p:cNvPr id="10" name="Oval 9"/>
          <p:cNvSpPr/>
          <p:nvPr/>
        </p:nvSpPr>
        <p:spPr>
          <a:xfrm>
            <a:off x="886968" y="1810512"/>
            <a:ext cx="365760" cy="365760"/>
          </a:xfrm>
          <a:prstGeom prst="ellipse">
            <a:avLst/>
          </a:prstGeom>
          <a:solidFill>
            <a:srgbClr val="29B5E8"/>
          </a:solidFill>
          <a:ln>
            <a:noFill/>
          </a:ln>
          <a:effectLst/>
        </p:spPr>
        <p:txBody>
          <a:bodyPr rtlCol="0" anchor="ctr" wrap="none"/>
          <a:lstStyle/>
          <a:p>
            <a:pPr algn="ctr">
              <a:defRPr sz="700">
                <a:solidFill>
                  <a:srgbClr val="FFFFFF"/>
                </a:solidFill>
              </a:defRPr>
            </a:pPr>
            <a:r>
              <a:t>1</a:t>
            </a:r>
          </a:p>
        </p:txBody>
      </p:sp>
      <p:sp>
        <p:nvSpPr>
          <p:cNvPr id="11" name="TextBox 10"/>
          <p:cNvSpPr txBox="1"/>
          <p:nvPr/>
        </p:nvSpPr>
        <p:spPr>
          <a:xfrm>
            <a:off x="1417320" y="1691640"/>
            <a:ext cx="4434840" cy="603504"/>
          </a:xfrm>
          <a:prstGeom prst="rect">
            <a:avLst/>
          </a:prstGeom>
          <a:noFill/>
        </p:spPr>
        <p:txBody>
          <a:bodyPr wrap="square" anchor="ctr">
            <a:spAutoFit/>
          </a:bodyPr>
          <a:lstStyle/>
          <a:p>
            <a:pPr algn="l">
              <a:defRPr sz="1350" b="1" i="0">
                <a:solidFill>
                  <a:srgbClr val="11283B"/>
                </a:solidFill>
                <a:latin typeface="Segoe UI"/>
              </a:defRPr>
            </a:pPr>
            <a:r>
              <a:t>Clean up policy numbers and dates, whatever format they arrive in</a:t>
            </a:r>
          </a:p>
        </p:txBody>
      </p:sp>
      <p:sp>
        <p:nvSpPr>
          <p:cNvPr id="12" name="Rounded Rectangle 11"/>
          <p:cNvSpPr/>
          <p:nvPr/>
        </p:nvSpPr>
        <p:spPr>
          <a:xfrm>
            <a:off x="6172200" y="1691640"/>
            <a:ext cx="5257800" cy="603504"/>
          </a:xfrm>
          <a:prstGeom prst="roundRect">
            <a:avLst>
              <a:gd name="adj" fmla="val 8000"/>
            </a:avLst>
          </a:prstGeom>
          <a:solidFill>
            <a:srgbClr val="F4F8FB"/>
          </a:solidFill>
          <a:ln w="19050">
            <a:solidFill>
              <a:srgbClr val="6B5BD2"/>
            </a:solidFill>
          </a:ln>
          <a:effectLst/>
        </p:spPr>
        <p:txBody>
          <a:bodyPr rtlCol="0" anchor="ctr"/>
          <a:lstStyle/>
          <a:p>
            <a:pPr algn="ctr"/>
          </a:p>
        </p:txBody>
      </p:sp>
      <p:sp>
        <p:nvSpPr>
          <p:cNvPr id="13" name="Oval 12"/>
          <p:cNvSpPr/>
          <p:nvPr/>
        </p:nvSpPr>
        <p:spPr>
          <a:xfrm>
            <a:off x="6327648" y="1810512"/>
            <a:ext cx="365760" cy="365760"/>
          </a:xfrm>
          <a:prstGeom prst="ellipse">
            <a:avLst/>
          </a:prstGeom>
          <a:solidFill>
            <a:srgbClr val="6B5BD2"/>
          </a:solidFill>
          <a:ln>
            <a:noFill/>
          </a:ln>
          <a:effectLst/>
        </p:spPr>
        <p:txBody>
          <a:bodyPr rtlCol="0" anchor="ctr" wrap="none"/>
          <a:lstStyle/>
          <a:p>
            <a:pPr algn="ctr">
              <a:defRPr sz="700">
                <a:solidFill>
                  <a:srgbClr val="FFFFFF"/>
                </a:solidFill>
              </a:defRPr>
            </a:pPr>
            <a:r>
              <a:t>2</a:t>
            </a:r>
          </a:p>
        </p:txBody>
      </p:sp>
      <p:sp>
        <p:nvSpPr>
          <p:cNvPr id="14" name="TextBox 13"/>
          <p:cNvSpPr txBox="1"/>
          <p:nvPr/>
        </p:nvSpPr>
        <p:spPr>
          <a:xfrm>
            <a:off x="6858000" y="1691640"/>
            <a:ext cx="4434840" cy="603504"/>
          </a:xfrm>
          <a:prstGeom prst="rect">
            <a:avLst/>
          </a:prstGeom>
          <a:noFill/>
        </p:spPr>
        <p:txBody>
          <a:bodyPr wrap="square" anchor="ctr">
            <a:spAutoFit/>
          </a:bodyPr>
          <a:lstStyle/>
          <a:p>
            <a:pPr algn="l">
              <a:defRPr sz="1350" b="1" i="0">
                <a:solidFill>
                  <a:srgbClr val="11283B"/>
                </a:solidFill>
                <a:latin typeface="Segoe UI"/>
              </a:defRPr>
            </a:pPr>
            <a:r>
              <a:t>Convert every amount to US dollars and give each claim a severity</a:t>
            </a:r>
          </a:p>
        </p:txBody>
      </p:sp>
      <p:sp>
        <p:nvSpPr>
          <p:cNvPr id="15" name="Rounded Rectangle 14"/>
          <p:cNvSpPr/>
          <p:nvPr/>
        </p:nvSpPr>
        <p:spPr>
          <a:xfrm>
            <a:off x="731520" y="2404872"/>
            <a:ext cx="5257800" cy="603504"/>
          </a:xfrm>
          <a:prstGeom prst="roundRect">
            <a:avLst>
              <a:gd name="adj" fmla="val 8000"/>
            </a:avLst>
          </a:prstGeom>
          <a:solidFill>
            <a:srgbClr val="F4F8FB"/>
          </a:solidFill>
          <a:ln w="19050">
            <a:solidFill>
              <a:srgbClr val="E8833A"/>
            </a:solidFill>
          </a:ln>
          <a:effectLst/>
        </p:spPr>
        <p:txBody>
          <a:bodyPr rtlCol="0" anchor="ctr"/>
          <a:lstStyle/>
          <a:p>
            <a:pPr algn="ctr"/>
          </a:p>
        </p:txBody>
      </p:sp>
      <p:sp>
        <p:nvSpPr>
          <p:cNvPr id="16" name="Oval 15"/>
          <p:cNvSpPr/>
          <p:nvPr/>
        </p:nvSpPr>
        <p:spPr>
          <a:xfrm>
            <a:off x="886968" y="2523744"/>
            <a:ext cx="365760" cy="365760"/>
          </a:xfrm>
          <a:prstGeom prst="ellipse">
            <a:avLst/>
          </a:prstGeom>
          <a:solidFill>
            <a:srgbClr val="E8833A"/>
          </a:solidFill>
          <a:ln>
            <a:noFill/>
          </a:ln>
          <a:effectLst/>
        </p:spPr>
        <p:txBody>
          <a:bodyPr rtlCol="0" anchor="ctr" wrap="none"/>
          <a:lstStyle/>
          <a:p>
            <a:pPr algn="ctr">
              <a:defRPr sz="700">
                <a:solidFill>
                  <a:srgbClr val="FFFFFF"/>
                </a:solidFill>
              </a:defRPr>
            </a:pPr>
            <a:r>
              <a:t>3</a:t>
            </a:r>
          </a:p>
        </p:txBody>
      </p:sp>
      <p:sp>
        <p:nvSpPr>
          <p:cNvPr id="17" name="TextBox 16"/>
          <p:cNvSpPr txBox="1"/>
          <p:nvPr/>
        </p:nvSpPr>
        <p:spPr>
          <a:xfrm>
            <a:off x="1417320" y="2404872"/>
            <a:ext cx="4434840" cy="603504"/>
          </a:xfrm>
          <a:prstGeom prst="rect">
            <a:avLst/>
          </a:prstGeom>
          <a:noFill/>
        </p:spPr>
        <p:txBody>
          <a:bodyPr wrap="square" anchor="ctr">
            <a:spAutoFit/>
          </a:bodyPr>
          <a:lstStyle/>
          <a:p>
            <a:pPr algn="l">
              <a:defRPr sz="1350" b="1" i="0">
                <a:solidFill>
                  <a:srgbClr val="11283B"/>
                </a:solidFill>
                <a:latin typeface="Segoe UI"/>
              </a:defRPr>
            </a:pPr>
            <a:r>
              <a:t>Pull the fraud signals out of the adjuster notes</a:t>
            </a:r>
          </a:p>
        </p:txBody>
      </p:sp>
      <p:sp>
        <p:nvSpPr>
          <p:cNvPr id="18" name="Rounded Rectangle 17"/>
          <p:cNvSpPr/>
          <p:nvPr/>
        </p:nvSpPr>
        <p:spPr>
          <a:xfrm>
            <a:off x="6172200" y="2404872"/>
            <a:ext cx="5257800" cy="603504"/>
          </a:xfrm>
          <a:prstGeom prst="roundRect">
            <a:avLst>
              <a:gd name="adj" fmla="val 8000"/>
            </a:avLst>
          </a:prstGeom>
          <a:solidFill>
            <a:srgbClr val="F4F8FB"/>
          </a:solidFill>
          <a:ln w="19050">
            <a:solidFill>
              <a:srgbClr val="1BA37A"/>
            </a:solidFill>
          </a:ln>
          <a:effectLst/>
        </p:spPr>
        <p:txBody>
          <a:bodyPr rtlCol="0" anchor="ctr"/>
          <a:lstStyle/>
          <a:p>
            <a:pPr algn="ctr"/>
          </a:p>
        </p:txBody>
      </p:sp>
      <p:sp>
        <p:nvSpPr>
          <p:cNvPr id="19" name="Oval 18"/>
          <p:cNvSpPr/>
          <p:nvPr/>
        </p:nvSpPr>
        <p:spPr>
          <a:xfrm>
            <a:off x="6327648" y="2523744"/>
            <a:ext cx="365760" cy="365760"/>
          </a:xfrm>
          <a:prstGeom prst="ellipse">
            <a:avLst/>
          </a:prstGeom>
          <a:solidFill>
            <a:srgbClr val="1BA37A"/>
          </a:solidFill>
          <a:ln>
            <a:noFill/>
          </a:ln>
          <a:effectLst/>
        </p:spPr>
        <p:txBody>
          <a:bodyPr rtlCol="0" anchor="ctr" wrap="none"/>
          <a:lstStyle/>
          <a:p>
            <a:pPr algn="ctr">
              <a:defRPr sz="700">
                <a:solidFill>
                  <a:srgbClr val="FFFFFF"/>
                </a:solidFill>
              </a:defRPr>
            </a:pPr>
            <a:r>
              <a:t>4</a:t>
            </a:r>
          </a:p>
        </p:txBody>
      </p:sp>
      <p:sp>
        <p:nvSpPr>
          <p:cNvPr id="20" name="TextBox 19"/>
          <p:cNvSpPr txBox="1"/>
          <p:nvPr/>
        </p:nvSpPr>
        <p:spPr>
          <a:xfrm>
            <a:off x="6858000" y="2404872"/>
            <a:ext cx="4434840" cy="603504"/>
          </a:xfrm>
          <a:prstGeom prst="rect">
            <a:avLst/>
          </a:prstGeom>
          <a:noFill/>
        </p:spPr>
        <p:txBody>
          <a:bodyPr wrap="square" anchor="ctr">
            <a:spAutoFit/>
          </a:bodyPr>
          <a:lstStyle/>
          <a:p>
            <a:pPr algn="l">
              <a:defRPr sz="1350" b="1" i="0">
                <a:solidFill>
                  <a:srgbClr val="11283B"/>
                </a:solidFill>
                <a:latin typeface="Segoe UI"/>
              </a:defRPr>
            </a:pPr>
            <a:r>
              <a:t>Process only new claims, and update resubmitted ones in place</a:t>
            </a:r>
          </a:p>
        </p:txBody>
      </p:sp>
      <p:sp>
        <p:nvSpPr>
          <p:cNvPr id="21" name="Rounded Rectangle 20"/>
          <p:cNvSpPr/>
          <p:nvPr/>
        </p:nvSpPr>
        <p:spPr>
          <a:xfrm>
            <a:off x="731520" y="3118104"/>
            <a:ext cx="5257800" cy="603504"/>
          </a:xfrm>
          <a:prstGeom prst="roundRect">
            <a:avLst>
              <a:gd name="adj" fmla="val 8000"/>
            </a:avLst>
          </a:prstGeom>
          <a:solidFill>
            <a:srgbClr val="F4F8FB"/>
          </a:solidFill>
          <a:ln w="19050">
            <a:solidFill>
              <a:srgbClr val="E5484D"/>
            </a:solidFill>
          </a:ln>
          <a:effectLst/>
        </p:spPr>
        <p:txBody>
          <a:bodyPr rtlCol="0" anchor="ctr"/>
          <a:lstStyle/>
          <a:p>
            <a:pPr algn="ctr"/>
          </a:p>
        </p:txBody>
      </p:sp>
      <p:sp>
        <p:nvSpPr>
          <p:cNvPr id="22" name="Oval 21"/>
          <p:cNvSpPr/>
          <p:nvPr/>
        </p:nvSpPr>
        <p:spPr>
          <a:xfrm>
            <a:off x="886968" y="3236976"/>
            <a:ext cx="365760" cy="365760"/>
          </a:xfrm>
          <a:prstGeom prst="ellipse">
            <a:avLst/>
          </a:prstGeom>
          <a:solidFill>
            <a:srgbClr val="E5484D"/>
          </a:solidFill>
          <a:ln>
            <a:noFill/>
          </a:ln>
          <a:effectLst/>
        </p:spPr>
        <p:txBody>
          <a:bodyPr rtlCol="0" anchor="ctr" wrap="none"/>
          <a:lstStyle/>
          <a:p>
            <a:pPr algn="ctr">
              <a:defRPr sz="700">
                <a:solidFill>
                  <a:srgbClr val="FFFFFF"/>
                </a:solidFill>
              </a:defRPr>
            </a:pPr>
            <a:r>
              <a:t>5</a:t>
            </a:r>
          </a:p>
        </p:txBody>
      </p:sp>
      <p:sp>
        <p:nvSpPr>
          <p:cNvPr id="23" name="TextBox 22"/>
          <p:cNvSpPr txBox="1"/>
          <p:nvPr/>
        </p:nvSpPr>
        <p:spPr>
          <a:xfrm>
            <a:off x="1417320" y="3118104"/>
            <a:ext cx="4434840" cy="603504"/>
          </a:xfrm>
          <a:prstGeom prst="rect">
            <a:avLst/>
          </a:prstGeom>
          <a:noFill/>
        </p:spPr>
        <p:txBody>
          <a:bodyPr wrap="square" anchor="ctr">
            <a:spAutoFit/>
          </a:bodyPr>
          <a:lstStyle/>
          <a:p>
            <a:pPr algn="l">
              <a:defRPr sz="1350" b="1" i="0">
                <a:solidFill>
                  <a:srgbClr val="11283B"/>
                </a:solidFill>
                <a:latin typeface="Segoe UI"/>
              </a:defRPr>
            </a:pPr>
            <a:r>
              <a:t>Run it on a schedule, with a record of every run</a:t>
            </a:r>
          </a:p>
        </p:txBody>
      </p:sp>
      <p:sp>
        <p:nvSpPr>
          <p:cNvPr id="24" name="Rounded Rectangle 23"/>
          <p:cNvSpPr/>
          <p:nvPr/>
        </p:nvSpPr>
        <p:spPr>
          <a:xfrm>
            <a:off x="6172200" y="3118104"/>
            <a:ext cx="5257800" cy="603504"/>
          </a:xfrm>
          <a:prstGeom prst="roundRect">
            <a:avLst>
              <a:gd name="adj" fmla="val 8000"/>
            </a:avLst>
          </a:prstGeom>
          <a:solidFill>
            <a:srgbClr val="F4F8FB"/>
          </a:solidFill>
          <a:ln w="19050">
            <a:solidFill>
              <a:srgbClr val="11567F"/>
            </a:solidFill>
          </a:ln>
          <a:effectLst/>
        </p:spPr>
        <p:txBody>
          <a:bodyPr rtlCol="0" anchor="ctr"/>
          <a:lstStyle/>
          <a:p>
            <a:pPr algn="ctr"/>
          </a:p>
        </p:txBody>
      </p:sp>
      <p:sp>
        <p:nvSpPr>
          <p:cNvPr id="25" name="Oval 24"/>
          <p:cNvSpPr/>
          <p:nvPr/>
        </p:nvSpPr>
        <p:spPr>
          <a:xfrm>
            <a:off x="6327648" y="3236976"/>
            <a:ext cx="365760" cy="365760"/>
          </a:xfrm>
          <a:prstGeom prst="ellipse">
            <a:avLst/>
          </a:prstGeom>
          <a:solidFill>
            <a:srgbClr val="11567F"/>
          </a:solidFill>
          <a:ln>
            <a:noFill/>
          </a:ln>
          <a:effectLst/>
        </p:spPr>
        <p:txBody>
          <a:bodyPr rtlCol="0" anchor="ctr" wrap="none"/>
          <a:lstStyle/>
          <a:p>
            <a:pPr algn="ctr">
              <a:defRPr sz="700">
                <a:solidFill>
                  <a:srgbClr val="FFFFFF"/>
                </a:solidFill>
              </a:defRPr>
            </a:pPr>
            <a:r>
              <a:t>6</a:t>
            </a:r>
          </a:p>
        </p:txBody>
      </p:sp>
      <p:sp>
        <p:nvSpPr>
          <p:cNvPr id="26" name="TextBox 25"/>
          <p:cNvSpPr txBox="1"/>
          <p:nvPr/>
        </p:nvSpPr>
        <p:spPr>
          <a:xfrm>
            <a:off x="6858000" y="3118104"/>
            <a:ext cx="4434840" cy="603504"/>
          </a:xfrm>
          <a:prstGeom prst="rect">
            <a:avLst/>
          </a:prstGeom>
          <a:noFill/>
        </p:spPr>
        <p:txBody>
          <a:bodyPr wrap="square" anchor="ctr">
            <a:spAutoFit/>
          </a:bodyPr>
          <a:lstStyle/>
          <a:p>
            <a:pPr algn="l">
              <a:defRPr sz="1350" b="1" i="0">
                <a:solidFill>
                  <a:srgbClr val="11283B"/>
                </a:solidFill>
                <a:latin typeface="Segoe UI"/>
              </a:defRPr>
            </a:pPr>
            <a:r>
              <a:t>Give the claims team a queue of claims that need a person</a:t>
            </a:r>
          </a:p>
        </p:txBody>
      </p:sp>
      <p:sp>
        <p:nvSpPr>
          <p:cNvPr id="27" name="Rounded Rectangle 26">
            <a:hlinkClick r:id="rId2"/>
          </p:cNvPr>
          <p:cNvSpPr/>
          <p:nvPr/>
        </p:nvSpPr>
        <p:spPr>
          <a:xfrm>
            <a:off x="731520" y="3977639"/>
            <a:ext cx="10698480" cy="1280160"/>
          </a:xfrm>
          <a:prstGeom prst="roundRect">
            <a:avLst>
              <a:gd name="adj" fmla="val 8000"/>
            </a:avLst>
          </a:prstGeom>
          <a:solidFill>
            <a:srgbClr val="EAF3FA"/>
          </a:solidFill>
          <a:ln w="19050">
            <a:solidFill>
              <a:srgbClr val="11567F"/>
            </a:solidFill>
          </a:ln>
          <a:effectLst/>
        </p:spPr>
        <p:txBody>
          <a:bodyPr rtlCol="0" anchor="ctr"/>
          <a:lstStyle/>
          <a:p>
            <a:pPr algn="ctr"/>
          </a:p>
        </p:txBody>
      </p:sp>
      <p:sp>
        <p:nvSpPr>
          <p:cNvPr id="28" name="Oval 27"/>
          <p:cNvSpPr/>
          <p:nvPr/>
        </p:nvSpPr>
        <p:spPr>
          <a:xfrm>
            <a:off x="1051560" y="4160520"/>
            <a:ext cx="420624" cy="420624"/>
          </a:xfrm>
          <a:prstGeom prst="ellipse">
            <a:avLst/>
          </a:prstGeom>
          <a:solidFill>
            <a:srgbClr val="11567F"/>
          </a:solidFill>
          <a:ln>
            <a:noFill/>
          </a:ln>
          <a:effectLst/>
        </p:spPr>
        <p:txBody>
          <a:bodyPr rtlCol="0" anchor="ctr" wrap="none"/>
          <a:lstStyle/>
          <a:p>
            <a:pPr algn="ctr">
              <a:defRPr sz="800">
                <a:solidFill>
                  <a:srgbClr val="FFFFFF"/>
                </a:solidFill>
              </a:defRPr>
            </a:pPr>
            <a:r>
              <a:t>🔗</a:t>
            </a:r>
          </a:p>
        </p:txBody>
      </p:sp>
      <p:sp>
        <p:nvSpPr>
          <p:cNvPr id="29" name="TextBox 28"/>
          <p:cNvSpPr txBox="1"/>
          <p:nvPr/>
        </p:nvSpPr>
        <p:spPr>
          <a:xfrm>
            <a:off x="1691640" y="4160520"/>
            <a:ext cx="8229600" cy="365760"/>
          </a:xfrm>
          <a:prstGeom prst="rect">
            <a:avLst/>
          </a:prstGeom>
          <a:noFill/>
        </p:spPr>
        <p:txBody>
          <a:bodyPr wrap="square">
            <a:spAutoFit/>
          </a:bodyPr>
          <a:lstStyle/>
          <a:p>
            <a:pPr algn="l">
              <a:defRPr sz="1200" b="1" i="0">
                <a:solidFill>
                  <a:srgbClr val="5A7184"/>
                </a:solidFill>
                <a:latin typeface="Segoe UI"/>
              </a:defRPr>
            </a:pPr>
            <a:r>
              <a:rPr spc="150"/>
              <a:t>FULL SOLUTION, WALKTHROUGH AND SOURCE CODE</a:t>
            </a:r>
          </a:p>
        </p:txBody>
      </p:sp>
      <p:sp>
        <p:nvSpPr>
          <p:cNvPr id="30" name="TextBox 29"/>
          <p:cNvSpPr txBox="1"/>
          <p:nvPr/>
        </p:nvSpPr>
        <p:spPr>
          <a:xfrm>
            <a:off x="914400" y="4617720"/>
            <a:ext cx="10332720" cy="502920"/>
          </a:xfrm>
          <a:prstGeom prst="rect">
            <a:avLst/>
          </a:prstGeom>
          <a:noFill/>
        </p:spPr>
        <p:txBody>
          <a:bodyPr wrap="none" anchor="ctr">
            <a:spAutoFit/>
          </a:bodyPr>
          <a:lstStyle/>
          <a:p>
            <a:pPr algn="ctr"/>
            <a:r>
              <a:rPr sz="1500" b="1" u="sng">
                <a:solidFill>
                  <a:srgbClr val="11567F"/>
                </a:solidFill>
                <a:latin typeface="Segoe UI Semibold"/>
                <a:hlinkClick r:id="rId2"/>
              </a:rPr>
              <a:t>https://cognifydata.com/labs/snowpark-udfs-udtfs-stored-procedures-insurance-claims</a:t>
            </a:r>
          </a:p>
        </p:txBody>
      </p:sp>
      <p:sp>
        <p:nvSpPr>
          <p:cNvPr id="31" name="Rounded Rectangle 30"/>
          <p:cNvSpPr/>
          <p:nvPr/>
        </p:nvSpPr>
        <p:spPr>
          <a:xfrm>
            <a:off x="731520" y="5422392"/>
            <a:ext cx="3429000" cy="530352"/>
          </a:xfrm>
          <a:prstGeom prst="roundRect">
            <a:avLst>
              <a:gd name="adj" fmla="val 8000"/>
            </a:avLst>
          </a:prstGeom>
          <a:solidFill>
            <a:srgbClr val="FFFFFF"/>
          </a:solidFill>
          <a:ln w="19050">
            <a:solidFill>
              <a:srgbClr val="1BA37A"/>
            </a:solidFill>
          </a:ln>
          <a:effectLst/>
        </p:spPr>
        <p:txBody>
          <a:bodyPr rtlCol="0" anchor="ctr"/>
          <a:lstStyle/>
          <a:p>
            <a:pPr algn="ctr"/>
          </a:p>
        </p:txBody>
      </p:sp>
      <p:sp>
        <p:nvSpPr>
          <p:cNvPr id="32" name="Oval 31"/>
          <p:cNvSpPr/>
          <p:nvPr/>
        </p:nvSpPr>
        <p:spPr>
          <a:xfrm>
            <a:off x="914400" y="5513831"/>
            <a:ext cx="347472" cy="347472"/>
          </a:xfrm>
          <a:prstGeom prst="ellipse">
            <a:avLst/>
          </a:prstGeom>
          <a:solidFill>
            <a:srgbClr val="1BA37A"/>
          </a:solidFill>
          <a:ln>
            <a:noFill/>
          </a:ln>
          <a:effectLst/>
        </p:spPr>
        <p:txBody>
          <a:bodyPr rtlCol="0" anchor="ctr" wrap="none"/>
          <a:lstStyle/>
          <a:p>
            <a:pPr algn="ctr">
              <a:defRPr sz="600">
                <a:solidFill>
                  <a:srgbClr val="FFFFFF"/>
                </a:solidFill>
              </a:defRPr>
            </a:pPr>
            <a:r>
              <a:t>📎</a:t>
            </a:r>
          </a:p>
        </p:txBody>
      </p:sp>
      <p:sp>
        <p:nvSpPr>
          <p:cNvPr id="33" name="TextBox 32"/>
          <p:cNvSpPr txBox="1"/>
          <p:nvPr/>
        </p:nvSpPr>
        <p:spPr>
          <a:xfrm>
            <a:off x="1371600" y="5422392"/>
            <a:ext cx="2743200" cy="530352"/>
          </a:xfrm>
          <a:prstGeom prst="rect">
            <a:avLst/>
          </a:prstGeom>
          <a:noFill/>
        </p:spPr>
        <p:txBody>
          <a:bodyPr wrap="square" anchor="ctr">
            <a:spAutoFit/>
          </a:bodyPr>
          <a:lstStyle/>
          <a:p>
            <a:pPr algn="l">
              <a:defRPr sz="1400" b="1" i="0">
                <a:solidFill>
                  <a:srgbClr val="11283B"/>
                </a:solidFill>
                <a:latin typeface="Segoe UI"/>
              </a:defRPr>
            </a:pPr>
            <a:r>
              <a:t>Starter files attached</a:t>
            </a:r>
          </a:p>
        </p:txBody>
      </p:sp>
      <p:sp>
        <p:nvSpPr>
          <p:cNvPr id="34" name="Rounded Rectangle 33"/>
          <p:cNvSpPr/>
          <p:nvPr/>
        </p:nvSpPr>
        <p:spPr>
          <a:xfrm>
            <a:off x="4366260" y="5422392"/>
            <a:ext cx="3429000" cy="530352"/>
          </a:xfrm>
          <a:prstGeom prst="roundRect">
            <a:avLst>
              <a:gd name="adj" fmla="val 8000"/>
            </a:avLst>
          </a:prstGeom>
          <a:solidFill>
            <a:srgbClr val="FFFFFF"/>
          </a:solidFill>
          <a:ln w="19050">
            <a:solidFill>
              <a:srgbClr val="1BA37A"/>
            </a:solidFill>
          </a:ln>
          <a:effectLst/>
        </p:spPr>
        <p:txBody>
          <a:bodyPr rtlCol="0" anchor="ctr"/>
          <a:lstStyle/>
          <a:p>
            <a:pPr algn="ctr"/>
          </a:p>
        </p:txBody>
      </p:sp>
      <p:sp>
        <p:nvSpPr>
          <p:cNvPr id="35" name="Oval 34"/>
          <p:cNvSpPr/>
          <p:nvPr/>
        </p:nvSpPr>
        <p:spPr>
          <a:xfrm>
            <a:off x="4549140" y="5513831"/>
            <a:ext cx="347472" cy="347472"/>
          </a:xfrm>
          <a:prstGeom prst="ellipse">
            <a:avLst/>
          </a:prstGeom>
          <a:solidFill>
            <a:srgbClr val="1BA37A"/>
          </a:solidFill>
          <a:ln>
            <a:noFill/>
          </a:ln>
          <a:effectLst/>
        </p:spPr>
        <p:txBody>
          <a:bodyPr rtlCol="0" anchor="ctr" wrap="none"/>
          <a:lstStyle/>
          <a:p>
            <a:pPr algn="ctr">
              <a:defRPr sz="600">
                <a:solidFill>
                  <a:srgbClr val="FFFFFF"/>
                </a:solidFill>
              </a:defRPr>
            </a:pPr>
            <a:r>
              <a:t>✓</a:t>
            </a:r>
          </a:p>
        </p:txBody>
      </p:sp>
      <p:sp>
        <p:nvSpPr>
          <p:cNvPr id="36" name="TextBox 35"/>
          <p:cNvSpPr txBox="1"/>
          <p:nvPr/>
        </p:nvSpPr>
        <p:spPr>
          <a:xfrm>
            <a:off x="5006340" y="5422392"/>
            <a:ext cx="2743200" cy="530352"/>
          </a:xfrm>
          <a:prstGeom prst="rect">
            <a:avLst/>
          </a:prstGeom>
          <a:noFill/>
        </p:spPr>
        <p:txBody>
          <a:bodyPr wrap="square" anchor="ctr">
            <a:spAutoFit/>
          </a:bodyPr>
          <a:lstStyle/>
          <a:p>
            <a:pPr algn="l">
              <a:defRPr sz="1400" b="1" i="0">
                <a:solidFill>
                  <a:srgbClr val="11283B"/>
                </a:solidFill>
                <a:latin typeface="Segoe UI"/>
              </a:defRPr>
            </a:pPr>
            <a:r>
              <a:t>Free, no sign-up</a:t>
            </a:r>
          </a:p>
        </p:txBody>
      </p:sp>
      <p:sp>
        <p:nvSpPr>
          <p:cNvPr id="37" name="Rounded Rectangle 36"/>
          <p:cNvSpPr/>
          <p:nvPr/>
        </p:nvSpPr>
        <p:spPr>
          <a:xfrm>
            <a:off x="8001000" y="5422392"/>
            <a:ext cx="3429000" cy="530352"/>
          </a:xfrm>
          <a:prstGeom prst="roundRect">
            <a:avLst>
              <a:gd name="adj" fmla="val 8000"/>
            </a:avLst>
          </a:prstGeom>
          <a:solidFill>
            <a:srgbClr val="FFFFFF"/>
          </a:solidFill>
          <a:ln w="19050">
            <a:solidFill>
              <a:srgbClr val="1BA37A"/>
            </a:solidFill>
          </a:ln>
          <a:effectLst/>
        </p:spPr>
        <p:txBody>
          <a:bodyPr rtlCol="0" anchor="ctr"/>
          <a:lstStyle/>
          <a:p>
            <a:pPr algn="ctr"/>
          </a:p>
        </p:txBody>
      </p:sp>
      <p:sp>
        <p:nvSpPr>
          <p:cNvPr id="38" name="Oval 37"/>
          <p:cNvSpPr/>
          <p:nvPr/>
        </p:nvSpPr>
        <p:spPr>
          <a:xfrm>
            <a:off x="8183879" y="5513831"/>
            <a:ext cx="347472" cy="347472"/>
          </a:xfrm>
          <a:prstGeom prst="ellipse">
            <a:avLst/>
          </a:prstGeom>
          <a:solidFill>
            <a:srgbClr val="1BA37A"/>
          </a:solidFill>
          <a:ln>
            <a:noFill/>
          </a:ln>
          <a:effectLst/>
        </p:spPr>
        <p:txBody>
          <a:bodyPr rtlCol="0" anchor="ctr" wrap="none"/>
          <a:lstStyle/>
          <a:p>
            <a:pPr algn="ctr">
              <a:defRPr sz="600">
                <a:solidFill>
                  <a:srgbClr val="FFFFFF"/>
                </a:solidFill>
              </a:defRPr>
            </a:pPr>
            <a:r>
              <a:t>✓</a:t>
            </a:r>
          </a:p>
        </p:txBody>
      </p:sp>
      <p:sp>
        <p:nvSpPr>
          <p:cNvPr id="39" name="TextBox 38"/>
          <p:cNvSpPr txBox="1"/>
          <p:nvPr/>
        </p:nvSpPr>
        <p:spPr>
          <a:xfrm>
            <a:off x="8641080" y="5422392"/>
            <a:ext cx="2743200" cy="530352"/>
          </a:xfrm>
          <a:prstGeom prst="rect">
            <a:avLst/>
          </a:prstGeom>
          <a:noFill/>
        </p:spPr>
        <p:txBody>
          <a:bodyPr wrap="square" anchor="ctr">
            <a:spAutoFit/>
          </a:bodyPr>
          <a:lstStyle/>
          <a:p>
            <a:pPr algn="l">
              <a:defRPr sz="1400" b="1" i="0">
                <a:solidFill>
                  <a:srgbClr val="11283B"/>
                </a:solidFill>
                <a:latin typeface="Segoe UI"/>
              </a:defRPr>
            </a:pPr>
            <a:r>
              <a:t>Step-by-step solution</a:t>
            </a:r>
          </a:p>
        </p:txBody>
      </p:sp>
      <p:sp>
        <p:nvSpPr>
          <p:cNvPr id="40" name="TextBox 39"/>
          <p:cNvSpPr txBox="1"/>
          <p:nvPr/>
        </p:nvSpPr>
        <p:spPr>
          <a:xfrm>
            <a:off x="11155680" y="6400800"/>
            <a:ext cx="914400" cy="365760"/>
          </a:xfrm>
          <a:prstGeom prst="rect">
            <a:avLst/>
          </a:prstGeom>
          <a:noFill/>
        </p:spPr>
        <p:txBody>
          <a:bodyPr wrap="square">
            <a:spAutoFit/>
          </a:bodyPr>
          <a:lstStyle/>
          <a:p>
            <a:pPr algn="r">
              <a:defRPr sz="1000" b="0" i="0">
                <a:solidFill>
                  <a:srgbClr val="5A7184"/>
                </a:solidFill>
                <a:latin typeface="Segoe UI"/>
              </a:defRPr>
            </a:pPr>
            <a: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11567F"/>
      </a:hlink>
      <a:folHlink>
        <a:srgbClr val="11567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