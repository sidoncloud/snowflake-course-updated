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your next assignment. This one is all about making slow, expensive queries fast and cheap, and proving it with numbers. It uses what you learned in Section 4 about performance and cost, and it shouldn't take you more than a couple of hours.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scenario. You're a data engineer at TripLedger, a ride-hailing analytics company, and every query they run costs credits. Finance runs date-range reports all day, like revenue for a month or a week, and each report reads far more data than it needs to. Support looks up a single trip by its reference code, and that one lookup scans a table of twenty million rows. All of it runs on one shared warehouse, and nobody has measured anything, so nobody knows which fix is worth paying for. The data comes from the TPCH sample data that's already in every Snowflake account, and the starter script builds the tables for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your tasks. First, measure how well the trips table is laid out for those date-range reports. Then fix the layout so a monthly report reads only the data it needs. Clustering from Section 4 is what you'll reach for here. Next, show the difference between the warehouse cache and the result cache. After that, make the support lookup fast on twenty million rows. Then find out what each warehouse actually cost, so you can tell whether it's sized right. And for every fix, prove it with numbers from Query Profile, because the rule for this whole assignment is measure, fix, and measure again. Grab the starter files attached to this lecture, because they build the trips tables for you. And once you have your numbers, check them against my solution at the link on screen.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gnifydata.com/labs/snowflake-performance-cost-optimization" TargetMode="External"/><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Rounded Rectangle 5"/>
          <p:cNvSpPr/>
          <p:nvPr/>
        </p:nvSpPr>
        <p:spPr>
          <a:xfrm>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7" name="Rounded Rectangle 6"/>
          <p:cNvSpPr/>
          <p:nvPr/>
        </p:nvSpPr>
        <p:spPr>
          <a:xfrm rot="36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8" name="Rounded Rectangle 7"/>
          <p:cNvSpPr/>
          <p:nvPr/>
        </p:nvSpPr>
        <p:spPr>
          <a:xfrm rot="7200000">
            <a:off x="10806380" y="4023360"/>
            <a:ext cx="241401" cy="2011680"/>
          </a:xfrm>
          <a:prstGeom prst="roundRect">
            <a:avLst>
              <a:gd name="adj" fmla="val 50000"/>
            </a:avLst>
          </a:prstGeom>
          <a:solidFill>
            <a:srgbClr val="CBE8F7"/>
          </a:solidFill>
          <a:ln>
            <a:noFill/>
          </a:ln>
          <a:effectLst/>
        </p:spPr>
        <p:txBody>
          <a:bodyPr rtlCol="0" anchor="ctr"/>
          <a:lstStyle/>
          <a:p>
            <a:pPr algn="ctr"/>
          </a:p>
        </p:txBody>
      </p:sp>
      <p:sp>
        <p:nvSpPr>
          <p:cNvPr id="9" name="Diamond 8"/>
          <p:cNvSpPr/>
          <p:nvPr/>
        </p:nvSpPr>
        <p:spPr>
          <a:xfrm>
            <a:off x="10725912" y="3822192"/>
            <a:ext cx="402336" cy="402336"/>
          </a:xfrm>
          <a:prstGeom prst="diamond">
            <a:avLst/>
          </a:prstGeom>
          <a:solidFill>
            <a:srgbClr val="CBE8F7"/>
          </a:solidFill>
          <a:ln>
            <a:noFill/>
          </a:ln>
          <a:effectLst/>
        </p:spPr>
        <p:txBody>
          <a:bodyPr rtlCol="0" anchor="ctr"/>
          <a:lstStyle/>
          <a:p>
            <a:pPr algn="ctr"/>
          </a:p>
        </p:txBody>
      </p:sp>
      <p:sp>
        <p:nvSpPr>
          <p:cNvPr id="10" name="Diamond 9"/>
          <p:cNvSpPr/>
          <p:nvPr/>
        </p:nvSpPr>
        <p:spPr>
          <a:xfrm>
            <a:off x="11596994" y="4325112"/>
            <a:ext cx="402336" cy="402336"/>
          </a:xfrm>
          <a:prstGeom prst="diamond">
            <a:avLst/>
          </a:prstGeom>
          <a:solidFill>
            <a:srgbClr val="CBE8F7"/>
          </a:solidFill>
          <a:ln>
            <a:noFill/>
          </a:ln>
          <a:effectLst/>
        </p:spPr>
        <p:txBody>
          <a:bodyPr rtlCol="0" anchor="ctr"/>
          <a:lstStyle/>
          <a:p>
            <a:pPr algn="ctr"/>
          </a:p>
        </p:txBody>
      </p:sp>
      <p:sp>
        <p:nvSpPr>
          <p:cNvPr id="11" name="Diamond 10"/>
          <p:cNvSpPr/>
          <p:nvPr/>
        </p:nvSpPr>
        <p:spPr>
          <a:xfrm>
            <a:off x="11596994" y="5330951"/>
            <a:ext cx="402336" cy="402336"/>
          </a:xfrm>
          <a:prstGeom prst="diamond">
            <a:avLst/>
          </a:prstGeom>
          <a:solidFill>
            <a:srgbClr val="CBE8F7"/>
          </a:solidFill>
          <a:ln>
            <a:noFill/>
          </a:ln>
          <a:effectLst/>
        </p:spPr>
        <p:txBody>
          <a:bodyPr rtlCol="0" anchor="ctr"/>
          <a:lstStyle/>
          <a:p>
            <a:pPr algn="ctr"/>
          </a:p>
        </p:txBody>
      </p:sp>
      <p:sp>
        <p:nvSpPr>
          <p:cNvPr id="12" name="Diamond 11"/>
          <p:cNvSpPr/>
          <p:nvPr/>
        </p:nvSpPr>
        <p:spPr>
          <a:xfrm>
            <a:off x="10725912" y="5833872"/>
            <a:ext cx="402336" cy="402336"/>
          </a:xfrm>
          <a:prstGeom prst="diamond">
            <a:avLst/>
          </a:prstGeom>
          <a:solidFill>
            <a:srgbClr val="CBE8F7"/>
          </a:solidFill>
          <a:ln>
            <a:noFill/>
          </a:ln>
          <a:effectLst/>
        </p:spPr>
        <p:txBody>
          <a:bodyPr rtlCol="0" anchor="ctr"/>
          <a:lstStyle/>
          <a:p>
            <a:pPr algn="ctr"/>
          </a:p>
        </p:txBody>
      </p:sp>
      <p:sp>
        <p:nvSpPr>
          <p:cNvPr id="13" name="Diamond 12"/>
          <p:cNvSpPr/>
          <p:nvPr/>
        </p:nvSpPr>
        <p:spPr>
          <a:xfrm>
            <a:off x="9854830" y="5330952"/>
            <a:ext cx="402336" cy="402336"/>
          </a:xfrm>
          <a:prstGeom prst="diamond">
            <a:avLst/>
          </a:prstGeom>
          <a:solidFill>
            <a:srgbClr val="CBE8F7"/>
          </a:solidFill>
          <a:ln>
            <a:noFill/>
          </a:ln>
          <a:effectLst/>
        </p:spPr>
        <p:txBody>
          <a:bodyPr rtlCol="0" anchor="ctr"/>
          <a:lstStyle/>
          <a:p>
            <a:pPr algn="ctr"/>
          </a:p>
        </p:txBody>
      </p:sp>
      <p:sp>
        <p:nvSpPr>
          <p:cNvPr id="14" name="Diamond 13"/>
          <p:cNvSpPr/>
          <p:nvPr/>
        </p:nvSpPr>
        <p:spPr>
          <a:xfrm>
            <a:off x="9854830" y="4325112"/>
            <a:ext cx="402336" cy="402336"/>
          </a:xfrm>
          <a:prstGeom prst="diamond">
            <a:avLst/>
          </a:prstGeom>
          <a:solidFill>
            <a:srgbClr val="CBE8F7"/>
          </a:solidFill>
          <a:ln>
            <a:noFill/>
          </a:ln>
          <a:effectLst/>
        </p:spPr>
        <p:txBody>
          <a:bodyPr rtlCol="0" anchor="ctr"/>
          <a:lstStyle/>
          <a:p>
            <a:pPr algn="ctr"/>
          </a:p>
        </p:txBody>
      </p:sp>
      <p:sp>
        <p:nvSpPr>
          <p:cNvPr id="15" name="Oval 14"/>
          <p:cNvSpPr/>
          <p:nvPr/>
        </p:nvSpPr>
        <p:spPr>
          <a:xfrm>
            <a:off x="10685679" y="4787799"/>
            <a:ext cx="482803" cy="482803"/>
          </a:xfrm>
          <a:prstGeom prst="ellipse">
            <a:avLst/>
          </a:prstGeom>
          <a:solidFill>
            <a:srgbClr val="CBE8F7"/>
          </a:solidFill>
          <a:ln>
            <a:noFill/>
          </a:ln>
          <a:effectLst/>
        </p:spPr>
        <p:txBody>
          <a:bodyPr rtlCol="0" anchor="ctr"/>
          <a:lstStyle/>
          <a:p>
            <a:pPr algn="ctr"/>
          </a:p>
        </p:txBody>
      </p:sp>
      <p:sp>
        <p:nvSpPr>
          <p:cNvPr id="16" name="Rounded Rectangle 15"/>
          <p:cNvSpPr/>
          <p:nvPr/>
        </p:nvSpPr>
        <p:spPr>
          <a:xfrm>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7" name="Rounded Rectangle 16"/>
          <p:cNvSpPr/>
          <p:nvPr/>
        </p:nvSpPr>
        <p:spPr>
          <a:xfrm rot="36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8" name="Rounded Rectangle 17"/>
          <p:cNvSpPr/>
          <p:nvPr/>
        </p:nvSpPr>
        <p:spPr>
          <a:xfrm rot="7200000">
            <a:off x="909646" y="484632"/>
            <a:ext cx="46085" cy="384048"/>
          </a:xfrm>
          <a:prstGeom prst="roundRect">
            <a:avLst>
              <a:gd name="adj" fmla="val 50000"/>
            </a:avLst>
          </a:prstGeom>
          <a:solidFill>
            <a:srgbClr val="29B5E8"/>
          </a:solidFill>
          <a:ln>
            <a:noFill/>
          </a:ln>
          <a:effectLst/>
        </p:spPr>
        <p:txBody>
          <a:bodyPr rtlCol="0" anchor="ctr"/>
          <a:lstStyle/>
          <a:p>
            <a:pPr algn="ctr"/>
          </a:p>
        </p:txBody>
      </p:sp>
      <p:sp>
        <p:nvSpPr>
          <p:cNvPr id="19" name="Diamond 18"/>
          <p:cNvSpPr/>
          <p:nvPr/>
        </p:nvSpPr>
        <p:spPr>
          <a:xfrm>
            <a:off x="894284" y="446228"/>
            <a:ext cx="76809" cy="76809"/>
          </a:xfrm>
          <a:prstGeom prst="diamond">
            <a:avLst/>
          </a:prstGeom>
          <a:solidFill>
            <a:srgbClr val="29B5E8"/>
          </a:solidFill>
          <a:ln>
            <a:noFill/>
          </a:ln>
          <a:effectLst/>
        </p:spPr>
        <p:txBody>
          <a:bodyPr rtlCol="0" anchor="ctr"/>
          <a:lstStyle/>
          <a:p>
            <a:pPr algn="ctr"/>
          </a:p>
        </p:txBody>
      </p:sp>
      <p:sp>
        <p:nvSpPr>
          <p:cNvPr id="20" name="Diamond 19"/>
          <p:cNvSpPr/>
          <p:nvPr/>
        </p:nvSpPr>
        <p:spPr>
          <a:xfrm>
            <a:off x="1060581" y="542240"/>
            <a:ext cx="76809" cy="76809"/>
          </a:xfrm>
          <a:prstGeom prst="diamond">
            <a:avLst/>
          </a:prstGeom>
          <a:solidFill>
            <a:srgbClr val="29B5E8"/>
          </a:solidFill>
          <a:ln>
            <a:noFill/>
          </a:ln>
          <a:effectLst/>
        </p:spPr>
        <p:txBody>
          <a:bodyPr rtlCol="0" anchor="ctr"/>
          <a:lstStyle/>
          <a:p>
            <a:pPr algn="ctr"/>
          </a:p>
        </p:txBody>
      </p:sp>
      <p:sp>
        <p:nvSpPr>
          <p:cNvPr id="21" name="Diamond 20"/>
          <p:cNvSpPr/>
          <p:nvPr/>
        </p:nvSpPr>
        <p:spPr>
          <a:xfrm>
            <a:off x="1060581" y="734263"/>
            <a:ext cx="76809" cy="76809"/>
          </a:xfrm>
          <a:prstGeom prst="diamond">
            <a:avLst/>
          </a:prstGeom>
          <a:solidFill>
            <a:srgbClr val="29B5E8"/>
          </a:solidFill>
          <a:ln>
            <a:noFill/>
          </a:ln>
          <a:effectLst/>
        </p:spPr>
        <p:txBody>
          <a:bodyPr rtlCol="0" anchor="ctr"/>
          <a:lstStyle/>
          <a:p>
            <a:pPr algn="ctr"/>
          </a:p>
        </p:txBody>
      </p:sp>
      <p:sp>
        <p:nvSpPr>
          <p:cNvPr id="22" name="Diamond 21"/>
          <p:cNvSpPr/>
          <p:nvPr/>
        </p:nvSpPr>
        <p:spPr>
          <a:xfrm>
            <a:off x="894284" y="830276"/>
            <a:ext cx="76809" cy="76809"/>
          </a:xfrm>
          <a:prstGeom prst="diamond">
            <a:avLst/>
          </a:prstGeom>
          <a:solidFill>
            <a:srgbClr val="29B5E8"/>
          </a:solidFill>
          <a:ln>
            <a:noFill/>
          </a:ln>
          <a:effectLst/>
        </p:spPr>
        <p:txBody>
          <a:bodyPr rtlCol="0" anchor="ctr"/>
          <a:lstStyle/>
          <a:p>
            <a:pPr algn="ctr"/>
          </a:p>
        </p:txBody>
      </p:sp>
      <p:sp>
        <p:nvSpPr>
          <p:cNvPr id="23" name="Diamond 22"/>
          <p:cNvSpPr/>
          <p:nvPr/>
        </p:nvSpPr>
        <p:spPr>
          <a:xfrm>
            <a:off x="727987" y="734264"/>
            <a:ext cx="76809" cy="76809"/>
          </a:xfrm>
          <a:prstGeom prst="diamond">
            <a:avLst/>
          </a:prstGeom>
          <a:solidFill>
            <a:srgbClr val="29B5E8"/>
          </a:solidFill>
          <a:ln>
            <a:noFill/>
          </a:ln>
          <a:effectLst/>
        </p:spPr>
        <p:txBody>
          <a:bodyPr rtlCol="0" anchor="ctr"/>
          <a:lstStyle/>
          <a:p>
            <a:pPr algn="ctr"/>
          </a:p>
        </p:txBody>
      </p:sp>
      <p:sp>
        <p:nvSpPr>
          <p:cNvPr id="24" name="Diamond 23"/>
          <p:cNvSpPr/>
          <p:nvPr/>
        </p:nvSpPr>
        <p:spPr>
          <a:xfrm>
            <a:off x="727987" y="542240"/>
            <a:ext cx="76809" cy="76809"/>
          </a:xfrm>
          <a:prstGeom prst="diamond">
            <a:avLst/>
          </a:prstGeom>
          <a:solidFill>
            <a:srgbClr val="29B5E8"/>
          </a:solidFill>
          <a:ln>
            <a:noFill/>
          </a:ln>
          <a:effectLst/>
        </p:spPr>
        <p:txBody>
          <a:bodyPr rtlCol="0" anchor="ctr"/>
          <a:lstStyle/>
          <a:p>
            <a:pPr algn="ctr"/>
          </a:p>
        </p:txBody>
      </p:sp>
      <p:sp>
        <p:nvSpPr>
          <p:cNvPr id="25" name="Oval 24"/>
          <p:cNvSpPr/>
          <p:nvPr/>
        </p:nvSpPr>
        <p:spPr>
          <a:xfrm>
            <a:off x="886603" y="630571"/>
            <a:ext cx="92171" cy="92171"/>
          </a:xfrm>
          <a:prstGeom prst="ellipse">
            <a:avLst/>
          </a:prstGeom>
          <a:solidFill>
            <a:srgbClr val="29B5E8"/>
          </a:solidFill>
          <a:ln>
            <a:noFill/>
          </a:ln>
          <a:effectLst/>
        </p:spPr>
        <p:txBody>
          <a:bodyPr rtlCol="0" anchor="ctr"/>
          <a:lstStyle/>
          <a:p>
            <a:pPr algn="ctr"/>
          </a:p>
        </p:txBody>
      </p:sp>
      <p:sp>
        <p:nvSpPr>
          <p:cNvPr id="26" name="TextBox 25"/>
          <p:cNvSpPr txBox="1"/>
          <p:nvPr/>
        </p:nvSpPr>
        <p:spPr>
          <a:xfrm>
            <a:off x="1325880" y="502920"/>
            <a:ext cx="5486400" cy="365760"/>
          </a:xfrm>
          <a:prstGeom prst="rect">
            <a:avLst/>
          </a:prstGeom>
          <a:noFill/>
        </p:spPr>
        <p:txBody>
          <a:bodyPr wrap="square">
            <a:spAutoFit/>
          </a:bodyPr>
          <a:lstStyle/>
          <a:p>
            <a:pPr algn="l">
              <a:defRPr sz="1300" b="1" i="0">
                <a:solidFill>
                  <a:srgbClr val="11567F"/>
                </a:solidFill>
                <a:latin typeface="Segoe UI Semibold"/>
              </a:defRPr>
            </a:pPr>
            <a:r>
              <a:rPr spc="250"/>
              <a:t>SNOWFLAKE ON AWS</a:t>
            </a:r>
          </a:p>
        </p:txBody>
      </p:sp>
      <p:sp>
        <p:nvSpPr>
          <p:cNvPr id="27" name="TextBox 26"/>
          <p:cNvSpPr txBox="1"/>
          <p:nvPr/>
        </p:nvSpPr>
        <p:spPr>
          <a:xfrm>
            <a:off x="8503920" y="502920"/>
            <a:ext cx="2953512" cy="365760"/>
          </a:xfrm>
          <a:prstGeom prst="rect">
            <a:avLst/>
          </a:prstGeom>
          <a:noFill/>
        </p:spPr>
        <p:txBody>
          <a:bodyPr wrap="square">
            <a:spAutoFit/>
          </a:bodyPr>
          <a:lstStyle/>
          <a:p>
            <a:pPr algn="r">
              <a:defRPr sz="1200" b="1" i="0">
                <a:solidFill>
                  <a:srgbClr val="5A7184"/>
                </a:solidFill>
                <a:latin typeface="Segoe UI"/>
              </a:defRPr>
            </a:pPr>
            <a:r>
              <a:rPr spc="150"/>
              <a:t>HANDS-ON LAB</a:t>
            </a:r>
          </a:p>
        </p:txBody>
      </p:sp>
      <p:sp>
        <p:nvSpPr>
          <p:cNvPr id="28" name="Rectangle 27"/>
          <p:cNvSpPr/>
          <p:nvPr/>
        </p:nvSpPr>
        <p:spPr>
          <a:xfrm>
            <a:off x="758952" y="1755648"/>
            <a:ext cx="73152" cy="310896"/>
          </a:xfrm>
          <a:prstGeom prst="rect">
            <a:avLst/>
          </a:prstGeom>
          <a:solidFill>
            <a:srgbClr val="29B5E8"/>
          </a:solidFill>
          <a:ln>
            <a:noFill/>
          </a:ln>
          <a:effectLst/>
        </p:spPr>
        <p:txBody>
          <a:bodyPr rtlCol="0" anchor="ctr"/>
          <a:lstStyle/>
          <a:p>
            <a:pPr algn="ctr"/>
          </a:p>
        </p:txBody>
      </p:sp>
      <p:sp>
        <p:nvSpPr>
          <p:cNvPr id="29" name="TextBox 28"/>
          <p:cNvSpPr txBox="1"/>
          <p:nvPr/>
        </p:nvSpPr>
        <p:spPr>
          <a:xfrm>
            <a:off x="978408" y="1700784"/>
            <a:ext cx="8229600" cy="365760"/>
          </a:xfrm>
          <a:prstGeom prst="rect">
            <a:avLst/>
          </a:prstGeom>
          <a:noFill/>
        </p:spPr>
        <p:txBody>
          <a:bodyPr wrap="square">
            <a:spAutoFit/>
          </a:bodyPr>
          <a:lstStyle/>
          <a:p>
            <a:pPr algn="l">
              <a:defRPr sz="1500" b="1" i="0">
                <a:solidFill>
                  <a:srgbClr val="29B5E8"/>
                </a:solidFill>
                <a:latin typeface="Segoe UI Semibold"/>
              </a:defRPr>
            </a:pPr>
            <a:r>
              <a:rPr spc="200"/>
              <a:t>PERFORMANCE AND COST OPTIMIZATION</a:t>
            </a:r>
          </a:p>
        </p:txBody>
      </p:sp>
      <p:sp>
        <p:nvSpPr>
          <p:cNvPr id="30" name="TextBox 29"/>
          <p:cNvSpPr txBox="1"/>
          <p:nvPr/>
        </p:nvSpPr>
        <p:spPr>
          <a:xfrm>
            <a:off x="731520" y="2240280"/>
            <a:ext cx="9692640" cy="1188720"/>
          </a:xfrm>
          <a:prstGeom prst="rect">
            <a:avLst/>
          </a:prstGeom>
          <a:noFill/>
        </p:spPr>
        <p:txBody>
          <a:bodyPr wrap="square">
            <a:spAutoFit/>
          </a:bodyPr>
          <a:lstStyle/>
          <a:p>
            <a:pPr algn="l">
              <a:defRPr sz="4000" b="1" i="0">
                <a:solidFill>
                  <a:srgbClr val="11283B"/>
                </a:solidFill>
                <a:latin typeface="Segoe UI Semibold"/>
              </a:defRPr>
            </a:pPr>
            <a:r>
              <a:t>TripLedger</a:t>
            </a:r>
          </a:p>
        </p:txBody>
      </p:sp>
      <p:sp>
        <p:nvSpPr>
          <p:cNvPr id="31" name="TextBox 30"/>
          <p:cNvSpPr txBox="1"/>
          <p:nvPr/>
        </p:nvSpPr>
        <p:spPr>
          <a:xfrm>
            <a:off x="731520" y="3200400"/>
            <a:ext cx="8961120" cy="914400"/>
          </a:xfrm>
          <a:prstGeom prst="rect">
            <a:avLst/>
          </a:prstGeom>
          <a:noFill/>
        </p:spPr>
        <p:txBody>
          <a:bodyPr wrap="square">
            <a:spAutoFit/>
          </a:bodyPr>
          <a:lstStyle/>
          <a:p>
            <a:pPr algn="l">
              <a:defRPr sz="2600" b="1" i="0">
                <a:solidFill>
                  <a:srgbClr val="29B5E8"/>
                </a:solidFill>
                <a:latin typeface="Segoe UI Semibold"/>
              </a:defRPr>
            </a:pPr>
            <a:r>
              <a:t>Make slow, expensive queries fast and cheap, and prove it</a:t>
            </a:r>
          </a:p>
        </p:txBody>
      </p:sp>
      <p:sp>
        <p:nvSpPr>
          <p:cNvPr id="32" name="Rectangle 31"/>
          <p:cNvSpPr/>
          <p:nvPr/>
        </p:nvSpPr>
        <p:spPr>
          <a:xfrm>
            <a:off x="731520" y="4315968"/>
            <a:ext cx="2743200" cy="27432"/>
          </a:xfrm>
          <a:prstGeom prst="rect">
            <a:avLst/>
          </a:prstGeom>
          <a:solidFill>
            <a:srgbClr val="29B5E8"/>
          </a:solidFill>
          <a:ln>
            <a:noFill/>
          </a:ln>
          <a:effectLst/>
        </p:spPr>
        <p:txBody>
          <a:bodyPr rtlCol="0" anchor="ctr"/>
          <a:lstStyle/>
          <a:p>
            <a:pPr algn="ctr"/>
          </a:p>
        </p:txBody>
      </p:sp>
      <p:sp>
        <p:nvSpPr>
          <p:cNvPr id="33" name="TextBox 32"/>
          <p:cNvSpPr txBox="1"/>
          <p:nvPr/>
        </p:nvSpPr>
        <p:spPr>
          <a:xfrm>
            <a:off x="731520" y="4526280"/>
            <a:ext cx="8595360" cy="640080"/>
          </a:xfrm>
          <a:prstGeom prst="rect">
            <a:avLst/>
          </a:prstGeom>
          <a:noFill/>
        </p:spPr>
        <p:txBody>
          <a:bodyPr wrap="square">
            <a:spAutoFit/>
          </a:bodyPr>
          <a:lstStyle/>
          <a:p>
            <a:pPr algn="l">
              <a:defRPr sz="2000" b="0" i="0">
                <a:solidFill>
                  <a:srgbClr val="5A7184"/>
                </a:solidFill>
                <a:latin typeface="Segoe UI Semibold"/>
              </a:defRPr>
            </a:pPr>
            <a:r>
              <a:t>Intermediate  •  Should take you no more than a couple of hours</a:t>
            </a:r>
          </a:p>
        </p:txBody>
      </p:sp>
      <p:sp>
        <p:nvSpPr>
          <p:cNvPr id="34" name="TextBox 33"/>
          <p:cNvSpPr txBox="1"/>
          <p:nvPr/>
        </p:nvSpPr>
        <p:spPr>
          <a:xfrm>
            <a:off x="731520" y="5230368"/>
            <a:ext cx="8595360" cy="548640"/>
          </a:xfrm>
          <a:prstGeom prst="rect">
            <a:avLst/>
          </a:prstGeom>
          <a:noFill/>
        </p:spPr>
        <p:txBody>
          <a:bodyPr wrap="square">
            <a:spAutoFit/>
          </a:bodyPr>
          <a:lstStyle/>
          <a:p>
            <a:pPr algn="l">
              <a:defRPr sz="1500" b="0" i="0">
                <a:solidFill>
                  <a:srgbClr val="5A7184"/>
                </a:solidFill>
                <a:latin typeface="Segoe UI"/>
              </a:defRPr>
            </a:pPr>
            <a:r>
              <a:t>Uses what you learned in Section 4</a:t>
            </a:r>
          </a:p>
        </p:txBody>
      </p:sp>
      <p:sp>
        <p:nvSpPr>
          <p:cNvPr id="35" name="TextBox 3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The Scenario</a:t>
            </a:r>
          </a:p>
        </p:txBody>
      </p:sp>
      <p:sp>
        <p:nvSpPr>
          <p:cNvPr id="7" name="Rectangle 6"/>
          <p:cNvSpPr/>
          <p:nvPr/>
        </p:nvSpPr>
        <p:spPr>
          <a:xfrm>
            <a:off x="731520" y="1005840"/>
            <a:ext cx="2286000" cy="27432"/>
          </a:xfrm>
          <a:prstGeom prst="rect">
            <a:avLst/>
          </a:prstGeom>
          <a:solidFill>
            <a:srgbClr val="E8833A"/>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A ride-hailing analytics platform where every query costs credits</a:t>
            </a:r>
          </a:p>
        </p:txBody>
      </p:sp>
      <p:sp>
        <p:nvSpPr>
          <p:cNvPr id="9" name="Rounded Rectangle 8"/>
          <p:cNvSpPr/>
          <p:nvPr/>
        </p:nvSpPr>
        <p:spPr>
          <a:xfrm>
            <a:off x="731520" y="1783080"/>
            <a:ext cx="10698480" cy="1005840"/>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1051560" y="2011680"/>
            <a:ext cx="548640" cy="548640"/>
          </a:xfrm>
          <a:prstGeom prst="ellipse">
            <a:avLst/>
          </a:prstGeom>
          <a:solidFill>
            <a:srgbClr val="29B5E8"/>
          </a:solidFill>
          <a:ln>
            <a:noFill/>
          </a:ln>
          <a:effectLst/>
        </p:spPr>
        <p:txBody>
          <a:bodyPr rtlCol="0" anchor="ctr" wrap="none"/>
          <a:lstStyle/>
          <a:p>
            <a:pPr algn="ctr">
              <a:defRPr sz="1000">
                <a:solidFill>
                  <a:srgbClr val="FFFFFF"/>
                </a:solidFill>
              </a:defRPr>
            </a:pPr>
            <a:r>
              <a:t>📅</a:t>
            </a:r>
          </a:p>
        </p:txBody>
      </p:sp>
      <p:sp>
        <p:nvSpPr>
          <p:cNvPr id="11" name="TextBox 10"/>
          <p:cNvSpPr txBox="1"/>
          <p:nvPr/>
        </p:nvSpPr>
        <p:spPr>
          <a:xfrm>
            <a:off x="1828800" y="1929384"/>
            <a:ext cx="9326880" cy="411480"/>
          </a:xfrm>
          <a:prstGeom prst="rect">
            <a:avLst/>
          </a:prstGeom>
          <a:noFill/>
        </p:spPr>
        <p:txBody>
          <a:bodyPr wrap="square">
            <a:spAutoFit/>
          </a:bodyPr>
          <a:lstStyle/>
          <a:p>
            <a:pPr algn="l">
              <a:defRPr sz="1800" b="1" i="0">
                <a:solidFill>
                  <a:srgbClr val="11283B"/>
                </a:solidFill>
                <a:latin typeface="Segoe UI"/>
              </a:defRPr>
            </a:pPr>
            <a:r>
              <a:t>Finance runs date-range reports all day</a:t>
            </a:r>
          </a:p>
        </p:txBody>
      </p:sp>
      <p:sp>
        <p:nvSpPr>
          <p:cNvPr id="12" name="TextBox 11"/>
          <p:cNvSpPr txBox="1"/>
          <p:nvPr/>
        </p:nvSpPr>
        <p:spPr>
          <a:xfrm>
            <a:off x="1828800" y="2350008"/>
            <a:ext cx="9326880" cy="402336"/>
          </a:xfrm>
          <a:prstGeom prst="rect">
            <a:avLst/>
          </a:prstGeom>
          <a:noFill/>
        </p:spPr>
        <p:txBody>
          <a:bodyPr wrap="square">
            <a:spAutoFit/>
          </a:bodyPr>
          <a:lstStyle/>
          <a:p>
            <a:pPr algn="l">
              <a:defRPr sz="1350" b="0" i="0">
                <a:solidFill>
                  <a:srgbClr val="5A7184"/>
                </a:solidFill>
                <a:latin typeface="Segoe UI"/>
              </a:defRPr>
            </a:pPr>
            <a:r>
              <a:t>Revenue for a month, a quarter, a week. Every one of them reads far more data than it needs.</a:t>
            </a:r>
          </a:p>
        </p:txBody>
      </p:sp>
      <p:sp>
        <p:nvSpPr>
          <p:cNvPr id="13" name="Rounded Rectangle 12"/>
          <p:cNvSpPr/>
          <p:nvPr/>
        </p:nvSpPr>
        <p:spPr>
          <a:xfrm>
            <a:off x="731520" y="2916936"/>
            <a:ext cx="10698480" cy="1005840"/>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4" name="Oval 13"/>
          <p:cNvSpPr/>
          <p:nvPr/>
        </p:nvSpPr>
        <p:spPr>
          <a:xfrm>
            <a:off x="1051560" y="3145536"/>
            <a:ext cx="548640" cy="548640"/>
          </a:xfrm>
          <a:prstGeom prst="ellipse">
            <a:avLst/>
          </a:prstGeom>
          <a:solidFill>
            <a:srgbClr val="E8833A"/>
          </a:solidFill>
          <a:ln>
            <a:noFill/>
          </a:ln>
          <a:effectLst/>
        </p:spPr>
        <p:txBody>
          <a:bodyPr rtlCol="0" anchor="ctr" wrap="none"/>
          <a:lstStyle/>
          <a:p>
            <a:pPr algn="ctr">
              <a:defRPr sz="1000">
                <a:solidFill>
                  <a:srgbClr val="FFFFFF"/>
                </a:solidFill>
              </a:defRPr>
            </a:pPr>
            <a:r>
              <a:t>🔎</a:t>
            </a:r>
          </a:p>
        </p:txBody>
      </p:sp>
      <p:sp>
        <p:nvSpPr>
          <p:cNvPr id="15" name="TextBox 14"/>
          <p:cNvSpPr txBox="1"/>
          <p:nvPr/>
        </p:nvSpPr>
        <p:spPr>
          <a:xfrm>
            <a:off x="1828800" y="3063240"/>
            <a:ext cx="9326880" cy="411480"/>
          </a:xfrm>
          <a:prstGeom prst="rect">
            <a:avLst/>
          </a:prstGeom>
          <a:noFill/>
        </p:spPr>
        <p:txBody>
          <a:bodyPr wrap="square">
            <a:spAutoFit/>
          </a:bodyPr>
          <a:lstStyle/>
          <a:p>
            <a:pPr algn="l">
              <a:defRPr sz="1800" b="1" i="0">
                <a:solidFill>
                  <a:srgbClr val="11283B"/>
                </a:solidFill>
                <a:latin typeface="Segoe UI"/>
              </a:defRPr>
            </a:pPr>
            <a:r>
              <a:t>Support looks up one trip by a reference code</a:t>
            </a:r>
          </a:p>
        </p:txBody>
      </p:sp>
      <p:sp>
        <p:nvSpPr>
          <p:cNvPr id="16" name="TextBox 15"/>
          <p:cNvSpPr txBox="1"/>
          <p:nvPr/>
        </p:nvSpPr>
        <p:spPr>
          <a:xfrm>
            <a:off x="1828800" y="3483864"/>
            <a:ext cx="9326880" cy="402336"/>
          </a:xfrm>
          <a:prstGeom prst="rect">
            <a:avLst/>
          </a:prstGeom>
          <a:noFill/>
        </p:spPr>
        <p:txBody>
          <a:bodyPr wrap="square">
            <a:spAutoFit/>
          </a:bodyPr>
          <a:lstStyle/>
          <a:p>
            <a:pPr algn="l">
              <a:defRPr sz="1350" b="0" i="0">
                <a:solidFill>
                  <a:srgbClr val="5A7184"/>
                </a:solidFill>
                <a:latin typeface="Segoe UI"/>
              </a:defRPr>
            </a:pPr>
            <a:r>
              <a:t>One row out of twenty million, and a plain lookup scans the whole table to find it.</a:t>
            </a:r>
          </a:p>
        </p:txBody>
      </p:sp>
      <p:sp>
        <p:nvSpPr>
          <p:cNvPr id="17" name="Rounded Rectangle 16"/>
          <p:cNvSpPr/>
          <p:nvPr/>
        </p:nvSpPr>
        <p:spPr>
          <a:xfrm>
            <a:off x="731520" y="4050792"/>
            <a:ext cx="10698480" cy="1005840"/>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18" name="Oval 17"/>
          <p:cNvSpPr/>
          <p:nvPr/>
        </p:nvSpPr>
        <p:spPr>
          <a:xfrm>
            <a:off x="1051560" y="4279392"/>
            <a:ext cx="548640" cy="548640"/>
          </a:xfrm>
          <a:prstGeom prst="ellipse">
            <a:avLst/>
          </a:prstGeom>
          <a:solidFill>
            <a:srgbClr val="E5484D"/>
          </a:solidFill>
          <a:ln>
            <a:noFill/>
          </a:ln>
          <a:effectLst/>
        </p:spPr>
        <p:txBody>
          <a:bodyPr rtlCol="0" anchor="ctr" wrap="none"/>
          <a:lstStyle/>
          <a:p>
            <a:pPr algn="ctr">
              <a:defRPr sz="1000">
                <a:solidFill>
                  <a:srgbClr val="FFFFFF"/>
                </a:solidFill>
              </a:defRPr>
            </a:pPr>
            <a:r>
              <a:t>💸</a:t>
            </a:r>
          </a:p>
        </p:txBody>
      </p:sp>
      <p:sp>
        <p:nvSpPr>
          <p:cNvPr id="19" name="TextBox 18"/>
          <p:cNvSpPr txBox="1"/>
          <p:nvPr/>
        </p:nvSpPr>
        <p:spPr>
          <a:xfrm>
            <a:off x="1828800" y="4197096"/>
            <a:ext cx="9326880" cy="411480"/>
          </a:xfrm>
          <a:prstGeom prst="rect">
            <a:avLst/>
          </a:prstGeom>
          <a:noFill/>
        </p:spPr>
        <p:txBody>
          <a:bodyPr wrap="square">
            <a:spAutoFit/>
          </a:bodyPr>
          <a:lstStyle/>
          <a:p>
            <a:pPr algn="l">
              <a:defRPr sz="1800" b="1" i="0">
                <a:solidFill>
                  <a:srgbClr val="11283B"/>
                </a:solidFill>
                <a:latin typeface="Segoe UI"/>
              </a:defRPr>
            </a:pPr>
            <a:r>
              <a:t>And the shared warehouse pays for all of it</a:t>
            </a:r>
          </a:p>
        </p:txBody>
      </p:sp>
      <p:sp>
        <p:nvSpPr>
          <p:cNvPr id="20" name="TextBox 19"/>
          <p:cNvSpPr txBox="1"/>
          <p:nvPr/>
        </p:nvSpPr>
        <p:spPr>
          <a:xfrm>
            <a:off x="1828800" y="4617720"/>
            <a:ext cx="9326880" cy="402336"/>
          </a:xfrm>
          <a:prstGeom prst="rect">
            <a:avLst/>
          </a:prstGeom>
          <a:noFill/>
        </p:spPr>
        <p:txBody>
          <a:bodyPr wrap="square">
            <a:spAutoFit/>
          </a:bodyPr>
          <a:lstStyle/>
          <a:p>
            <a:pPr algn="l">
              <a:defRPr sz="1350" b="0" i="0">
                <a:solidFill>
                  <a:srgbClr val="5A7184"/>
                </a:solidFill>
                <a:latin typeface="Segoe UI"/>
              </a:defRPr>
            </a:pPr>
            <a:r>
              <a:t>Nobody can say which fix helps, because nobody has measured anything.</a:t>
            </a:r>
          </a:p>
        </p:txBody>
      </p:sp>
      <p:sp>
        <p:nvSpPr>
          <p:cNvPr id="21" name="Rounded Rectangle 20"/>
          <p:cNvSpPr/>
          <p:nvPr/>
        </p:nvSpPr>
        <p:spPr>
          <a:xfrm>
            <a:off x="731520" y="5230368"/>
            <a:ext cx="10698480" cy="960120"/>
          </a:xfrm>
          <a:prstGeom prst="roundRect">
            <a:avLst>
              <a:gd name="adj" fmla="val 8000"/>
            </a:avLst>
          </a:prstGeom>
          <a:solidFill>
            <a:srgbClr val="EAF3FA"/>
          </a:solidFill>
          <a:ln w="19050">
            <a:solidFill>
              <a:srgbClr val="1BA37A"/>
            </a:solidFill>
          </a:ln>
          <a:effectLst/>
        </p:spPr>
        <p:txBody>
          <a:bodyPr rtlCol="0" anchor="ctr"/>
          <a:lstStyle/>
          <a:p>
            <a:pPr algn="ctr"/>
          </a:p>
        </p:txBody>
      </p:sp>
      <p:sp>
        <p:nvSpPr>
          <p:cNvPr id="22" name="Oval 21"/>
          <p:cNvSpPr/>
          <p:nvPr/>
        </p:nvSpPr>
        <p:spPr>
          <a:xfrm>
            <a:off x="987552" y="5504688"/>
            <a:ext cx="420624" cy="420624"/>
          </a:xfrm>
          <a:prstGeom prst="ellipse">
            <a:avLst/>
          </a:prstGeom>
          <a:solidFill>
            <a:srgbClr val="1BA37A"/>
          </a:solidFill>
          <a:ln>
            <a:noFill/>
          </a:ln>
          <a:effectLst/>
        </p:spPr>
        <p:txBody>
          <a:bodyPr rtlCol="0" anchor="ctr" wrap="none"/>
          <a:lstStyle/>
          <a:p>
            <a:pPr algn="ctr">
              <a:defRPr sz="800">
                <a:solidFill>
                  <a:srgbClr val="FFFFFF"/>
                </a:solidFill>
              </a:defRPr>
            </a:pPr>
            <a:r>
              <a:t>📋</a:t>
            </a:r>
          </a:p>
        </p:txBody>
      </p:sp>
      <p:sp>
        <p:nvSpPr>
          <p:cNvPr id="23" name="TextBox 22"/>
          <p:cNvSpPr txBox="1"/>
          <p:nvPr/>
        </p:nvSpPr>
        <p:spPr>
          <a:xfrm>
            <a:off x="1645920" y="5321807"/>
            <a:ext cx="9509760" cy="274320"/>
          </a:xfrm>
          <a:prstGeom prst="rect">
            <a:avLst/>
          </a:prstGeom>
          <a:noFill/>
        </p:spPr>
        <p:txBody>
          <a:bodyPr wrap="square">
            <a:spAutoFit/>
          </a:bodyPr>
          <a:lstStyle/>
          <a:p>
            <a:pPr algn="l">
              <a:defRPr sz="1050" b="1" i="0">
                <a:solidFill>
                  <a:srgbClr val="5A7184"/>
                </a:solidFill>
                <a:latin typeface="Segoe UI"/>
              </a:defRPr>
            </a:pPr>
            <a:r>
              <a:t>THE DATA</a:t>
            </a:r>
          </a:p>
        </p:txBody>
      </p:sp>
      <p:sp>
        <p:nvSpPr>
          <p:cNvPr id="24" name="TextBox 23"/>
          <p:cNvSpPr txBox="1"/>
          <p:nvPr/>
        </p:nvSpPr>
        <p:spPr>
          <a:xfrm>
            <a:off x="1645920" y="5577840"/>
            <a:ext cx="9601200" cy="566928"/>
          </a:xfrm>
          <a:prstGeom prst="rect">
            <a:avLst/>
          </a:prstGeom>
          <a:noFill/>
        </p:spPr>
        <p:txBody>
          <a:bodyPr wrap="square">
            <a:spAutoFit/>
          </a:bodyPr>
          <a:lstStyle/>
          <a:p>
            <a:pPr algn="l">
              <a:defRPr sz="1350" b="0" i="0">
                <a:solidFill>
                  <a:srgbClr val="11283B"/>
                </a:solidFill>
                <a:latin typeface="Segoe UI"/>
              </a:defRPr>
            </a:pPr>
            <a:r>
              <a:t>1.5 million trips from the TPCH sample data in every Snowflake account. The starter script builds the tables.</a:t>
            </a:r>
          </a:p>
        </p:txBody>
      </p:sp>
      <p:sp>
        <p:nvSpPr>
          <p:cNvPr id="25" name="TextBox 24"/>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9B5E8"/>
          </a:solidFill>
          <a:ln>
            <a:noFill/>
          </a:ln>
          <a:effectLst/>
        </p:spPr>
        <p:txBody>
          <a:bodyPr rtlCol="0" anchor="ctr"/>
          <a:lstStyle/>
          <a:p>
            <a:pPr algn="ctr"/>
          </a:p>
        </p:txBody>
      </p:sp>
      <p:sp>
        <p:nvSpPr>
          <p:cNvPr id="3" name="Rectangle 2"/>
          <p:cNvSpPr/>
          <p:nvPr/>
        </p:nvSpPr>
        <p:spPr>
          <a:xfrm>
            <a:off x="0" y="6446520"/>
            <a:ext cx="12191695" cy="411480"/>
          </a:xfrm>
          <a:prstGeom prst="rect">
            <a:avLst/>
          </a:prstGeom>
          <a:solidFill>
            <a:srgbClr val="EAF3FA"/>
          </a:solidFill>
          <a:ln>
            <a:noFill/>
          </a:ln>
          <a:effectLst/>
        </p:spPr>
        <p:txBody>
          <a:bodyPr rtlCol="0" anchor="ctr"/>
          <a:lstStyle/>
          <a:p>
            <a:pPr algn="ctr"/>
          </a:p>
        </p:txBody>
      </p:sp>
      <p:sp>
        <p:nvSpPr>
          <p:cNvPr id="4" name="TextBox 3"/>
          <p:cNvSpPr txBox="1"/>
          <p:nvPr/>
        </p:nvSpPr>
        <p:spPr>
          <a:xfrm>
            <a:off x="731520" y="6473952"/>
            <a:ext cx="7680960" cy="320040"/>
          </a:xfrm>
          <a:prstGeom prst="rect">
            <a:avLst/>
          </a:prstGeom>
          <a:noFill/>
        </p:spPr>
        <p:txBody>
          <a:bodyPr wrap="square">
            <a:spAutoFit/>
          </a:bodyPr>
          <a:lstStyle/>
          <a:p>
            <a:pPr algn="l">
              <a:defRPr sz="900" b="0" i="1">
                <a:solidFill>
                  <a:srgbClr val="5A7184"/>
                </a:solidFill>
                <a:latin typeface="Segoe UI"/>
              </a:defRPr>
            </a:pPr>
            <a:r>
              <a:t>Snowflake on AWS  •  Build &amp; Architect Data Pipelines</a:t>
            </a:r>
          </a:p>
        </p:txBody>
      </p:sp>
      <p:sp>
        <p:nvSpPr>
          <p:cNvPr id="5" name="TextBox 4"/>
          <p:cNvSpPr txBox="1"/>
          <p:nvPr/>
        </p:nvSpPr>
        <p:spPr>
          <a:xfrm>
            <a:off x="8595360" y="6473952"/>
            <a:ext cx="2377440" cy="320040"/>
          </a:xfrm>
          <a:prstGeom prst="rect">
            <a:avLst/>
          </a:prstGeom>
          <a:noFill/>
        </p:spPr>
        <p:txBody>
          <a:bodyPr wrap="square">
            <a:spAutoFit/>
          </a:bodyPr>
          <a:lstStyle/>
          <a:p>
            <a:pPr algn="ctr">
              <a:defRPr sz="900" b="0" i="0">
                <a:solidFill>
                  <a:srgbClr val="11567F"/>
                </a:solidFill>
                <a:latin typeface="Segoe UI Semibold"/>
              </a:defRPr>
            </a:pPr>
            <a:r>
              <a:t>cognifydata.com</a:t>
            </a:r>
          </a:p>
        </p:txBody>
      </p:sp>
      <p:sp>
        <p:nvSpPr>
          <p:cNvPr id="6" name="TextBox 5"/>
          <p:cNvSpPr txBox="1"/>
          <p:nvPr/>
        </p:nvSpPr>
        <p:spPr>
          <a:xfrm>
            <a:off x="731520" y="365760"/>
            <a:ext cx="10698480" cy="640080"/>
          </a:xfrm>
          <a:prstGeom prst="rect">
            <a:avLst/>
          </a:prstGeom>
          <a:noFill/>
        </p:spPr>
        <p:txBody>
          <a:bodyPr wrap="square">
            <a:spAutoFit/>
          </a:bodyPr>
          <a:lstStyle/>
          <a:p>
            <a:pPr algn="l">
              <a:defRPr sz="3200" b="1" i="0">
                <a:solidFill>
                  <a:srgbClr val="11283B"/>
                </a:solidFill>
                <a:latin typeface="Segoe UI Semibold"/>
              </a:defRPr>
            </a:pPr>
            <a:r>
              <a:t>Your Tasks</a:t>
            </a:r>
          </a:p>
        </p:txBody>
      </p:sp>
      <p:sp>
        <p:nvSpPr>
          <p:cNvPr id="7" name="Rectangle 6"/>
          <p:cNvSpPr/>
          <p:nvPr/>
        </p:nvSpPr>
        <p:spPr>
          <a:xfrm>
            <a:off x="731520" y="1005840"/>
            <a:ext cx="2286000" cy="27432"/>
          </a:xfrm>
          <a:prstGeom prst="rect">
            <a:avLst/>
          </a:prstGeom>
          <a:solidFill>
            <a:srgbClr val="29B5E8"/>
          </a:solidFill>
          <a:ln>
            <a:noFill/>
          </a:ln>
          <a:effectLst/>
        </p:spPr>
        <p:txBody>
          <a:bodyPr rtlCol="0" anchor="ctr"/>
          <a:lstStyle/>
          <a:p>
            <a:pPr algn="ctr"/>
          </a:p>
        </p:txBody>
      </p:sp>
      <p:sp>
        <p:nvSpPr>
          <p:cNvPr id="8" name="TextBox 7"/>
          <p:cNvSpPr txBox="1"/>
          <p:nvPr/>
        </p:nvSpPr>
        <p:spPr>
          <a:xfrm>
            <a:off x="731520" y="1170432"/>
            <a:ext cx="10698480" cy="457200"/>
          </a:xfrm>
          <a:prstGeom prst="rect">
            <a:avLst/>
          </a:prstGeom>
          <a:noFill/>
        </p:spPr>
        <p:txBody>
          <a:bodyPr wrap="square">
            <a:spAutoFit/>
          </a:bodyPr>
          <a:lstStyle/>
          <a:p>
            <a:pPr algn="l">
              <a:defRPr sz="1600" b="0" i="1">
                <a:solidFill>
                  <a:srgbClr val="5A7184"/>
                </a:solidFill>
                <a:latin typeface="Segoe UI"/>
              </a:defRPr>
            </a:pPr>
            <a:r>
              <a:t>Try it yourself first with the starter files, then compare with the full solution</a:t>
            </a:r>
          </a:p>
        </p:txBody>
      </p:sp>
      <p:sp>
        <p:nvSpPr>
          <p:cNvPr id="9" name="Rounded Rectangle 8"/>
          <p:cNvSpPr/>
          <p:nvPr/>
        </p:nvSpPr>
        <p:spPr>
          <a:xfrm>
            <a:off x="731520" y="1691640"/>
            <a:ext cx="5257800" cy="603504"/>
          </a:xfrm>
          <a:prstGeom prst="roundRect">
            <a:avLst>
              <a:gd name="adj" fmla="val 8000"/>
            </a:avLst>
          </a:prstGeom>
          <a:solidFill>
            <a:srgbClr val="F4F8FB"/>
          </a:solidFill>
          <a:ln w="19050">
            <a:solidFill>
              <a:srgbClr val="29B5E8"/>
            </a:solidFill>
          </a:ln>
          <a:effectLst/>
        </p:spPr>
        <p:txBody>
          <a:bodyPr rtlCol="0" anchor="ctr"/>
          <a:lstStyle/>
          <a:p>
            <a:pPr algn="ctr"/>
          </a:p>
        </p:txBody>
      </p:sp>
      <p:sp>
        <p:nvSpPr>
          <p:cNvPr id="10" name="Oval 9"/>
          <p:cNvSpPr/>
          <p:nvPr/>
        </p:nvSpPr>
        <p:spPr>
          <a:xfrm>
            <a:off x="886968" y="1810512"/>
            <a:ext cx="365760" cy="365760"/>
          </a:xfrm>
          <a:prstGeom prst="ellipse">
            <a:avLst/>
          </a:prstGeom>
          <a:solidFill>
            <a:srgbClr val="29B5E8"/>
          </a:solidFill>
          <a:ln>
            <a:noFill/>
          </a:ln>
          <a:effectLst/>
        </p:spPr>
        <p:txBody>
          <a:bodyPr rtlCol="0" anchor="ctr" wrap="none"/>
          <a:lstStyle/>
          <a:p>
            <a:pPr algn="ctr">
              <a:defRPr sz="700">
                <a:solidFill>
                  <a:srgbClr val="FFFFFF"/>
                </a:solidFill>
              </a:defRPr>
            </a:pPr>
            <a:r>
              <a:t>1</a:t>
            </a:r>
          </a:p>
        </p:txBody>
      </p:sp>
      <p:sp>
        <p:nvSpPr>
          <p:cNvPr id="11" name="TextBox 10"/>
          <p:cNvSpPr txBox="1"/>
          <p:nvPr/>
        </p:nvSpPr>
        <p:spPr>
          <a:xfrm>
            <a:off x="1417320" y="1691640"/>
            <a:ext cx="4434840" cy="603504"/>
          </a:xfrm>
          <a:prstGeom prst="rect">
            <a:avLst/>
          </a:prstGeom>
          <a:noFill/>
        </p:spPr>
        <p:txBody>
          <a:bodyPr wrap="square" anchor="ctr">
            <a:spAutoFit/>
          </a:bodyPr>
          <a:lstStyle/>
          <a:p>
            <a:pPr algn="l">
              <a:defRPr sz="1350" b="1" i="0">
                <a:solidFill>
                  <a:srgbClr val="11283B"/>
                </a:solidFill>
                <a:latin typeface="Segoe UI"/>
              </a:defRPr>
            </a:pPr>
            <a:r>
              <a:t>Measure how well the trips table is laid out for date-range reports</a:t>
            </a:r>
          </a:p>
        </p:txBody>
      </p:sp>
      <p:sp>
        <p:nvSpPr>
          <p:cNvPr id="12" name="Rounded Rectangle 11"/>
          <p:cNvSpPr/>
          <p:nvPr/>
        </p:nvSpPr>
        <p:spPr>
          <a:xfrm>
            <a:off x="6172200" y="1691640"/>
            <a:ext cx="5257800" cy="603504"/>
          </a:xfrm>
          <a:prstGeom prst="roundRect">
            <a:avLst>
              <a:gd name="adj" fmla="val 8000"/>
            </a:avLst>
          </a:prstGeom>
          <a:solidFill>
            <a:srgbClr val="F4F8FB"/>
          </a:solidFill>
          <a:ln w="19050">
            <a:solidFill>
              <a:srgbClr val="6B5BD2"/>
            </a:solidFill>
          </a:ln>
          <a:effectLst/>
        </p:spPr>
        <p:txBody>
          <a:bodyPr rtlCol="0" anchor="ctr"/>
          <a:lstStyle/>
          <a:p>
            <a:pPr algn="ctr"/>
          </a:p>
        </p:txBody>
      </p:sp>
      <p:sp>
        <p:nvSpPr>
          <p:cNvPr id="13" name="Oval 12"/>
          <p:cNvSpPr/>
          <p:nvPr/>
        </p:nvSpPr>
        <p:spPr>
          <a:xfrm>
            <a:off x="6327648" y="1810512"/>
            <a:ext cx="365760" cy="365760"/>
          </a:xfrm>
          <a:prstGeom prst="ellipse">
            <a:avLst/>
          </a:prstGeom>
          <a:solidFill>
            <a:srgbClr val="6B5BD2"/>
          </a:solidFill>
          <a:ln>
            <a:noFill/>
          </a:ln>
          <a:effectLst/>
        </p:spPr>
        <p:txBody>
          <a:bodyPr rtlCol="0" anchor="ctr" wrap="none"/>
          <a:lstStyle/>
          <a:p>
            <a:pPr algn="ctr">
              <a:defRPr sz="700">
                <a:solidFill>
                  <a:srgbClr val="FFFFFF"/>
                </a:solidFill>
              </a:defRPr>
            </a:pPr>
            <a:r>
              <a:t>2</a:t>
            </a:r>
          </a:p>
        </p:txBody>
      </p:sp>
      <p:sp>
        <p:nvSpPr>
          <p:cNvPr id="14" name="TextBox 13"/>
          <p:cNvSpPr txBox="1"/>
          <p:nvPr/>
        </p:nvSpPr>
        <p:spPr>
          <a:xfrm>
            <a:off x="6858000" y="1691640"/>
            <a:ext cx="4434840" cy="603504"/>
          </a:xfrm>
          <a:prstGeom prst="rect">
            <a:avLst/>
          </a:prstGeom>
          <a:noFill/>
        </p:spPr>
        <p:txBody>
          <a:bodyPr wrap="square" anchor="ctr">
            <a:spAutoFit/>
          </a:bodyPr>
          <a:lstStyle/>
          <a:p>
            <a:pPr algn="l">
              <a:defRPr sz="1350" b="1" i="0">
                <a:solidFill>
                  <a:srgbClr val="11283B"/>
                </a:solidFill>
                <a:latin typeface="Segoe UI"/>
              </a:defRPr>
            </a:pPr>
            <a:r>
              <a:t>Fix the layout so a monthly report reads only what it needs</a:t>
            </a:r>
          </a:p>
        </p:txBody>
      </p:sp>
      <p:sp>
        <p:nvSpPr>
          <p:cNvPr id="15" name="Rounded Rectangle 14"/>
          <p:cNvSpPr/>
          <p:nvPr/>
        </p:nvSpPr>
        <p:spPr>
          <a:xfrm>
            <a:off x="731520" y="2404872"/>
            <a:ext cx="5257800" cy="603504"/>
          </a:xfrm>
          <a:prstGeom prst="roundRect">
            <a:avLst>
              <a:gd name="adj" fmla="val 8000"/>
            </a:avLst>
          </a:prstGeom>
          <a:solidFill>
            <a:srgbClr val="F4F8FB"/>
          </a:solidFill>
          <a:ln w="19050">
            <a:solidFill>
              <a:srgbClr val="E8833A"/>
            </a:solidFill>
          </a:ln>
          <a:effectLst/>
        </p:spPr>
        <p:txBody>
          <a:bodyPr rtlCol="0" anchor="ctr"/>
          <a:lstStyle/>
          <a:p>
            <a:pPr algn="ctr"/>
          </a:p>
        </p:txBody>
      </p:sp>
      <p:sp>
        <p:nvSpPr>
          <p:cNvPr id="16" name="Oval 15"/>
          <p:cNvSpPr/>
          <p:nvPr/>
        </p:nvSpPr>
        <p:spPr>
          <a:xfrm>
            <a:off x="886968" y="2523744"/>
            <a:ext cx="365760" cy="365760"/>
          </a:xfrm>
          <a:prstGeom prst="ellipse">
            <a:avLst/>
          </a:prstGeom>
          <a:solidFill>
            <a:srgbClr val="E8833A"/>
          </a:solidFill>
          <a:ln>
            <a:noFill/>
          </a:ln>
          <a:effectLst/>
        </p:spPr>
        <p:txBody>
          <a:bodyPr rtlCol="0" anchor="ctr" wrap="none"/>
          <a:lstStyle/>
          <a:p>
            <a:pPr algn="ctr">
              <a:defRPr sz="700">
                <a:solidFill>
                  <a:srgbClr val="FFFFFF"/>
                </a:solidFill>
              </a:defRPr>
            </a:pPr>
            <a:r>
              <a:t>3</a:t>
            </a:r>
          </a:p>
        </p:txBody>
      </p:sp>
      <p:sp>
        <p:nvSpPr>
          <p:cNvPr id="17" name="TextBox 16"/>
          <p:cNvSpPr txBox="1"/>
          <p:nvPr/>
        </p:nvSpPr>
        <p:spPr>
          <a:xfrm>
            <a:off x="1417320" y="2404872"/>
            <a:ext cx="4434840" cy="603504"/>
          </a:xfrm>
          <a:prstGeom prst="rect">
            <a:avLst/>
          </a:prstGeom>
          <a:noFill/>
        </p:spPr>
        <p:txBody>
          <a:bodyPr wrap="square" anchor="ctr">
            <a:spAutoFit/>
          </a:bodyPr>
          <a:lstStyle/>
          <a:p>
            <a:pPr algn="l">
              <a:defRPr sz="1350" b="1" i="0">
                <a:solidFill>
                  <a:srgbClr val="11283B"/>
                </a:solidFill>
                <a:latin typeface="Segoe UI"/>
              </a:defRPr>
            </a:pPr>
            <a:r>
              <a:t>Show the difference between the warehouse cache and the result cache</a:t>
            </a:r>
          </a:p>
        </p:txBody>
      </p:sp>
      <p:sp>
        <p:nvSpPr>
          <p:cNvPr id="18" name="Rounded Rectangle 17"/>
          <p:cNvSpPr/>
          <p:nvPr/>
        </p:nvSpPr>
        <p:spPr>
          <a:xfrm>
            <a:off x="6172200" y="2404872"/>
            <a:ext cx="5257800" cy="603504"/>
          </a:xfrm>
          <a:prstGeom prst="roundRect">
            <a:avLst>
              <a:gd name="adj" fmla="val 8000"/>
            </a:avLst>
          </a:prstGeom>
          <a:solidFill>
            <a:srgbClr val="F4F8FB"/>
          </a:solidFill>
          <a:ln w="19050">
            <a:solidFill>
              <a:srgbClr val="1BA37A"/>
            </a:solidFill>
          </a:ln>
          <a:effectLst/>
        </p:spPr>
        <p:txBody>
          <a:bodyPr rtlCol="0" anchor="ctr"/>
          <a:lstStyle/>
          <a:p>
            <a:pPr algn="ctr"/>
          </a:p>
        </p:txBody>
      </p:sp>
      <p:sp>
        <p:nvSpPr>
          <p:cNvPr id="19" name="Oval 18"/>
          <p:cNvSpPr/>
          <p:nvPr/>
        </p:nvSpPr>
        <p:spPr>
          <a:xfrm>
            <a:off x="6327648" y="2523744"/>
            <a:ext cx="365760" cy="365760"/>
          </a:xfrm>
          <a:prstGeom prst="ellipse">
            <a:avLst/>
          </a:prstGeom>
          <a:solidFill>
            <a:srgbClr val="1BA37A"/>
          </a:solidFill>
          <a:ln>
            <a:noFill/>
          </a:ln>
          <a:effectLst/>
        </p:spPr>
        <p:txBody>
          <a:bodyPr rtlCol="0" anchor="ctr" wrap="none"/>
          <a:lstStyle/>
          <a:p>
            <a:pPr algn="ctr">
              <a:defRPr sz="700">
                <a:solidFill>
                  <a:srgbClr val="FFFFFF"/>
                </a:solidFill>
              </a:defRPr>
            </a:pPr>
            <a:r>
              <a:t>4</a:t>
            </a:r>
          </a:p>
        </p:txBody>
      </p:sp>
      <p:sp>
        <p:nvSpPr>
          <p:cNvPr id="20" name="TextBox 19"/>
          <p:cNvSpPr txBox="1"/>
          <p:nvPr/>
        </p:nvSpPr>
        <p:spPr>
          <a:xfrm>
            <a:off x="6858000" y="2404872"/>
            <a:ext cx="4434840" cy="603504"/>
          </a:xfrm>
          <a:prstGeom prst="rect">
            <a:avLst/>
          </a:prstGeom>
          <a:noFill/>
        </p:spPr>
        <p:txBody>
          <a:bodyPr wrap="square" anchor="ctr">
            <a:spAutoFit/>
          </a:bodyPr>
          <a:lstStyle/>
          <a:p>
            <a:pPr algn="l">
              <a:defRPr sz="1350" b="1" i="0">
                <a:solidFill>
                  <a:srgbClr val="11283B"/>
                </a:solidFill>
                <a:latin typeface="Segoe UI"/>
              </a:defRPr>
            </a:pPr>
            <a:r>
              <a:t>Make the single-trip lookup fast on twenty million rows</a:t>
            </a:r>
          </a:p>
        </p:txBody>
      </p:sp>
      <p:sp>
        <p:nvSpPr>
          <p:cNvPr id="21" name="Rounded Rectangle 20"/>
          <p:cNvSpPr/>
          <p:nvPr/>
        </p:nvSpPr>
        <p:spPr>
          <a:xfrm>
            <a:off x="731520" y="3118104"/>
            <a:ext cx="5257800" cy="603504"/>
          </a:xfrm>
          <a:prstGeom prst="roundRect">
            <a:avLst>
              <a:gd name="adj" fmla="val 8000"/>
            </a:avLst>
          </a:prstGeom>
          <a:solidFill>
            <a:srgbClr val="F4F8FB"/>
          </a:solidFill>
          <a:ln w="19050">
            <a:solidFill>
              <a:srgbClr val="E5484D"/>
            </a:solidFill>
          </a:ln>
          <a:effectLst/>
        </p:spPr>
        <p:txBody>
          <a:bodyPr rtlCol="0" anchor="ctr"/>
          <a:lstStyle/>
          <a:p>
            <a:pPr algn="ctr"/>
          </a:p>
        </p:txBody>
      </p:sp>
      <p:sp>
        <p:nvSpPr>
          <p:cNvPr id="22" name="Oval 21"/>
          <p:cNvSpPr/>
          <p:nvPr/>
        </p:nvSpPr>
        <p:spPr>
          <a:xfrm>
            <a:off x="886968" y="3236976"/>
            <a:ext cx="365760" cy="365760"/>
          </a:xfrm>
          <a:prstGeom prst="ellipse">
            <a:avLst/>
          </a:prstGeom>
          <a:solidFill>
            <a:srgbClr val="E5484D"/>
          </a:solidFill>
          <a:ln>
            <a:noFill/>
          </a:ln>
          <a:effectLst/>
        </p:spPr>
        <p:txBody>
          <a:bodyPr rtlCol="0" anchor="ctr" wrap="none"/>
          <a:lstStyle/>
          <a:p>
            <a:pPr algn="ctr">
              <a:defRPr sz="700">
                <a:solidFill>
                  <a:srgbClr val="FFFFFF"/>
                </a:solidFill>
              </a:defRPr>
            </a:pPr>
            <a:r>
              <a:t>5</a:t>
            </a:r>
          </a:p>
        </p:txBody>
      </p:sp>
      <p:sp>
        <p:nvSpPr>
          <p:cNvPr id="23" name="TextBox 22"/>
          <p:cNvSpPr txBox="1"/>
          <p:nvPr/>
        </p:nvSpPr>
        <p:spPr>
          <a:xfrm>
            <a:off x="1417320" y="3118104"/>
            <a:ext cx="4434840" cy="603504"/>
          </a:xfrm>
          <a:prstGeom prst="rect">
            <a:avLst/>
          </a:prstGeom>
          <a:noFill/>
        </p:spPr>
        <p:txBody>
          <a:bodyPr wrap="square" anchor="ctr">
            <a:spAutoFit/>
          </a:bodyPr>
          <a:lstStyle/>
          <a:p>
            <a:pPr algn="l">
              <a:defRPr sz="1350" b="1" i="0">
                <a:solidFill>
                  <a:srgbClr val="11283B"/>
                </a:solidFill>
                <a:latin typeface="Segoe UI"/>
              </a:defRPr>
            </a:pPr>
            <a:r>
              <a:t>Find out what each warehouse actually cost</a:t>
            </a:r>
          </a:p>
        </p:txBody>
      </p:sp>
      <p:sp>
        <p:nvSpPr>
          <p:cNvPr id="24" name="Rounded Rectangle 23"/>
          <p:cNvSpPr/>
          <p:nvPr/>
        </p:nvSpPr>
        <p:spPr>
          <a:xfrm>
            <a:off x="6172200" y="3118104"/>
            <a:ext cx="5257800" cy="603504"/>
          </a:xfrm>
          <a:prstGeom prst="roundRect">
            <a:avLst>
              <a:gd name="adj" fmla="val 8000"/>
            </a:avLst>
          </a:prstGeom>
          <a:solidFill>
            <a:srgbClr val="F4F8FB"/>
          </a:solidFill>
          <a:ln w="19050">
            <a:solidFill>
              <a:srgbClr val="11567F"/>
            </a:solidFill>
          </a:ln>
          <a:effectLst/>
        </p:spPr>
        <p:txBody>
          <a:bodyPr rtlCol="0" anchor="ctr"/>
          <a:lstStyle/>
          <a:p>
            <a:pPr algn="ctr"/>
          </a:p>
        </p:txBody>
      </p:sp>
      <p:sp>
        <p:nvSpPr>
          <p:cNvPr id="25" name="Oval 24"/>
          <p:cNvSpPr/>
          <p:nvPr/>
        </p:nvSpPr>
        <p:spPr>
          <a:xfrm>
            <a:off x="6327648" y="3236976"/>
            <a:ext cx="365760" cy="365760"/>
          </a:xfrm>
          <a:prstGeom prst="ellipse">
            <a:avLst/>
          </a:prstGeom>
          <a:solidFill>
            <a:srgbClr val="11567F"/>
          </a:solidFill>
          <a:ln>
            <a:noFill/>
          </a:ln>
          <a:effectLst/>
        </p:spPr>
        <p:txBody>
          <a:bodyPr rtlCol="0" anchor="ctr" wrap="none"/>
          <a:lstStyle/>
          <a:p>
            <a:pPr algn="ctr">
              <a:defRPr sz="700">
                <a:solidFill>
                  <a:srgbClr val="FFFFFF"/>
                </a:solidFill>
              </a:defRPr>
            </a:pPr>
            <a:r>
              <a:t>6</a:t>
            </a:r>
          </a:p>
        </p:txBody>
      </p:sp>
      <p:sp>
        <p:nvSpPr>
          <p:cNvPr id="26" name="TextBox 25"/>
          <p:cNvSpPr txBox="1"/>
          <p:nvPr/>
        </p:nvSpPr>
        <p:spPr>
          <a:xfrm>
            <a:off x="6858000" y="3118104"/>
            <a:ext cx="4434840" cy="603504"/>
          </a:xfrm>
          <a:prstGeom prst="rect">
            <a:avLst/>
          </a:prstGeom>
          <a:noFill/>
        </p:spPr>
        <p:txBody>
          <a:bodyPr wrap="square" anchor="ctr">
            <a:spAutoFit/>
          </a:bodyPr>
          <a:lstStyle/>
          <a:p>
            <a:pPr algn="l">
              <a:defRPr sz="1350" b="1" i="0">
                <a:solidFill>
                  <a:srgbClr val="11283B"/>
                </a:solidFill>
                <a:latin typeface="Segoe UI"/>
              </a:defRPr>
            </a:pPr>
            <a:r>
              <a:t>Prove every fix with numbers from Query Profile</a:t>
            </a:r>
          </a:p>
        </p:txBody>
      </p:sp>
      <p:sp>
        <p:nvSpPr>
          <p:cNvPr id="27" name="Rounded Rectangle 26">
            <a:hlinkClick r:id="rId2"/>
          </p:cNvPr>
          <p:cNvSpPr/>
          <p:nvPr/>
        </p:nvSpPr>
        <p:spPr>
          <a:xfrm>
            <a:off x="731520" y="3977639"/>
            <a:ext cx="10698480" cy="1280160"/>
          </a:xfrm>
          <a:prstGeom prst="roundRect">
            <a:avLst>
              <a:gd name="adj" fmla="val 8000"/>
            </a:avLst>
          </a:prstGeom>
          <a:solidFill>
            <a:srgbClr val="EAF3FA"/>
          </a:solidFill>
          <a:ln w="19050">
            <a:solidFill>
              <a:srgbClr val="11567F"/>
            </a:solidFill>
          </a:ln>
          <a:effectLst/>
        </p:spPr>
        <p:txBody>
          <a:bodyPr rtlCol="0" anchor="ctr"/>
          <a:lstStyle/>
          <a:p>
            <a:pPr algn="ctr"/>
          </a:p>
        </p:txBody>
      </p:sp>
      <p:sp>
        <p:nvSpPr>
          <p:cNvPr id="28" name="Oval 27"/>
          <p:cNvSpPr/>
          <p:nvPr/>
        </p:nvSpPr>
        <p:spPr>
          <a:xfrm>
            <a:off x="1051560" y="4160520"/>
            <a:ext cx="420624" cy="420624"/>
          </a:xfrm>
          <a:prstGeom prst="ellipse">
            <a:avLst/>
          </a:prstGeom>
          <a:solidFill>
            <a:srgbClr val="11567F"/>
          </a:solidFill>
          <a:ln>
            <a:noFill/>
          </a:ln>
          <a:effectLst/>
        </p:spPr>
        <p:txBody>
          <a:bodyPr rtlCol="0" anchor="ctr" wrap="none"/>
          <a:lstStyle/>
          <a:p>
            <a:pPr algn="ctr">
              <a:defRPr sz="800">
                <a:solidFill>
                  <a:srgbClr val="FFFFFF"/>
                </a:solidFill>
              </a:defRPr>
            </a:pPr>
            <a:r>
              <a:t>🔗</a:t>
            </a:r>
          </a:p>
        </p:txBody>
      </p:sp>
      <p:sp>
        <p:nvSpPr>
          <p:cNvPr id="29" name="TextBox 28"/>
          <p:cNvSpPr txBox="1"/>
          <p:nvPr/>
        </p:nvSpPr>
        <p:spPr>
          <a:xfrm>
            <a:off x="1691640" y="4160520"/>
            <a:ext cx="8229600" cy="365760"/>
          </a:xfrm>
          <a:prstGeom prst="rect">
            <a:avLst/>
          </a:prstGeom>
          <a:noFill/>
        </p:spPr>
        <p:txBody>
          <a:bodyPr wrap="square">
            <a:spAutoFit/>
          </a:bodyPr>
          <a:lstStyle/>
          <a:p>
            <a:pPr algn="l">
              <a:defRPr sz="1200" b="1" i="0">
                <a:solidFill>
                  <a:srgbClr val="5A7184"/>
                </a:solidFill>
                <a:latin typeface="Segoe UI"/>
              </a:defRPr>
            </a:pPr>
            <a:r>
              <a:rPr spc="150"/>
              <a:t>FULL SOLUTION, WALKTHROUGH AND SOURCE CODE</a:t>
            </a:r>
          </a:p>
        </p:txBody>
      </p:sp>
      <p:sp>
        <p:nvSpPr>
          <p:cNvPr id="30" name="TextBox 29"/>
          <p:cNvSpPr txBox="1"/>
          <p:nvPr/>
        </p:nvSpPr>
        <p:spPr>
          <a:xfrm>
            <a:off x="914400" y="4617720"/>
            <a:ext cx="10332720" cy="502920"/>
          </a:xfrm>
          <a:prstGeom prst="rect">
            <a:avLst/>
          </a:prstGeom>
          <a:noFill/>
        </p:spPr>
        <p:txBody>
          <a:bodyPr wrap="none" anchor="ctr">
            <a:spAutoFit/>
          </a:bodyPr>
          <a:lstStyle/>
          <a:p>
            <a:pPr algn="ctr"/>
            <a:r>
              <a:rPr sz="1900" b="1" u="sng">
                <a:solidFill>
                  <a:srgbClr val="11567F"/>
                </a:solidFill>
                <a:latin typeface="Segoe UI Semibold"/>
                <a:hlinkClick r:id="rId2"/>
              </a:rPr>
              <a:t>https://cognifydata.com/labs/snowflake-performance-cost-optimization</a:t>
            </a:r>
          </a:p>
        </p:txBody>
      </p:sp>
      <p:sp>
        <p:nvSpPr>
          <p:cNvPr id="31" name="Rounded Rectangle 30"/>
          <p:cNvSpPr/>
          <p:nvPr/>
        </p:nvSpPr>
        <p:spPr>
          <a:xfrm>
            <a:off x="73152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2" name="Oval 31"/>
          <p:cNvSpPr/>
          <p:nvPr/>
        </p:nvSpPr>
        <p:spPr>
          <a:xfrm>
            <a:off x="91440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3" name="TextBox 32"/>
          <p:cNvSpPr txBox="1"/>
          <p:nvPr/>
        </p:nvSpPr>
        <p:spPr>
          <a:xfrm>
            <a:off x="1371600" y="5422392"/>
            <a:ext cx="2743200" cy="530352"/>
          </a:xfrm>
          <a:prstGeom prst="rect">
            <a:avLst/>
          </a:prstGeom>
          <a:noFill/>
        </p:spPr>
        <p:txBody>
          <a:bodyPr wrap="square" anchor="ctr">
            <a:spAutoFit/>
          </a:bodyPr>
          <a:lstStyle/>
          <a:p>
            <a:pPr algn="l">
              <a:defRPr sz="1400" b="1" i="0">
                <a:solidFill>
                  <a:srgbClr val="11283B"/>
                </a:solidFill>
                <a:latin typeface="Segoe UI"/>
              </a:defRPr>
            </a:pPr>
            <a:r>
              <a:t>Starter files attached</a:t>
            </a:r>
          </a:p>
        </p:txBody>
      </p:sp>
      <p:sp>
        <p:nvSpPr>
          <p:cNvPr id="34" name="Rounded Rectangle 33"/>
          <p:cNvSpPr/>
          <p:nvPr/>
        </p:nvSpPr>
        <p:spPr>
          <a:xfrm>
            <a:off x="436626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5" name="Oval 34"/>
          <p:cNvSpPr/>
          <p:nvPr/>
        </p:nvSpPr>
        <p:spPr>
          <a:xfrm>
            <a:off x="4549140"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6" name="TextBox 35"/>
          <p:cNvSpPr txBox="1"/>
          <p:nvPr/>
        </p:nvSpPr>
        <p:spPr>
          <a:xfrm>
            <a:off x="5006340" y="5422392"/>
            <a:ext cx="2743200" cy="530352"/>
          </a:xfrm>
          <a:prstGeom prst="rect">
            <a:avLst/>
          </a:prstGeom>
          <a:noFill/>
        </p:spPr>
        <p:txBody>
          <a:bodyPr wrap="square" anchor="ctr">
            <a:spAutoFit/>
          </a:bodyPr>
          <a:lstStyle/>
          <a:p>
            <a:pPr algn="l">
              <a:defRPr sz="1400" b="1" i="0">
                <a:solidFill>
                  <a:srgbClr val="11283B"/>
                </a:solidFill>
                <a:latin typeface="Segoe UI"/>
              </a:defRPr>
            </a:pPr>
            <a:r>
              <a:t>Free, no sign-up</a:t>
            </a:r>
          </a:p>
        </p:txBody>
      </p:sp>
      <p:sp>
        <p:nvSpPr>
          <p:cNvPr id="37" name="Rounded Rectangle 36"/>
          <p:cNvSpPr/>
          <p:nvPr/>
        </p:nvSpPr>
        <p:spPr>
          <a:xfrm>
            <a:off x="8001000" y="5422392"/>
            <a:ext cx="3429000" cy="530352"/>
          </a:xfrm>
          <a:prstGeom prst="roundRect">
            <a:avLst>
              <a:gd name="adj" fmla="val 8000"/>
            </a:avLst>
          </a:prstGeom>
          <a:solidFill>
            <a:srgbClr val="FFFFFF"/>
          </a:solidFill>
          <a:ln w="19050">
            <a:solidFill>
              <a:srgbClr val="1BA37A"/>
            </a:solidFill>
          </a:ln>
          <a:effectLst/>
        </p:spPr>
        <p:txBody>
          <a:bodyPr rtlCol="0" anchor="ctr"/>
          <a:lstStyle/>
          <a:p>
            <a:pPr algn="ctr"/>
          </a:p>
        </p:txBody>
      </p:sp>
      <p:sp>
        <p:nvSpPr>
          <p:cNvPr id="38" name="Oval 37"/>
          <p:cNvSpPr/>
          <p:nvPr/>
        </p:nvSpPr>
        <p:spPr>
          <a:xfrm>
            <a:off x="8183879" y="5513831"/>
            <a:ext cx="347472" cy="347472"/>
          </a:xfrm>
          <a:prstGeom prst="ellipse">
            <a:avLst/>
          </a:prstGeom>
          <a:solidFill>
            <a:srgbClr val="1BA37A"/>
          </a:solidFill>
          <a:ln>
            <a:noFill/>
          </a:ln>
          <a:effectLst/>
        </p:spPr>
        <p:txBody>
          <a:bodyPr rtlCol="0" anchor="ctr" wrap="none"/>
          <a:lstStyle/>
          <a:p>
            <a:pPr algn="ctr">
              <a:defRPr sz="600">
                <a:solidFill>
                  <a:srgbClr val="FFFFFF"/>
                </a:solidFill>
              </a:defRPr>
            </a:pPr>
            <a:r>
              <a:t>✓</a:t>
            </a:r>
          </a:p>
        </p:txBody>
      </p:sp>
      <p:sp>
        <p:nvSpPr>
          <p:cNvPr id="39" name="TextBox 38"/>
          <p:cNvSpPr txBox="1"/>
          <p:nvPr/>
        </p:nvSpPr>
        <p:spPr>
          <a:xfrm>
            <a:off x="8641080" y="5422392"/>
            <a:ext cx="2743200" cy="530352"/>
          </a:xfrm>
          <a:prstGeom prst="rect">
            <a:avLst/>
          </a:prstGeom>
          <a:noFill/>
        </p:spPr>
        <p:txBody>
          <a:bodyPr wrap="square" anchor="ctr">
            <a:spAutoFit/>
          </a:bodyPr>
          <a:lstStyle/>
          <a:p>
            <a:pPr algn="l">
              <a:defRPr sz="1400" b="1" i="0">
                <a:solidFill>
                  <a:srgbClr val="11283B"/>
                </a:solidFill>
                <a:latin typeface="Segoe UI"/>
              </a:defRPr>
            </a:pPr>
            <a:r>
              <a:t>Step-by-step solution</a:t>
            </a:r>
          </a:p>
        </p:txBody>
      </p:sp>
      <p:sp>
        <p:nvSpPr>
          <p:cNvPr id="40" name="TextBox 39"/>
          <p:cNvSpPr txBox="1"/>
          <p:nvPr/>
        </p:nvSpPr>
        <p:spPr>
          <a:xfrm>
            <a:off x="11155680" y="6400800"/>
            <a:ext cx="914400" cy="365760"/>
          </a:xfrm>
          <a:prstGeom prst="rect">
            <a:avLst/>
          </a:prstGeom>
          <a:noFill/>
        </p:spPr>
        <p:txBody>
          <a:bodyPr wrap="square">
            <a:spAutoFit/>
          </a:bodyPr>
          <a:lstStyle/>
          <a:p>
            <a:pPr algn="r">
              <a:defRPr sz="1000" b="0" i="0">
                <a:solidFill>
                  <a:srgbClr val="5A7184"/>
                </a:solidFill>
                <a:latin typeface="Segoe UI"/>
              </a:defRPr>
            </a:pPr>
            <a: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1567F"/>
      </a:hlink>
      <a:folHlink>
        <a:srgbClr val="11567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