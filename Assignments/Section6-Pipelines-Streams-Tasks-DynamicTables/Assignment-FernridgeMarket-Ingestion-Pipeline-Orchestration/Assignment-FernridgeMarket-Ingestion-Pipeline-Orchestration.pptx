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your next assignment. In this one, you load data that arrives in three different formats, and then build a pipeline that keeps everything up to date on its own. It uses what you learned in Section 5 and Section 6, and it shouldn't take you more than a couple of hours.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scenario. You're a data engineer at an online marketplace called Fernridge Market, and the orders come in from three sellers. Seller A sends CSV files, Seller B sends JSON with the customer details nested inside, and Seller C sends Parquet files throughout the day. Finance needs one combined file of every order, so they can reconcile the payouts to the sellers. And the orders keep changing. New ones come in late, amounts get corrected, and some get cancelled, so the payouts and the fraud checks have to keep up. The data is three small files, one per seller, and they're in the starter files. They go into an internal stage, so you don't need any AWS setup for this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your tasks. First, load all three sellers' files into Snowflake. Seller C sends files all day, so make those load automatically as they arrive, and Snowpipe from Section 5 is the tool for that. Then combine every order into one table, and send finance their settlement file. Next, track every change to the orders as it happens. After that, keep the seller payouts and the fraud flags up to date, without anyone rerunning anything by hand. Streams and tasks from Section 6 come in here. And finally, build the same payouts a second way, as a dynamic table, and decide which approach you'd use and why. The three seller files are in the starter files attached to this lecture. If the task graph gives you trouble, my walkthrough at the link on screen goes through it step by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gnifydata.com/labs/snowflake-multi-format-ingestion-pipeline-orchestration" TargetMode="External"/><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Rounded Rectangle 5"/>
          <p:cNvSpPr/>
          <p:nvPr/>
        </p:nvSpPr>
        <p:spPr>
          <a:xfrm>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7" name="Rounded Rectangle 6"/>
          <p:cNvSpPr/>
          <p:nvPr/>
        </p:nvSpPr>
        <p:spPr>
          <a:xfrm rot="36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8" name="Rounded Rectangle 7"/>
          <p:cNvSpPr/>
          <p:nvPr/>
        </p:nvSpPr>
        <p:spPr>
          <a:xfrm rot="72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9" name="Diamond 8"/>
          <p:cNvSpPr/>
          <p:nvPr/>
        </p:nvSpPr>
        <p:spPr>
          <a:xfrm>
            <a:off x="10725912" y="3822192"/>
            <a:ext cx="402336" cy="402336"/>
          </a:xfrm>
          <a:prstGeom prst="diamond">
            <a:avLst/>
          </a:prstGeom>
          <a:solidFill>
            <a:srgbClr val="CBE8F7"/>
          </a:solidFill>
          <a:ln>
            <a:noFill/>
          </a:ln>
          <a:effectLst/>
        </p:spPr>
        <p:txBody>
          <a:bodyPr rtlCol="0" anchor="ctr"/>
          <a:lstStyle/>
          <a:p>
            <a:pPr algn="ctr"/>
          </a:p>
        </p:txBody>
      </p:sp>
      <p:sp>
        <p:nvSpPr>
          <p:cNvPr id="10" name="Diamond 9"/>
          <p:cNvSpPr/>
          <p:nvPr/>
        </p:nvSpPr>
        <p:spPr>
          <a:xfrm>
            <a:off x="11596994" y="4325112"/>
            <a:ext cx="402336" cy="402336"/>
          </a:xfrm>
          <a:prstGeom prst="diamond">
            <a:avLst/>
          </a:prstGeom>
          <a:solidFill>
            <a:srgbClr val="CBE8F7"/>
          </a:solidFill>
          <a:ln>
            <a:noFill/>
          </a:ln>
          <a:effectLst/>
        </p:spPr>
        <p:txBody>
          <a:bodyPr rtlCol="0" anchor="ctr"/>
          <a:lstStyle/>
          <a:p>
            <a:pPr algn="ctr"/>
          </a:p>
        </p:txBody>
      </p:sp>
      <p:sp>
        <p:nvSpPr>
          <p:cNvPr id="11" name="Diamond 10"/>
          <p:cNvSpPr/>
          <p:nvPr/>
        </p:nvSpPr>
        <p:spPr>
          <a:xfrm>
            <a:off x="11596994" y="5330951"/>
            <a:ext cx="402336" cy="402336"/>
          </a:xfrm>
          <a:prstGeom prst="diamond">
            <a:avLst/>
          </a:prstGeom>
          <a:solidFill>
            <a:srgbClr val="CBE8F7"/>
          </a:solidFill>
          <a:ln>
            <a:noFill/>
          </a:ln>
          <a:effectLst/>
        </p:spPr>
        <p:txBody>
          <a:bodyPr rtlCol="0" anchor="ctr"/>
          <a:lstStyle/>
          <a:p>
            <a:pPr algn="ctr"/>
          </a:p>
        </p:txBody>
      </p:sp>
      <p:sp>
        <p:nvSpPr>
          <p:cNvPr id="12" name="Diamond 11"/>
          <p:cNvSpPr/>
          <p:nvPr/>
        </p:nvSpPr>
        <p:spPr>
          <a:xfrm>
            <a:off x="10725912" y="5833872"/>
            <a:ext cx="402336" cy="402336"/>
          </a:xfrm>
          <a:prstGeom prst="diamond">
            <a:avLst/>
          </a:prstGeom>
          <a:solidFill>
            <a:srgbClr val="CBE8F7"/>
          </a:solidFill>
          <a:ln>
            <a:noFill/>
          </a:ln>
          <a:effectLst/>
        </p:spPr>
        <p:txBody>
          <a:bodyPr rtlCol="0" anchor="ctr"/>
          <a:lstStyle/>
          <a:p>
            <a:pPr algn="ctr"/>
          </a:p>
        </p:txBody>
      </p:sp>
      <p:sp>
        <p:nvSpPr>
          <p:cNvPr id="13" name="Diamond 12"/>
          <p:cNvSpPr/>
          <p:nvPr/>
        </p:nvSpPr>
        <p:spPr>
          <a:xfrm>
            <a:off x="9854830" y="5330952"/>
            <a:ext cx="402336" cy="402336"/>
          </a:xfrm>
          <a:prstGeom prst="diamond">
            <a:avLst/>
          </a:prstGeom>
          <a:solidFill>
            <a:srgbClr val="CBE8F7"/>
          </a:solidFill>
          <a:ln>
            <a:noFill/>
          </a:ln>
          <a:effectLst/>
        </p:spPr>
        <p:txBody>
          <a:bodyPr rtlCol="0" anchor="ctr"/>
          <a:lstStyle/>
          <a:p>
            <a:pPr algn="ctr"/>
          </a:p>
        </p:txBody>
      </p:sp>
      <p:sp>
        <p:nvSpPr>
          <p:cNvPr id="14" name="Diamond 13"/>
          <p:cNvSpPr/>
          <p:nvPr/>
        </p:nvSpPr>
        <p:spPr>
          <a:xfrm>
            <a:off x="9854830" y="4325112"/>
            <a:ext cx="402336" cy="402336"/>
          </a:xfrm>
          <a:prstGeom prst="diamond">
            <a:avLst/>
          </a:prstGeom>
          <a:solidFill>
            <a:srgbClr val="CBE8F7"/>
          </a:solidFill>
          <a:ln>
            <a:noFill/>
          </a:ln>
          <a:effectLst/>
        </p:spPr>
        <p:txBody>
          <a:bodyPr rtlCol="0" anchor="ctr"/>
          <a:lstStyle/>
          <a:p>
            <a:pPr algn="ctr"/>
          </a:p>
        </p:txBody>
      </p:sp>
      <p:sp>
        <p:nvSpPr>
          <p:cNvPr id="15" name="Oval 14"/>
          <p:cNvSpPr/>
          <p:nvPr/>
        </p:nvSpPr>
        <p:spPr>
          <a:xfrm>
            <a:off x="10685679" y="4787799"/>
            <a:ext cx="482803" cy="482803"/>
          </a:xfrm>
          <a:prstGeom prst="ellipse">
            <a:avLst/>
          </a:prstGeom>
          <a:solidFill>
            <a:srgbClr val="CBE8F7"/>
          </a:solidFill>
          <a:ln>
            <a:noFill/>
          </a:ln>
          <a:effectLst/>
        </p:spPr>
        <p:txBody>
          <a:bodyPr rtlCol="0" anchor="ctr"/>
          <a:lstStyle/>
          <a:p>
            <a:pPr algn="ctr"/>
          </a:p>
        </p:txBody>
      </p:sp>
      <p:sp>
        <p:nvSpPr>
          <p:cNvPr id="16" name="Rounded Rectangle 15"/>
          <p:cNvSpPr/>
          <p:nvPr/>
        </p:nvSpPr>
        <p:spPr>
          <a:xfrm>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7" name="Rounded Rectangle 16"/>
          <p:cNvSpPr/>
          <p:nvPr/>
        </p:nvSpPr>
        <p:spPr>
          <a:xfrm rot="36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8" name="Rounded Rectangle 17"/>
          <p:cNvSpPr/>
          <p:nvPr/>
        </p:nvSpPr>
        <p:spPr>
          <a:xfrm rot="72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9" name="Diamond 18"/>
          <p:cNvSpPr/>
          <p:nvPr/>
        </p:nvSpPr>
        <p:spPr>
          <a:xfrm>
            <a:off x="894284" y="446228"/>
            <a:ext cx="76809" cy="76809"/>
          </a:xfrm>
          <a:prstGeom prst="diamond">
            <a:avLst/>
          </a:prstGeom>
          <a:solidFill>
            <a:srgbClr val="29B5E8"/>
          </a:solidFill>
          <a:ln>
            <a:noFill/>
          </a:ln>
          <a:effectLst/>
        </p:spPr>
        <p:txBody>
          <a:bodyPr rtlCol="0" anchor="ctr"/>
          <a:lstStyle/>
          <a:p>
            <a:pPr algn="ctr"/>
          </a:p>
        </p:txBody>
      </p:sp>
      <p:sp>
        <p:nvSpPr>
          <p:cNvPr id="20" name="Diamond 19"/>
          <p:cNvSpPr/>
          <p:nvPr/>
        </p:nvSpPr>
        <p:spPr>
          <a:xfrm>
            <a:off x="1060581" y="542240"/>
            <a:ext cx="76809" cy="76809"/>
          </a:xfrm>
          <a:prstGeom prst="diamond">
            <a:avLst/>
          </a:prstGeom>
          <a:solidFill>
            <a:srgbClr val="29B5E8"/>
          </a:solidFill>
          <a:ln>
            <a:noFill/>
          </a:ln>
          <a:effectLst/>
        </p:spPr>
        <p:txBody>
          <a:bodyPr rtlCol="0" anchor="ctr"/>
          <a:lstStyle/>
          <a:p>
            <a:pPr algn="ctr"/>
          </a:p>
        </p:txBody>
      </p:sp>
      <p:sp>
        <p:nvSpPr>
          <p:cNvPr id="21" name="Diamond 20"/>
          <p:cNvSpPr/>
          <p:nvPr/>
        </p:nvSpPr>
        <p:spPr>
          <a:xfrm>
            <a:off x="1060581" y="734263"/>
            <a:ext cx="76809" cy="76809"/>
          </a:xfrm>
          <a:prstGeom prst="diamond">
            <a:avLst/>
          </a:prstGeom>
          <a:solidFill>
            <a:srgbClr val="29B5E8"/>
          </a:solidFill>
          <a:ln>
            <a:noFill/>
          </a:ln>
          <a:effectLst/>
        </p:spPr>
        <p:txBody>
          <a:bodyPr rtlCol="0" anchor="ctr"/>
          <a:lstStyle/>
          <a:p>
            <a:pPr algn="ctr"/>
          </a:p>
        </p:txBody>
      </p:sp>
      <p:sp>
        <p:nvSpPr>
          <p:cNvPr id="22" name="Diamond 21"/>
          <p:cNvSpPr/>
          <p:nvPr/>
        </p:nvSpPr>
        <p:spPr>
          <a:xfrm>
            <a:off x="894284" y="830276"/>
            <a:ext cx="76809" cy="76809"/>
          </a:xfrm>
          <a:prstGeom prst="diamond">
            <a:avLst/>
          </a:prstGeom>
          <a:solidFill>
            <a:srgbClr val="29B5E8"/>
          </a:solidFill>
          <a:ln>
            <a:noFill/>
          </a:ln>
          <a:effectLst/>
        </p:spPr>
        <p:txBody>
          <a:bodyPr rtlCol="0" anchor="ctr"/>
          <a:lstStyle/>
          <a:p>
            <a:pPr algn="ctr"/>
          </a:p>
        </p:txBody>
      </p:sp>
      <p:sp>
        <p:nvSpPr>
          <p:cNvPr id="23" name="Diamond 22"/>
          <p:cNvSpPr/>
          <p:nvPr/>
        </p:nvSpPr>
        <p:spPr>
          <a:xfrm>
            <a:off x="727987" y="734264"/>
            <a:ext cx="76809" cy="76809"/>
          </a:xfrm>
          <a:prstGeom prst="diamond">
            <a:avLst/>
          </a:prstGeom>
          <a:solidFill>
            <a:srgbClr val="29B5E8"/>
          </a:solidFill>
          <a:ln>
            <a:noFill/>
          </a:ln>
          <a:effectLst/>
        </p:spPr>
        <p:txBody>
          <a:bodyPr rtlCol="0" anchor="ctr"/>
          <a:lstStyle/>
          <a:p>
            <a:pPr algn="ctr"/>
          </a:p>
        </p:txBody>
      </p:sp>
      <p:sp>
        <p:nvSpPr>
          <p:cNvPr id="24" name="Diamond 23"/>
          <p:cNvSpPr/>
          <p:nvPr/>
        </p:nvSpPr>
        <p:spPr>
          <a:xfrm>
            <a:off x="727987" y="542240"/>
            <a:ext cx="76809" cy="76809"/>
          </a:xfrm>
          <a:prstGeom prst="diamond">
            <a:avLst/>
          </a:prstGeom>
          <a:solidFill>
            <a:srgbClr val="29B5E8"/>
          </a:solidFill>
          <a:ln>
            <a:noFill/>
          </a:ln>
          <a:effectLst/>
        </p:spPr>
        <p:txBody>
          <a:bodyPr rtlCol="0" anchor="ctr"/>
          <a:lstStyle/>
          <a:p>
            <a:pPr algn="ctr"/>
          </a:p>
        </p:txBody>
      </p:sp>
      <p:sp>
        <p:nvSpPr>
          <p:cNvPr id="25" name="Oval 24"/>
          <p:cNvSpPr/>
          <p:nvPr/>
        </p:nvSpPr>
        <p:spPr>
          <a:xfrm>
            <a:off x="886603" y="630571"/>
            <a:ext cx="92171" cy="92171"/>
          </a:xfrm>
          <a:prstGeom prst="ellipse">
            <a:avLst/>
          </a:prstGeom>
          <a:solidFill>
            <a:srgbClr val="29B5E8"/>
          </a:solidFill>
          <a:ln>
            <a:noFill/>
          </a:ln>
          <a:effectLst/>
        </p:spPr>
        <p:txBody>
          <a:bodyPr rtlCol="0" anchor="ctr"/>
          <a:lstStyle/>
          <a:p>
            <a:pPr algn="ctr"/>
          </a:p>
        </p:txBody>
      </p:sp>
      <p:sp>
        <p:nvSpPr>
          <p:cNvPr id="26" name="TextBox 25"/>
          <p:cNvSpPr txBox="1"/>
          <p:nvPr/>
        </p:nvSpPr>
        <p:spPr>
          <a:xfrm>
            <a:off x="1325880" y="502920"/>
            <a:ext cx="5486400" cy="365760"/>
          </a:xfrm>
          <a:prstGeom prst="rect">
            <a:avLst/>
          </a:prstGeom>
          <a:noFill/>
        </p:spPr>
        <p:txBody>
          <a:bodyPr wrap="square">
            <a:spAutoFit/>
          </a:bodyPr>
          <a:lstStyle/>
          <a:p>
            <a:pPr algn="l">
              <a:defRPr sz="1300" b="1" i="0">
                <a:solidFill>
                  <a:srgbClr val="11567F"/>
                </a:solidFill>
                <a:latin typeface="Segoe UI Semibold"/>
              </a:defRPr>
            </a:pPr>
            <a:r>
              <a:rPr spc="250"/>
              <a:t>SNOWFLAKE ON AWS</a:t>
            </a:r>
          </a:p>
        </p:txBody>
      </p:sp>
      <p:sp>
        <p:nvSpPr>
          <p:cNvPr id="27" name="TextBox 26"/>
          <p:cNvSpPr txBox="1"/>
          <p:nvPr/>
        </p:nvSpPr>
        <p:spPr>
          <a:xfrm>
            <a:off x="8503920" y="502920"/>
            <a:ext cx="2953512" cy="365760"/>
          </a:xfrm>
          <a:prstGeom prst="rect">
            <a:avLst/>
          </a:prstGeom>
          <a:noFill/>
        </p:spPr>
        <p:txBody>
          <a:bodyPr wrap="square">
            <a:spAutoFit/>
          </a:bodyPr>
          <a:lstStyle/>
          <a:p>
            <a:pPr algn="r">
              <a:defRPr sz="1200" b="1" i="0">
                <a:solidFill>
                  <a:srgbClr val="5A7184"/>
                </a:solidFill>
                <a:latin typeface="Segoe UI"/>
              </a:defRPr>
            </a:pPr>
            <a:r>
              <a:rPr spc="150"/>
              <a:t>HANDS-ON LAB</a:t>
            </a:r>
          </a:p>
        </p:txBody>
      </p:sp>
      <p:sp>
        <p:nvSpPr>
          <p:cNvPr id="28" name="Rectangle 27"/>
          <p:cNvSpPr/>
          <p:nvPr/>
        </p:nvSpPr>
        <p:spPr>
          <a:xfrm>
            <a:off x="758952" y="1755648"/>
            <a:ext cx="73152" cy="310896"/>
          </a:xfrm>
          <a:prstGeom prst="rect">
            <a:avLst/>
          </a:prstGeom>
          <a:solidFill>
            <a:srgbClr val="29B5E8"/>
          </a:solidFill>
          <a:ln>
            <a:noFill/>
          </a:ln>
          <a:effectLst/>
        </p:spPr>
        <p:txBody>
          <a:bodyPr rtlCol="0" anchor="ctr"/>
          <a:lstStyle/>
          <a:p>
            <a:pPr algn="ctr"/>
          </a:p>
        </p:txBody>
      </p:sp>
      <p:sp>
        <p:nvSpPr>
          <p:cNvPr id="29" name="TextBox 28"/>
          <p:cNvSpPr txBox="1"/>
          <p:nvPr/>
        </p:nvSpPr>
        <p:spPr>
          <a:xfrm>
            <a:off x="978408" y="1700784"/>
            <a:ext cx="8229600" cy="365760"/>
          </a:xfrm>
          <a:prstGeom prst="rect">
            <a:avLst/>
          </a:prstGeom>
          <a:noFill/>
        </p:spPr>
        <p:txBody>
          <a:bodyPr wrap="square">
            <a:spAutoFit/>
          </a:bodyPr>
          <a:lstStyle/>
          <a:p>
            <a:pPr algn="l">
              <a:defRPr sz="1500" b="1" i="0">
                <a:solidFill>
                  <a:srgbClr val="29B5E8"/>
                </a:solidFill>
                <a:latin typeface="Segoe UI Semibold"/>
              </a:defRPr>
            </a:pPr>
            <a:r>
              <a:rPr spc="200"/>
              <a:t>INGESTION AND PIPELINE ORCHESTRATION</a:t>
            </a:r>
          </a:p>
        </p:txBody>
      </p:sp>
      <p:sp>
        <p:nvSpPr>
          <p:cNvPr id="30" name="TextBox 29"/>
          <p:cNvSpPr txBox="1"/>
          <p:nvPr/>
        </p:nvSpPr>
        <p:spPr>
          <a:xfrm>
            <a:off x="731520" y="2240280"/>
            <a:ext cx="9692640" cy="1188720"/>
          </a:xfrm>
          <a:prstGeom prst="rect">
            <a:avLst/>
          </a:prstGeom>
          <a:noFill/>
        </p:spPr>
        <p:txBody>
          <a:bodyPr wrap="square">
            <a:spAutoFit/>
          </a:bodyPr>
          <a:lstStyle/>
          <a:p>
            <a:pPr algn="l">
              <a:defRPr sz="4000" b="1" i="0">
                <a:solidFill>
                  <a:srgbClr val="11283B"/>
                </a:solidFill>
                <a:latin typeface="Segoe UI Semibold"/>
              </a:defRPr>
            </a:pPr>
            <a:r>
              <a:t>Fernridge Market</a:t>
            </a:r>
          </a:p>
        </p:txBody>
      </p:sp>
      <p:sp>
        <p:nvSpPr>
          <p:cNvPr id="31" name="TextBox 30"/>
          <p:cNvSpPr txBox="1"/>
          <p:nvPr/>
        </p:nvSpPr>
        <p:spPr>
          <a:xfrm>
            <a:off x="731520" y="3200400"/>
            <a:ext cx="8961120" cy="914400"/>
          </a:xfrm>
          <a:prstGeom prst="rect">
            <a:avLst/>
          </a:prstGeom>
          <a:noFill/>
        </p:spPr>
        <p:txBody>
          <a:bodyPr wrap="square">
            <a:spAutoFit/>
          </a:bodyPr>
          <a:lstStyle/>
          <a:p>
            <a:pPr algn="l">
              <a:defRPr sz="2600" b="1" i="0">
                <a:solidFill>
                  <a:srgbClr val="29B5E8"/>
                </a:solidFill>
                <a:latin typeface="Segoe UI Semibold"/>
              </a:defRPr>
            </a:pPr>
            <a:r>
              <a:t>Load three sellers in three formats, then automate what happens next</a:t>
            </a:r>
          </a:p>
        </p:txBody>
      </p:sp>
      <p:sp>
        <p:nvSpPr>
          <p:cNvPr id="32" name="Rectangle 31"/>
          <p:cNvSpPr/>
          <p:nvPr/>
        </p:nvSpPr>
        <p:spPr>
          <a:xfrm>
            <a:off x="731520" y="4315968"/>
            <a:ext cx="2743200" cy="27432"/>
          </a:xfrm>
          <a:prstGeom prst="rect">
            <a:avLst/>
          </a:prstGeom>
          <a:solidFill>
            <a:srgbClr val="29B5E8"/>
          </a:solidFill>
          <a:ln>
            <a:noFill/>
          </a:ln>
          <a:effectLst/>
        </p:spPr>
        <p:txBody>
          <a:bodyPr rtlCol="0" anchor="ctr"/>
          <a:lstStyle/>
          <a:p>
            <a:pPr algn="ctr"/>
          </a:p>
        </p:txBody>
      </p:sp>
      <p:sp>
        <p:nvSpPr>
          <p:cNvPr id="33" name="TextBox 32"/>
          <p:cNvSpPr txBox="1"/>
          <p:nvPr/>
        </p:nvSpPr>
        <p:spPr>
          <a:xfrm>
            <a:off x="731520" y="4526280"/>
            <a:ext cx="8595360" cy="640080"/>
          </a:xfrm>
          <a:prstGeom prst="rect">
            <a:avLst/>
          </a:prstGeom>
          <a:noFill/>
        </p:spPr>
        <p:txBody>
          <a:bodyPr wrap="square">
            <a:spAutoFit/>
          </a:bodyPr>
          <a:lstStyle/>
          <a:p>
            <a:pPr algn="l">
              <a:defRPr sz="2000" b="0" i="0">
                <a:solidFill>
                  <a:srgbClr val="5A7184"/>
                </a:solidFill>
                <a:latin typeface="Segoe UI Semibold"/>
              </a:defRPr>
            </a:pPr>
            <a:r>
              <a:t>Intermediate  •  Should take you no more than a couple of hours</a:t>
            </a:r>
          </a:p>
        </p:txBody>
      </p:sp>
      <p:sp>
        <p:nvSpPr>
          <p:cNvPr id="34" name="TextBox 33"/>
          <p:cNvSpPr txBox="1"/>
          <p:nvPr/>
        </p:nvSpPr>
        <p:spPr>
          <a:xfrm>
            <a:off x="731520" y="5230368"/>
            <a:ext cx="8595360" cy="548640"/>
          </a:xfrm>
          <a:prstGeom prst="rect">
            <a:avLst/>
          </a:prstGeom>
          <a:noFill/>
        </p:spPr>
        <p:txBody>
          <a:bodyPr wrap="square">
            <a:spAutoFit/>
          </a:bodyPr>
          <a:lstStyle/>
          <a:p>
            <a:pPr algn="l">
              <a:defRPr sz="1500" b="0" i="0">
                <a:solidFill>
                  <a:srgbClr val="5A7184"/>
                </a:solidFill>
                <a:latin typeface="Segoe UI"/>
              </a:defRPr>
            </a:pPr>
            <a:r>
              <a:t>Uses what you learned in Section 5 and Section 6</a:t>
            </a:r>
          </a:p>
        </p:txBody>
      </p:sp>
      <p:sp>
        <p:nvSpPr>
          <p:cNvPr id="35" name="TextBox 3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The Scenario</a:t>
            </a:r>
          </a:p>
        </p:txBody>
      </p:sp>
      <p:sp>
        <p:nvSpPr>
          <p:cNvPr id="7" name="Rectangle 6"/>
          <p:cNvSpPr/>
          <p:nvPr/>
        </p:nvSpPr>
        <p:spPr>
          <a:xfrm>
            <a:off x="731520" y="1005840"/>
            <a:ext cx="2286000" cy="27432"/>
          </a:xfrm>
          <a:prstGeom prst="rect">
            <a:avLst/>
          </a:prstGeom>
          <a:solidFill>
            <a:srgbClr val="E8833A"/>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An online marketplace fed by three seller integrations</a:t>
            </a:r>
          </a:p>
        </p:txBody>
      </p:sp>
      <p:sp>
        <p:nvSpPr>
          <p:cNvPr id="9" name="Rounded Rectangle 8"/>
          <p:cNvSpPr/>
          <p:nvPr/>
        </p:nvSpPr>
        <p:spPr>
          <a:xfrm>
            <a:off x="731520" y="1783080"/>
            <a:ext cx="10698480" cy="1005840"/>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1051560" y="2011680"/>
            <a:ext cx="548640" cy="548640"/>
          </a:xfrm>
          <a:prstGeom prst="ellipse">
            <a:avLst/>
          </a:prstGeom>
          <a:solidFill>
            <a:srgbClr val="29B5E8"/>
          </a:solidFill>
          <a:ln>
            <a:noFill/>
          </a:ln>
          <a:effectLst/>
        </p:spPr>
        <p:txBody>
          <a:bodyPr rtlCol="0" anchor="ctr" wrap="none"/>
          <a:lstStyle/>
          <a:p>
            <a:pPr algn="ctr">
              <a:defRPr sz="1000">
                <a:solidFill>
                  <a:srgbClr val="FFFFFF"/>
                </a:solidFill>
              </a:defRPr>
            </a:pPr>
            <a:r>
              <a:t>📦</a:t>
            </a:r>
          </a:p>
        </p:txBody>
      </p:sp>
      <p:sp>
        <p:nvSpPr>
          <p:cNvPr id="11" name="TextBox 10"/>
          <p:cNvSpPr txBox="1"/>
          <p:nvPr/>
        </p:nvSpPr>
        <p:spPr>
          <a:xfrm>
            <a:off x="1828800" y="1929384"/>
            <a:ext cx="9326880" cy="411480"/>
          </a:xfrm>
          <a:prstGeom prst="rect">
            <a:avLst/>
          </a:prstGeom>
          <a:noFill/>
        </p:spPr>
        <p:txBody>
          <a:bodyPr wrap="square">
            <a:spAutoFit/>
          </a:bodyPr>
          <a:lstStyle/>
          <a:p>
            <a:pPr algn="l">
              <a:defRPr sz="1800" b="1" i="0">
                <a:solidFill>
                  <a:srgbClr val="11283B"/>
                </a:solidFill>
                <a:latin typeface="Segoe UI"/>
              </a:defRPr>
            </a:pPr>
            <a:r>
              <a:t>Three sellers, three file formats</a:t>
            </a:r>
          </a:p>
        </p:txBody>
      </p:sp>
      <p:sp>
        <p:nvSpPr>
          <p:cNvPr id="12" name="TextBox 11"/>
          <p:cNvSpPr txBox="1"/>
          <p:nvPr/>
        </p:nvSpPr>
        <p:spPr>
          <a:xfrm>
            <a:off x="1828800" y="2350008"/>
            <a:ext cx="9326880" cy="402336"/>
          </a:xfrm>
          <a:prstGeom prst="rect">
            <a:avLst/>
          </a:prstGeom>
          <a:noFill/>
        </p:spPr>
        <p:txBody>
          <a:bodyPr wrap="square">
            <a:spAutoFit/>
          </a:bodyPr>
          <a:lstStyle/>
          <a:p>
            <a:pPr algn="l">
              <a:defRPr sz="1350" b="0" i="0">
                <a:solidFill>
                  <a:srgbClr val="5A7184"/>
                </a:solidFill>
                <a:latin typeface="Segoe UI"/>
              </a:defRPr>
            </a:pPr>
            <a:r>
              <a:t>Seller A exports CSV, Seller B sends nested JSON, and Seller C drops Parquet files all day long.</a:t>
            </a:r>
          </a:p>
        </p:txBody>
      </p:sp>
      <p:sp>
        <p:nvSpPr>
          <p:cNvPr id="13" name="Rounded Rectangle 12"/>
          <p:cNvSpPr/>
          <p:nvPr/>
        </p:nvSpPr>
        <p:spPr>
          <a:xfrm>
            <a:off x="731520" y="2916936"/>
            <a:ext cx="10698480" cy="1005840"/>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4" name="Oval 13"/>
          <p:cNvSpPr/>
          <p:nvPr/>
        </p:nvSpPr>
        <p:spPr>
          <a:xfrm>
            <a:off x="1051560" y="3145536"/>
            <a:ext cx="548640" cy="548640"/>
          </a:xfrm>
          <a:prstGeom prst="ellipse">
            <a:avLst/>
          </a:prstGeom>
          <a:solidFill>
            <a:srgbClr val="E8833A"/>
          </a:solidFill>
          <a:ln>
            <a:noFill/>
          </a:ln>
          <a:effectLst/>
        </p:spPr>
        <p:txBody>
          <a:bodyPr rtlCol="0" anchor="ctr" wrap="none"/>
          <a:lstStyle/>
          <a:p>
            <a:pPr algn="ctr">
              <a:defRPr sz="1000">
                <a:solidFill>
                  <a:srgbClr val="FFFFFF"/>
                </a:solidFill>
              </a:defRPr>
            </a:pPr>
            <a:r>
              <a:t>🧾</a:t>
            </a:r>
          </a:p>
        </p:txBody>
      </p:sp>
      <p:sp>
        <p:nvSpPr>
          <p:cNvPr id="15" name="TextBox 14"/>
          <p:cNvSpPr txBox="1"/>
          <p:nvPr/>
        </p:nvSpPr>
        <p:spPr>
          <a:xfrm>
            <a:off x="1828800" y="3063240"/>
            <a:ext cx="9326880" cy="411480"/>
          </a:xfrm>
          <a:prstGeom prst="rect">
            <a:avLst/>
          </a:prstGeom>
          <a:noFill/>
        </p:spPr>
        <p:txBody>
          <a:bodyPr wrap="square">
            <a:spAutoFit/>
          </a:bodyPr>
          <a:lstStyle/>
          <a:p>
            <a:pPr algn="l">
              <a:defRPr sz="1800" b="1" i="0">
                <a:solidFill>
                  <a:srgbClr val="11283B"/>
                </a:solidFill>
                <a:latin typeface="Segoe UI"/>
              </a:defRPr>
            </a:pPr>
            <a:r>
              <a:t>Finance needs a daily settlement file</a:t>
            </a:r>
          </a:p>
        </p:txBody>
      </p:sp>
      <p:sp>
        <p:nvSpPr>
          <p:cNvPr id="16" name="TextBox 15"/>
          <p:cNvSpPr txBox="1"/>
          <p:nvPr/>
        </p:nvSpPr>
        <p:spPr>
          <a:xfrm>
            <a:off x="1828800" y="3483864"/>
            <a:ext cx="9326880" cy="402336"/>
          </a:xfrm>
          <a:prstGeom prst="rect">
            <a:avLst/>
          </a:prstGeom>
          <a:noFill/>
        </p:spPr>
        <p:txBody>
          <a:bodyPr wrap="square">
            <a:spAutoFit/>
          </a:bodyPr>
          <a:lstStyle/>
          <a:p>
            <a:pPr algn="l">
              <a:defRPr sz="1350" b="0" i="0">
                <a:solidFill>
                  <a:srgbClr val="5A7184"/>
                </a:solidFill>
                <a:latin typeface="Segoe UI"/>
              </a:defRPr>
            </a:pPr>
            <a:r>
              <a:t>One combined file of every order, so they can reconcile the payouts to sellers.</a:t>
            </a:r>
          </a:p>
        </p:txBody>
      </p:sp>
      <p:sp>
        <p:nvSpPr>
          <p:cNvPr id="17" name="Rounded Rectangle 16"/>
          <p:cNvSpPr/>
          <p:nvPr/>
        </p:nvSpPr>
        <p:spPr>
          <a:xfrm>
            <a:off x="731520" y="4050792"/>
            <a:ext cx="10698480" cy="1005840"/>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18" name="Oval 17"/>
          <p:cNvSpPr/>
          <p:nvPr/>
        </p:nvSpPr>
        <p:spPr>
          <a:xfrm>
            <a:off x="1051560" y="4279392"/>
            <a:ext cx="548640" cy="548640"/>
          </a:xfrm>
          <a:prstGeom prst="ellipse">
            <a:avLst/>
          </a:prstGeom>
          <a:solidFill>
            <a:srgbClr val="E5484D"/>
          </a:solidFill>
          <a:ln>
            <a:noFill/>
          </a:ln>
          <a:effectLst/>
        </p:spPr>
        <p:txBody>
          <a:bodyPr rtlCol="0" anchor="ctr" wrap="none"/>
          <a:lstStyle/>
          <a:p>
            <a:pPr algn="ctr">
              <a:defRPr sz="1000">
                <a:solidFill>
                  <a:srgbClr val="FFFFFF"/>
                </a:solidFill>
              </a:defRPr>
            </a:pPr>
            <a:r>
              <a:t>🔁</a:t>
            </a:r>
          </a:p>
        </p:txBody>
      </p:sp>
      <p:sp>
        <p:nvSpPr>
          <p:cNvPr id="19" name="TextBox 18"/>
          <p:cNvSpPr txBox="1"/>
          <p:nvPr/>
        </p:nvSpPr>
        <p:spPr>
          <a:xfrm>
            <a:off x="1828800" y="4197096"/>
            <a:ext cx="9326880" cy="411480"/>
          </a:xfrm>
          <a:prstGeom prst="rect">
            <a:avLst/>
          </a:prstGeom>
          <a:noFill/>
        </p:spPr>
        <p:txBody>
          <a:bodyPr wrap="square">
            <a:spAutoFit/>
          </a:bodyPr>
          <a:lstStyle/>
          <a:p>
            <a:pPr algn="l">
              <a:defRPr sz="1800" b="1" i="0">
                <a:solidFill>
                  <a:srgbClr val="11283B"/>
                </a:solidFill>
                <a:latin typeface="Segoe UI"/>
              </a:defRPr>
            </a:pPr>
            <a:r>
              <a:t>And every day, orders change</a:t>
            </a:r>
          </a:p>
        </p:txBody>
      </p:sp>
      <p:sp>
        <p:nvSpPr>
          <p:cNvPr id="20" name="TextBox 19"/>
          <p:cNvSpPr txBox="1"/>
          <p:nvPr/>
        </p:nvSpPr>
        <p:spPr>
          <a:xfrm>
            <a:off x="1828800" y="4617720"/>
            <a:ext cx="9326880" cy="402336"/>
          </a:xfrm>
          <a:prstGeom prst="rect">
            <a:avLst/>
          </a:prstGeom>
          <a:noFill/>
        </p:spPr>
        <p:txBody>
          <a:bodyPr wrap="square">
            <a:spAutoFit/>
          </a:bodyPr>
          <a:lstStyle/>
          <a:p>
            <a:pPr algn="l">
              <a:defRPr sz="1350" b="0" i="0">
                <a:solidFill>
                  <a:srgbClr val="5A7184"/>
                </a:solidFill>
                <a:latin typeface="Segoe UI"/>
              </a:defRPr>
            </a:pPr>
            <a:r>
              <a:t>Late orders arrive, amounts get corrected, orders get cancelled. Payouts and fraud checks have to keep up.</a:t>
            </a:r>
          </a:p>
        </p:txBody>
      </p:sp>
      <p:sp>
        <p:nvSpPr>
          <p:cNvPr id="21" name="Rounded Rectangle 20"/>
          <p:cNvSpPr/>
          <p:nvPr/>
        </p:nvSpPr>
        <p:spPr>
          <a:xfrm>
            <a:off x="731520" y="5230368"/>
            <a:ext cx="10698480" cy="960120"/>
          </a:xfrm>
          <a:prstGeom prst="roundRect">
            <a:avLst>
              <a:gd name="adj" fmla="val 8000"/>
            </a:avLst>
          </a:prstGeom>
          <a:solidFill>
            <a:srgbClr val="EAF3FA"/>
          </a:solidFill>
          <a:ln w="19050">
            <a:solidFill>
              <a:srgbClr val="1BA37A"/>
            </a:solidFill>
          </a:ln>
          <a:effectLst/>
        </p:spPr>
        <p:txBody>
          <a:bodyPr rtlCol="0" anchor="ctr"/>
          <a:lstStyle/>
          <a:p>
            <a:pPr algn="ctr"/>
          </a:p>
        </p:txBody>
      </p:sp>
      <p:sp>
        <p:nvSpPr>
          <p:cNvPr id="22" name="Oval 21"/>
          <p:cNvSpPr/>
          <p:nvPr/>
        </p:nvSpPr>
        <p:spPr>
          <a:xfrm>
            <a:off x="987552" y="5504688"/>
            <a:ext cx="420624" cy="420624"/>
          </a:xfrm>
          <a:prstGeom prst="ellipse">
            <a:avLst/>
          </a:prstGeom>
          <a:solidFill>
            <a:srgbClr val="1BA37A"/>
          </a:solidFill>
          <a:ln>
            <a:noFill/>
          </a:ln>
          <a:effectLst/>
        </p:spPr>
        <p:txBody>
          <a:bodyPr rtlCol="0" anchor="ctr" wrap="none"/>
          <a:lstStyle/>
          <a:p>
            <a:pPr algn="ctr">
              <a:defRPr sz="800">
                <a:solidFill>
                  <a:srgbClr val="FFFFFF"/>
                </a:solidFill>
              </a:defRPr>
            </a:pPr>
            <a:r>
              <a:t>📤</a:t>
            </a:r>
          </a:p>
        </p:txBody>
      </p:sp>
      <p:sp>
        <p:nvSpPr>
          <p:cNvPr id="23" name="TextBox 22"/>
          <p:cNvSpPr txBox="1"/>
          <p:nvPr/>
        </p:nvSpPr>
        <p:spPr>
          <a:xfrm>
            <a:off x="1645920" y="5321807"/>
            <a:ext cx="9509760" cy="274320"/>
          </a:xfrm>
          <a:prstGeom prst="rect">
            <a:avLst/>
          </a:prstGeom>
          <a:noFill/>
        </p:spPr>
        <p:txBody>
          <a:bodyPr wrap="square">
            <a:spAutoFit/>
          </a:bodyPr>
          <a:lstStyle/>
          <a:p>
            <a:pPr algn="l">
              <a:defRPr sz="1050" b="1" i="0">
                <a:solidFill>
                  <a:srgbClr val="5A7184"/>
                </a:solidFill>
                <a:latin typeface="Segoe UI"/>
              </a:defRPr>
            </a:pPr>
            <a:r>
              <a:t>THE DATA</a:t>
            </a:r>
          </a:p>
        </p:txBody>
      </p:sp>
      <p:sp>
        <p:nvSpPr>
          <p:cNvPr id="24" name="TextBox 23"/>
          <p:cNvSpPr txBox="1"/>
          <p:nvPr/>
        </p:nvSpPr>
        <p:spPr>
          <a:xfrm>
            <a:off x="1645920" y="5577840"/>
            <a:ext cx="9601200" cy="566928"/>
          </a:xfrm>
          <a:prstGeom prst="rect">
            <a:avLst/>
          </a:prstGeom>
          <a:noFill/>
        </p:spPr>
        <p:txBody>
          <a:bodyPr wrap="square">
            <a:spAutoFit/>
          </a:bodyPr>
          <a:lstStyle/>
          <a:p>
            <a:pPr algn="l">
              <a:defRPr sz="1350" b="0" i="0">
                <a:solidFill>
                  <a:srgbClr val="11283B"/>
                </a:solidFill>
                <a:latin typeface="Segoe UI"/>
              </a:defRPr>
            </a:pPr>
            <a:r>
              <a:t>Three small files, one per seller, in the starter files. They go into an internal stage, so no AWS setup is needed.</a:t>
            </a:r>
          </a:p>
        </p:txBody>
      </p:sp>
      <p:sp>
        <p:nvSpPr>
          <p:cNvPr id="25" name="TextBox 2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Your Tasks</a:t>
            </a:r>
          </a:p>
        </p:txBody>
      </p:sp>
      <p:sp>
        <p:nvSpPr>
          <p:cNvPr id="7" name="Rectangle 6"/>
          <p:cNvSpPr/>
          <p:nvPr/>
        </p:nvSpPr>
        <p:spPr>
          <a:xfrm>
            <a:off x="731520" y="1005840"/>
            <a:ext cx="2286000" cy="27432"/>
          </a:xfrm>
          <a:prstGeom prst="rect">
            <a:avLst/>
          </a:prstGeom>
          <a:solidFill>
            <a:srgbClr val="29B5E8"/>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Try it yourself first with the starter files, then compare with the full solution</a:t>
            </a:r>
          </a:p>
        </p:txBody>
      </p:sp>
      <p:sp>
        <p:nvSpPr>
          <p:cNvPr id="9" name="Rounded Rectangle 8"/>
          <p:cNvSpPr/>
          <p:nvPr/>
        </p:nvSpPr>
        <p:spPr>
          <a:xfrm>
            <a:off x="731520" y="1691640"/>
            <a:ext cx="5257800" cy="603504"/>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886968" y="1810512"/>
            <a:ext cx="365760" cy="365760"/>
          </a:xfrm>
          <a:prstGeom prst="ellipse">
            <a:avLst/>
          </a:prstGeom>
          <a:solidFill>
            <a:srgbClr val="29B5E8"/>
          </a:solidFill>
          <a:ln>
            <a:noFill/>
          </a:ln>
          <a:effectLst/>
        </p:spPr>
        <p:txBody>
          <a:bodyPr rtlCol="0" anchor="ctr" wrap="none"/>
          <a:lstStyle/>
          <a:p>
            <a:pPr algn="ctr">
              <a:defRPr sz="700">
                <a:solidFill>
                  <a:srgbClr val="FFFFFF"/>
                </a:solidFill>
              </a:defRPr>
            </a:pPr>
            <a:r>
              <a:t>1</a:t>
            </a:r>
          </a:p>
        </p:txBody>
      </p:sp>
      <p:sp>
        <p:nvSpPr>
          <p:cNvPr id="11" name="TextBox 10"/>
          <p:cNvSpPr txBox="1"/>
          <p:nvPr/>
        </p:nvSpPr>
        <p:spPr>
          <a:xfrm>
            <a:off x="1417320" y="1691640"/>
            <a:ext cx="4434840" cy="603504"/>
          </a:xfrm>
          <a:prstGeom prst="rect">
            <a:avLst/>
          </a:prstGeom>
          <a:noFill/>
        </p:spPr>
        <p:txBody>
          <a:bodyPr wrap="square" anchor="ctr">
            <a:spAutoFit/>
          </a:bodyPr>
          <a:lstStyle/>
          <a:p>
            <a:pPr algn="l">
              <a:defRPr sz="1350" b="1" i="0">
                <a:solidFill>
                  <a:srgbClr val="11283B"/>
                </a:solidFill>
                <a:latin typeface="Segoe UI"/>
              </a:defRPr>
            </a:pPr>
            <a:r>
              <a:t>Load all three sellers' files into Snowflake</a:t>
            </a:r>
          </a:p>
        </p:txBody>
      </p:sp>
      <p:sp>
        <p:nvSpPr>
          <p:cNvPr id="12" name="Rounded Rectangle 11"/>
          <p:cNvSpPr/>
          <p:nvPr/>
        </p:nvSpPr>
        <p:spPr>
          <a:xfrm>
            <a:off x="6172200" y="1691640"/>
            <a:ext cx="5257800" cy="603504"/>
          </a:xfrm>
          <a:prstGeom prst="roundRect">
            <a:avLst>
              <a:gd name="adj" fmla="val 8000"/>
            </a:avLst>
          </a:prstGeom>
          <a:solidFill>
            <a:srgbClr val="F4F8FB"/>
          </a:solidFill>
          <a:ln w="19050">
            <a:solidFill>
              <a:srgbClr val="6B5BD2"/>
            </a:solidFill>
          </a:ln>
          <a:effectLst/>
        </p:spPr>
        <p:txBody>
          <a:bodyPr rtlCol="0" anchor="ctr"/>
          <a:lstStyle/>
          <a:p>
            <a:pPr algn="ctr"/>
          </a:p>
        </p:txBody>
      </p:sp>
      <p:sp>
        <p:nvSpPr>
          <p:cNvPr id="13" name="Oval 12"/>
          <p:cNvSpPr/>
          <p:nvPr/>
        </p:nvSpPr>
        <p:spPr>
          <a:xfrm>
            <a:off x="6327648" y="1810512"/>
            <a:ext cx="365760" cy="365760"/>
          </a:xfrm>
          <a:prstGeom prst="ellipse">
            <a:avLst/>
          </a:prstGeom>
          <a:solidFill>
            <a:srgbClr val="6B5BD2"/>
          </a:solidFill>
          <a:ln>
            <a:noFill/>
          </a:ln>
          <a:effectLst/>
        </p:spPr>
        <p:txBody>
          <a:bodyPr rtlCol="0" anchor="ctr" wrap="none"/>
          <a:lstStyle/>
          <a:p>
            <a:pPr algn="ctr">
              <a:defRPr sz="700">
                <a:solidFill>
                  <a:srgbClr val="FFFFFF"/>
                </a:solidFill>
              </a:defRPr>
            </a:pPr>
            <a:r>
              <a:t>2</a:t>
            </a:r>
          </a:p>
        </p:txBody>
      </p:sp>
      <p:sp>
        <p:nvSpPr>
          <p:cNvPr id="14" name="TextBox 13"/>
          <p:cNvSpPr txBox="1"/>
          <p:nvPr/>
        </p:nvSpPr>
        <p:spPr>
          <a:xfrm>
            <a:off x="6858000" y="1691640"/>
            <a:ext cx="4434840" cy="603504"/>
          </a:xfrm>
          <a:prstGeom prst="rect">
            <a:avLst/>
          </a:prstGeom>
          <a:noFill/>
        </p:spPr>
        <p:txBody>
          <a:bodyPr wrap="square" anchor="ctr">
            <a:spAutoFit/>
          </a:bodyPr>
          <a:lstStyle/>
          <a:p>
            <a:pPr algn="l">
              <a:defRPr sz="1350" b="1" i="0">
                <a:solidFill>
                  <a:srgbClr val="11283B"/>
                </a:solidFill>
                <a:latin typeface="Segoe UI"/>
              </a:defRPr>
            </a:pPr>
            <a:r>
              <a:t>Load Seller C's files automatically as they arrive</a:t>
            </a:r>
          </a:p>
        </p:txBody>
      </p:sp>
      <p:sp>
        <p:nvSpPr>
          <p:cNvPr id="15" name="Rounded Rectangle 14"/>
          <p:cNvSpPr/>
          <p:nvPr/>
        </p:nvSpPr>
        <p:spPr>
          <a:xfrm>
            <a:off x="731520" y="2404872"/>
            <a:ext cx="5257800" cy="603504"/>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6" name="Oval 15"/>
          <p:cNvSpPr/>
          <p:nvPr/>
        </p:nvSpPr>
        <p:spPr>
          <a:xfrm>
            <a:off x="886968" y="2523744"/>
            <a:ext cx="365760" cy="365760"/>
          </a:xfrm>
          <a:prstGeom prst="ellipse">
            <a:avLst/>
          </a:prstGeom>
          <a:solidFill>
            <a:srgbClr val="E8833A"/>
          </a:solidFill>
          <a:ln>
            <a:noFill/>
          </a:ln>
          <a:effectLst/>
        </p:spPr>
        <p:txBody>
          <a:bodyPr rtlCol="0" anchor="ctr" wrap="none"/>
          <a:lstStyle/>
          <a:p>
            <a:pPr algn="ctr">
              <a:defRPr sz="700">
                <a:solidFill>
                  <a:srgbClr val="FFFFFF"/>
                </a:solidFill>
              </a:defRPr>
            </a:pPr>
            <a:r>
              <a:t>3</a:t>
            </a:r>
          </a:p>
        </p:txBody>
      </p:sp>
      <p:sp>
        <p:nvSpPr>
          <p:cNvPr id="17" name="TextBox 16"/>
          <p:cNvSpPr txBox="1"/>
          <p:nvPr/>
        </p:nvSpPr>
        <p:spPr>
          <a:xfrm>
            <a:off x="1417320" y="2404872"/>
            <a:ext cx="4434840" cy="603504"/>
          </a:xfrm>
          <a:prstGeom prst="rect">
            <a:avLst/>
          </a:prstGeom>
          <a:noFill/>
        </p:spPr>
        <p:txBody>
          <a:bodyPr wrap="square" anchor="ctr">
            <a:spAutoFit/>
          </a:bodyPr>
          <a:lstStyle/>
          <a:p>
            <a:pPr algn="l">
              <a:defRPr sz="1350" b="1" i="0">
                <a:solidFill>
                  <a:srgbClr val="11283B"/>
                </a:solidFill>
                <a:latin typeface="Segoe UI"/>
              </a:defRPr>
            </a:pPr>
            <a:r>
              <a:t>Combine every order and send finance a settlement file</a:t>
            </a:r>
          </a:p>
        </p:txBody>
      </p:sp>
      <p:sp>
        <p:nvSpPr>
          <p:cNvPr id="18" name="Rounded Rectangle 17"/>
          <p:cNvSpPr/>
          <p:nvPr/>
        </p:nvSpPr>
        <p:spPr>
          <a:xfrm>
            <a:off x="6172200" y="2404872"/>
            <a:ext cx="5257800" cy="603504"/>
          </a:xfrm>
          <a:prstGeom prst="roundRect">
            <a:avLst>
              <a:gd name="adj" fmla="val 8000"/>
            </a:avLst>
          </a:prstGeom>
          <a:solidFill>
            <a:srgbClr val="F4F8FB"/>
          </a:solidFill>
          <a:ln w="19050">
            <a:solidFill>
              <a:srgbClr val="1BA37A"/>
            </a:solidFill>
          </a:ln>
          <a:effectLst/>
        </p:spPr>
        <p:txBody>
          <a:bodyPr rtlCol="0" anchor="ctr"/>
          <a:lstStyle/>
          <a:p>
            <a:pPr algn="ctr"/>
          </a:p>
        </p:txBody>
      </p:sp>
      <p:sp>
        <p:nvSpPr>
          <p:cNvPr id="19" name="Oval 18"/>
          <p:cNvSpPr/>
          <p:nvPr/>
        </p:nvSpPr>
        <p:spPr>
          <a:xfrm>
            <a:off x="6327648" y="2523744"/>
            <a:ext cx="365760" cy="365760"/>
          </a:xfrm>
          <a:prstGeom prst="ellipse">
            <a:avLst/>
          </a:prstGeom>
          <a:solidFill>
            <a:srgbClr val="1BA37A"/>
          </a:solidFill>
          <a:ln>
            <a:noFill/>
          </a:ln>
          <a:effectLst/>
        </p:spPr>
        <p:txBody>
          <a:bodyPr rtlCol="0" anchor="ctr" wrap="none"/>
          <a:lstStyle/>
          <a:p>
            <a:pPr algn="ctr">
              <a:defRPr sz="700">
                <a:solidFill>
                  <a:srgbClr val="FFFFFF"/>
                </a:solidFill>
              </a:defRPr>
            </a:pPr>
            <a:r>
              <a:t>4</a:t>
            </a:r>
          </a:p>
        </p:txBody>
      </p:sp>
      <p:sp>
        <p:nvSpPr>
          <p:cNvPr id="20" name="TextBox 19"/>
          <p:cNvSpPr txBox="1"/>
          <p:nvPr/>
        </p:nvSpPr>
        <p:spPr>
          <a:xfrm>
            <a:off x="6858000" y="2404872"/>
            <a:ext cx="4434840" cy="603504"/>
          </a:xfrm>
          <a:prstGeom prst="rect">
            <a:avLst/>
          </a:prstGeom>
          <a:noFill/>
        </p:spPr>
        <p:txBody>
          <a:bodyPr wrap="square" anchor="ctr">
            <a:spAutoFit/>
          </a:bodyPr>
          <a:lstStyle/>
          <a:p>
            <a:pPr algn="l">
              <a:defRPr sz="1350" b="1" i="0">
                <a:solidFill>
                  <a:srgbClr val="11283B"/>
                </a:solidFill>
                <a:latin typeface="Segoe UI"/>
              </a:defRPr>
            </a:pPr>
            <a:r>
              <a:t>Track every change to the orders as it happens</a:t>
            </a:r>
          </a:p>
        </p:txBody>
      </p:sp>
      <p:sp>
        <p:nvSpPr>
          <p:cNvPr id="21" name="Rounded Rectangle 20"/>
          <p:cNvSpPr/>
          <p:nvPr/>
        </p:nvSpPr>
        <p:spPr>
          <a:xfrm>
            <a:off x="731520" y="3118104"/>
            <a:ext cx="5257800" cy="603504"/>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22" name="Oval 21"/>
          <p:cNvSpPr/>
          <p:nvPr/>
        </p:nvSpPr>
        <p:spPr>
          <a:xfrm>
            <a:off x="886968" y="3236976"/>
            <a:ext cx="365760" cy="365760"/>
          </a:xfrm>
          <a:prstGeom prst="ellipse">
            <a:avLst/>
          </a:prstGeom>
          <a:solidFill>
            <a:srgbClr val="E5484D"/>
          </a:solidFill>
          <a:ln>
            <a:noFill/>
          </a:ln>
          <a:effectLst/>
        </p:spPr>
        <p:txBody>
          <a:bodyPr rtlCol="0" anchor="ctr" wrap="none"/>
          <a:lstStyle/>
          <a:p>
            <a:pPr algn="ctr">
              <a:defRPr sz="700">
                <a:solidFill>
                  <a:srgbClr val="FFFFFF"/>
                </a:solidFill>
              </a:defRPr>
            </a:pPr>
            <a:r>
              <a:t>5</a:t>
            </a:r>
          </a:p>
        </p:txBody>
      </p:sp>
      <p:sp>
        <p:nvSpPr>
          <p:cNvPr id="23" name="TextBox 22"/>
          <p:cNvSpPr txBox="1"/>
          <p:nvPr/>
        </p:nvSpPr>
        <p:spPr>
          <a:xfrm>
            <a:off x="1417320" y="3118104"/>
            <a:ext cx="4434840" cy="603504"/>
          </a:xfrm>
          <a:prstGeom prst="rect">
            <a:avLst/>
          </a:prstGeom>
          <a:noFill/>
        </p:spPr>
        <p:txBody>
          <a:bodyPr wrap="square" anchor="ctr">
            <a:spAutoFit/>
          </a:bodyPr>
          <a:lstStyle/>
          <a:p>
            <a:pPr algn="l">
              <a:defRPr sz="1350" b="1" i="0">
                <a:solidFill>
                  <a:srgbClr val="11283B"/>
                </a:solidFill>
                <a:latin typeface="Segoe UI"/>
              </a:defRPr>
            </a:pPr>
            <a:r>
              <a:t>Keep payouts and fraud flags up to date on their own</a:t>
            </a:r>
          </a:p>
        </p:txBody>
      </p:sp>
      <p:sp>
        <p:nvSpPr>
          <p:cNvPr id="24" name="Rounded Rectangle 23"/>
          <p:cNvSpPr/>
          <p:nvPr/>
        </p:nvSpPr>
        <p:spPr>
          <a:xfrm>
            <a:off x="6172200" y="3118104"/>
            <a:ext cx="5257800" cy="603504"/>
          </a:xfrm>
          <a:prstGeom prst="roundRect">
            <a:avLst>
              <a:gd name="adj" fmla="val 8000"/>
            </a:avLst>
          </a:prstGeom>
          <a:solidFill>
            <a:srgbClr val="F4F8FB"/>
          </a:solidFill>
          <a:ln w="19050">
            <a:solidFill>
              <a:srgbClr val="11567F"/>
            </a:solidFill>
          </a:ln>
          <a:effectLst/>
        </p:spPr>
        <p:txBody>
          <a:bodyPr rtlCol="0" anchor="ctr"/>
          <a:lstStyle/>
          <a:p>
            <a:pPr algn="ctr"/>
          </a:p>
        </p:txBody>
      </p:sp>
      <p:sp>
        <p:nvSpPr>
          <p:cNvPr id="25" name="Oval 24"/>
          <p:cNvSpPr/>
          <p:nvPr/>
        </p:nvSpPr>
        <p:spPr>
          <a:xfrm>
            <a:off x="6327648" y="3236976"/>
            <a:ext cx="365760" cy="365760"/>
          </a:xfrm>
          <a:prstGeom prst="ellipse">
            <a:avLst/>
          </a:prstGeom>
          <a:solidFill>
            <a:srgbClr val="11567F"/>
          </a:solidFill>
          <a:ln>
            <a:noFill/>
          </a:ln>
          <a:effectLst/>
        </p:spPr>
        <p:txBody>
          <a:bodyPr rtlCol="0" anchor="ctr" wrap="none"/>
          <a:lstStyle/>
          <a:p>
            <a:pPr algn="ctr">
              <a:defRPr sz="700">
                <a:solidFill>
                  <a:srgbClr val="FFFFFF"/>
                </a:solidFill>
              </a:defRPr>
            </a:pPr>
            <a:r>
              <a:t>6</a:t>
            </a:r>
          </a:p>
        </p:txBody>
      </p:sp>
      <p:sp>
        <p:nvSpPr>
          <p:cNvPr id="26" name="TextBox 25"/>
          <p:cNvSpPr txBox="1"/>
          <p:nvPr/>
        </p:nvSpPr>
        <p:spPr>
          <a:xfrm>
            <a:off x="6858000" y="3118104"/>
            <a:ext cx="4434840" cy="603504"/>
          </a:xfrm>
          <a:prstGeom prst="rect">
            <a:avLst/>
          </a:prstGeom>
          <a:noFill/>
        </p:spPr>
        <p:txBody>
          <a:bodyPr wrap="square" anchor="ctr">
            <a:spAutoFit/>
          </a:bodyPr>
          <a:lstStyle/>
          <a:p>
            <a:pPr algn="l">
              <a:defRPr sz="1350" b="1" i="0">
                <a:solidFill>
                  <a:srgbClr val="11283B"/>
                </a:solidFill>
                <a:latin typeface="Segoe UI"/>
              </a:defRPr>
            </a:pPr>
            <a:r>
              <a:t>Build the payouts a second way, and pick the one you'd use</a:t>
            </a:r>
          </a:p>
        </p:txBody>
      </p:sp>
      <p:sp>
        <p:nvSpPr>
          <p:cNvPr id="27" name="Rounded Rectangle 26">
            <a:hlinkClick r:id="rId2"/>
          </p:cNvPr>
          <p:cNvSpPr/>
          <p:nvPr/>
        </p:nvSpPr>
        <p:spPr>
          <a:xfrm>
            <a:off x="731520" y="3977639"/>
            <a:ext cx="10698480" cy="1280160"/>
          </a:xfrm>
          <a:prstGeom prst="roundRect">
            <a:avLst>
              <a:gd name="adj" fmla="val 8000"/>
            </a:avLst>
          </a:prstGeom>
          <a:solidFill>
            <a:srgbClr val="EAF3FA"/>
          </a:solidFill>
          <a:ln w="19050">
            <a:solidFill>
              <a:srgbClr val="11567F"/>
            </a:solidFill>
          </a:ln>
          <a:effectLst/>
        </p:spPr>
        <p:txBody>
          <a:bodyPr rtlCol="0" anchor="ctr"/>
          <a:lstStyle/>
          <a:p>
            <a:pPr algn="ctr"/>
          </a:p>
        </p:txBody>
      </p:sp>
      <p:sp>
        <p:nvSpPr>
          <p:cNvPr id="28" name="Oval 27"/>
          <p:cNvSpPr/>
          <p:nvPr/>
        </p:nvSpPr>
        <p:spPr>
          <a:xfrm>
            <a:off x="1051560" y="4160520"/>
            <a:ext cx="420624" cy="420624"/>
          </a:xfrm>
          <a:prstGeom prst="ellipse">
            <a:avLst/>
          </a:prstGeom>
          <a:solidFill>
            <a:srgbClr val="11567F"/>
          </a:solidFill>
          <a:ln>
            <a:noFill/>
          </a:ln>
          <a:effectLst/>
        </p:spPr>
        <p:txBody>
          <a:bodyPr rtlCol="0" anchor="ctr" wrap="none"/>
          <a:lstStyle/>
          <a:p>
            <a:pPr algn="ctr">
              <a:defRPr sz="800">
                <a:solidFill>
                  <a:srgbClr val="FFFFFF"/>
                </a:solidFill>
              </a:defRPr>
            </a:pPr>
            <a:r>
              <a:t>🔗</a:t>
            </a:r>
          </a:p>
        </p:txBody>
      </p:sp>
      <p:sp>
        <p:nvSpPr>
          <p:cNvPr id="29" name="TextBox 28"/>
          <p:cNvSpPr txBox="1"/>
          <p:nvPr/>
        </p:nvSpPr>
        <p:spPr>
          <a:xfrm>
            <a:off x="1691640" y="4160520"/>
            <a:ext cx="8229600" cy="365760"/>
          </a:xfrm>
          <a:prstGeom prst="rect">
            <a:avLst/>
          </a:prstGeom>
          <a:noFill/>
        </p:spPr>
        <p:txBody>
          <a:bodyPr wrap="square">
            <a:spAutoFit/>
          </a:bodyPr>
          <a:lstStyle/>
          <a:p>
            <a:pPr algn="l">
              <a:defRPr sz="1200" b="1" i="0">
                <a:solidFill>
                  <a:srgbClr val="5A7184"/>
                </a:solidFill>
                <a:latin typeface="Segoe UI"/>
              </a:defRPr>
            </a:pPr>
            <a:r>
              <a:rPr spc="150"/>
              <a:t>FULL SOLUTION, WALKTHROUGH AND SOURCE CODE</a:t>
            </a:r>
          </a:p>
        </p:txBody>
      </p:sp>
      <p:sp>
        <p:nvSpPr>
          <p:cNvPr id="30" name="TextBox 29"/>
          <p:cNvSpPr txBox="1"/>
          <p:nvPr/>
        </p:nvSpPr>
        <p:spPr>
          <a:xfrm>
            <a:off x="914400" y="4617720"/>
            <a:ext cx="10332720" cy="502920"/>
          </a:xfrm>
          <a:prstGeom prst="rect">
            <a:avLst/>
          </a:prstGeom>
          <a:noFill/>
        </p:spPr>
        <p:txBody>
          <a:bodyPr wrap="none" anchor="ctr">
            <a:spAutoFit/>
          </a:bodyPr>
          <a:lstStyle/>
          <a:p>
            <a:pPr algn="ctr"/>
            <a:r>
              <a:rPr sz="1500" b="1" u="sng">
                <a:solidFill>
                  <a:srgbClr val="11567F"/>
                </a:solidFill>
                <a:latin typeface="Segoe UI Semibold"/>
                <a:hlinkClick r:id="rId2"/>
              </a:rPr>
              <a:t>https://cognifydata.com/labs/snowflake-multi-format-ingestion-pipeline-orchestration</a:t>
            </a:r>
          </a:p>
        </p:txBody>
      </p:sp>
      <p:sp>
        <p:nvSpPr>
          <p:cNvPr id="31" name="Rounded Rectangle 30"/>
          <p:cNvSpPr/>
          <p:nvPr/>
        </p:nvSpPr>
        <p:spPr>
          <a:xfrm>
            <a:off x="73152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2" name="Oval 31"/>
          <p:cNvSpPr/>
          <p:nvPr/>
        </p:nvSpPr>
        <p:spPr>
          <a:xfrm>
            <a:off x="91440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3" name="TextBox 32"/>
          <p:cNvSpPr txBox="1"/>
          <p:nvPr/>
        </p:nvSpPr>
        <p:spPr>
          <a:xfrm>
            <a:off x="1371600" y="5422392"/>
            <a:ext cx="2743200" cy="530352"/>
          </a:xfrm>
          <a:prstGeom prst="rect">
            <a:avLst/>
          </a:prstGeom>
          <a:noFill/>
        </p:spPr>
        <p:txBody>
          <a:bodyPr wrap="square" anchor="ctr">
            <a:spAutoFit/>
          </a:bodyPr>
          <a:lstStyle/>
          <a:p>
            <a:pPr algn="l">
              <a:defRPr sz="1400" b="1" i="0">
                <a:solidFill>
                  <a:srgbClr val="11283B"/>
                </a:solidFill>
                <a:latin typeface="Segoe UI"/>
              </a:defRPr>
            </a:pPr>
            <a:r>
              <a:t>Starter files attached</a:t>
            </a:r>
          </a:p>
        </p:txBody>
      </p:sp>
      <p:sp>
        <p:nvSpPr>
          <p:cNvPr id="34" name="Rounded Rectangle 33"/>
          <p:cNvSpPr/>
          <p:nvPr/>
        </p:nvSpPr>
        <p:spPr>
          <a:xfrm>
            <a:off x="436626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5" name="Oval 34"/>
          <p:cNvSpPr/>
          <p:nvPr/>
        </p:nvSpPr>
        <p:spPr>
          <a:xfrm>
            <a:off x="454914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6" name="TextBox 35"/>
          <p:cNvSpPr txBox="1"/>
          <p:nvPr/>
        </p:nvSpPr>
        <p:spPr>
          <a:xfrm>
            <a:off x="5006340" y="5422392"/>
            <a:ext cx="2743200" cy="530352"/>
          </a:xfrm>
          <a:prstGeom prst="rect">
            <a:avLst/>
          </a:prstGeom>
          <a:noFill/>
        </p:spPr>
        <p:txBody>
          <a:bodyPr wrap="square" anchor="ctr">
            <a:spAutoFit/>
          </a:bodyPr>
          <a:lstStyle/>
          <a:p>
            <a:pPr algn="l">
              <a:defRPr sz="1400" b="1" i="0">
                <a:solidFill>
                  <a:srgbClr val="11283B"/>
                </a:solidFill>
                <a:latin typeface="Segoe UI"/>
              </a:defRPr>
            </a:pPr>
            <a:r>
              <a:t>Free, no sign-up</a:t>
            </a:r>
          </a:p>
        </p:txBody>
      </p:sp>
      <p:sp>
        <p:nvSpPr>
          <p:cNvPr id="37" name="Rounded Rectangle 36"/>
          <p:cNvSpPr/>
          <p:nvPr/>
        </p:nvSpPr>
        <p:spPr>
          <a:xfrm>
            <a:off x="800100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8" name="Oval 37"/>
          <p:cNvSpPr/>
          <p:nvPr/>
        </p:nvSpPr>
        <p:spPr>
          <a:xfrm>
            <a:off x="8183879"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9" name="TextBox 38"/>
          <p:cNvSpPr txBox="1"/>
          <p:nvPr/>
        </p:nvSpPr>
        <p:spPr>
          <a:xfrm>
            <a:off x="8641080" y="5422392"/>
            <a:ext cx="2743200" cy="530352"/>
          </a:xfrm>
          <a:prstGeom prst="rect">
            <a:avLst/>
          </a:prstGeom>
          <a:noFill/>
        </p:spPr>
        <p:txBody>
          <a:bodyPr wrap="square" anchor="ctr">
            <a:spAutoFit/>
          </a:bodyPr>
          <a:lstStyle/>
          <a:p>
            <a:pPr algn="l">
              <a:defRPr sz="1400" b="1" i="0">
                <a:solidFill>
                  <a:srgbClr val="11283B"/>
                </a:solidFill>
                <a:latin typeface="Segoe UI"/>
              </a:defRPr>
            </a:pPr>
            <a:r>
              <a:t>Step-by-step solution</a:t>
            </a:r>
          </a:p>
        </p:txBody>
      </p:sp>
      <p:sp>
        <p:nvSpPr>
          <p:cNvPr id="40" name="TextBox 39"/>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1567F"/>
      </a:hlink>
      <a:folHlink>
        <a:srgbClr val="1156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