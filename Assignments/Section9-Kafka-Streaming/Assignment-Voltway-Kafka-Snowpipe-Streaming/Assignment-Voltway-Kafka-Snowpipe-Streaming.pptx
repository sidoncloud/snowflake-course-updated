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your next assignment. In this one, you build a streaming pipeline that takes events from Kafka and turns them into live numbers in Snowflake, without anyone running a load job. It uses what you learned in Section 9 about Kafka and Snowpipe Streaming, plus dynamic tables from Section 6, and it shouldn't take you more than a couple of hours.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scenario. You're a data engineer at Voltway, which runs a network of fast chargers for electric vehicles. Every charger sends its charging sessions and its status changes to Kafka, and the operations team wants energy, revenue and charger health in Snowflake within a minute. But real streams are messy. Some events get sent twice, a firmware bug sends a broken message, and a charger that lost its network sends its events hours late. The starter files give you one day of charger traffic, along with the Docker setup to run Kafka on your own machine.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your tasks. First, give the Kafka connector its own secure login, with only the access it needs. Then stream both Kafka topics into Snowflake, with no load jobs. Next, turn the raw events into charging sessions, hourly numbers and charger health, and keep them up to date on their own. Dynamic tables from Section 6 fit this well. After that, make sure duplicate events don't inflate the numbers, and that a broken message doesn't stop the pipeline. And finally, when late events arrive, make sure they correct the numbers you've already reported. The starter files give you the data, the Docker setup and the scripts that send the events into Kafka. You'll need Docker Desktop and a bash terminal, plus your Snowflake trial. And if the connector won't come up, my walkthrough at the link on screen shows exactly how I set it 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gnifydata.com/labs/snowflake-kafka-snowpipe-streaming-dynamic-tables" TargetMode="External"/><Relationship Id="rId3"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EAF3FA"/>
          </a:solidFill>
          <a:ln>
            <a:noFill/>
          </a:ln>
          <a:effectLst/>
        </p:spPr>
        <p:txBody>
          <a:bodyPr rtlCol="0" anchor="ctr"/>
          <a:lstStyle/>
          <a:p>
            <a:pPr algn="ctr"/>
          </a:p>
        </p:txBody>
      </p:sp>
      <p:sp>
        <p:nvSpPr>
          <p:cNvPr id="4" name="TextBox 3"/>
          <p:cNvSpPr txBox="1"/>
          <p:nvPr/>
        </p:nvSpPr>
        <p:spPr>
          <a:xfrm>
            <a:off x="731520" y="6473952"/>
            <a:ext cx="7680960" cy="320040"/>
          </a:xfrm>
          <a:prstGeom prst="rect">
            <a:avLst/>
          </a:prstGeom>
          <a:noFill/>
        </p:spPr>
        <p:txBody>
          <a:bodyPr wrap="square">
            <a:spAutoFit/>
          </a:bodyPr>
          <a:lstStyle/>
          <a:p>
            <a:pPr algn="l">
              <a:defRPr sz="900" b="0" i="1">
                <a:solidFill>
                  <a:srgbClr val="5A7184"/>
                </a:solidFill>
                <a:latin typeface="Segoe UI"/>
              </a:defRPr>
            </a:pPr>
            <a:r>
              <a:t>Snowflake on AWS  •  Build &amp; Architect Data Pipelines</a:t>
            </a:r>
          </a:p>
        </p:txBody>
      </p:sp>
      <p:sp>
        <p:nvSpPr>
          <p:cNvPr id="5" name="TextBox 4"/>
          <p:cNvSpPr txBox="1"/>
          <p:nvPr/>
        </p:nvSpPr>
        <p:spPr>
          <a:xfrm>
            <a:off x="8595360" y="6473952"/>
            <a:ext cx="2377440" cy="320040"/>
          </a:xfrm>
          <a:prstGeom prst="rect">
            <a:avLst/>
          </a:prstGeom>
          <a:noFill/>
        </p:spPr>
        <p:txBody>
          <a:bodyPr wrap="square">
            <a:spAutoFit/>
          </a:bodyPr>
          <a:lstStyle/>
          <a:p>
            <a:pPr algn="ctr">
              <a:defRPr sz="900" b="0" i="0">
                <a:solidFill>
                  <a:srgbClr val="11567F"/>
                </a:solidFill>
                <a:latin typeface="Segoe UI Semibold"/>
              </a:defRPr>
            </a:pPr>
            <a:r>
              <a:t>cognifydata.com</a:t>
            </a:r>
          </a:p>
        </p:txBody>
      </p:sp>
      <p:sp>
        <p:nvSpPr>
          <p:cNvPr id="6" name="Rounded Rectangle 5"/>
          <p:cNvSpPr/>
          <p:nvPr/>
        </p:nvSpPr>
        <p:spPr>
          <a:xfrm>
            <a:off x="10806380" y="4023360"/>
            <a:ext cx="241401" cy="2011680"/>
          </a:xfrm>
          <a:prstGeom prst="roundRect">
            <a:avLst>
              <a:gd name="adj" fmla="val 50000"/>
            </a:avLst>
          </a:prstGeom>
          <a:solidFill>
            <a:srgbClr val="CBE8F7"/>
          </a:solidFill>
          <a:ln>
            <a:noFill/>
          </a:ln>
          <a:effectLst/>
        </p:spPr>
        <p:txBody>
          <a:bodyPr rtlCol="0" anchor="ctr"/>
          <a:lstStyle/>
          <a:p>
            <a:pPr algn="ctr"/>
          </a:p>
        </p:txBody>
      </p:sp>
      <p:sp>
        <p:nvSpPr>
          <p:cNvPr id="7" name="Rounded Rectangle 6"/>
          <p:cNvSpPr/>
          <p:nvPr/>
        </p:nvSpPr>
        <p:spPr>
          <a:xfrm rot="3600000">
            <a:off x="10806380" y="4023360"/>
            <a:ext cx="241401" cy="2011680"/>
          </a:xfrm>
          <a:prstGeom prst="roundRect">
            <a:avLst>
              <a:gd name="adj" fmla="val 50000"/>
            </a:avLst>
          </a:prstGeom>
          <a:solidFill>
            <a:srgbClr val="CBE8F7"/>
          </a:solidFill>
          <a:ln>
            <a:noFill/>
          </a:ln>
          <a:effectLst/>
        </p:spPr>
        <p:txBody>
          <a:bodyPr rtlCol="0" anchor="ctr"/>
          <a:lstStyle/>
          <a:p>
            <a:pPr algn="ctr"/>
          </a:p>
        </p:txBody>
      </p:sp>
      <p:sp>
        <p:nvSpPr>
          <p:cNvPr id="8" name="Rounded Rectangle 7"/>
          <p:cNvSpPr/>
          <p:nvPr/>
        </p:nvSpPr>
        <p:spPr>
          <a:xfrm rot="7200000">
            <a:off x="10806380" y="4023360"/>
            <a:ext cx="241401" cy="2011680"/>
          </a:xfrm>
          <a:prstGeom prst="roundRect">
            <a:avLst>
              <a:gd name="adj" fmla="val 50000"/>
            </a:avLst>
          </a:prstGeom>
          <a:solidFill>
            <a:srgbClr val="CBE8F7"/>
          </a:solidFill>
          <a:ln>
            <a:noFill/>
          </a:ln>
          <a:effectLst/>
        </p:spPr>
        <p:txBody>
          <a:bodyPr rtlCol="0" anchor="ctr"/>
          <a:lstStyle/>
          <a:p>
            <a:pPr algn="ctr"/>
          </a:p>
        </p:txBody>
      </p:sp>
      <p:sp>
        <p:nvSpPr>
          <p:cNvPr id="9" name="Diamond 8"/>
          <p:cNvSpPr/>
          <p:nvPr/>
        </p:nvSpPr>
        <p:spPr>
          <a:xfrm>
            <a:off x="10725912" y="3822192"/>
            <a:ext cx="402336" cy="402336"/>
          </a:xfrm>
          <a:prstGeom prst="diamond">
            <a:avLst/>
          </a:prstGeom>
          <a:solidFill>
            <a:srgbClr val="CBE8F7"/>
          </a:solidFill>
          <a:ln>
            <a:noFill/>
          </a:ln>
          <a:effectLst/>
        </p:spPr>
        <p:txBody>
          <a:bodyPr rtlCol="0" anchor="ctr"/>
          <a:lstStyle/>
          <a:p>
            <a:pPr algn="ctr"/>
          </a:p>
        </p:txBody>
      </p:sp>
      <p:sp>
        <p:nvSpPr>
          <p:cNvPr id="10" name="Diamond 9"/>
          <p:cNvSpPr/>
          <p:nvPr/>
        </p:nvSpPr>
        <p:spPr>
          <a:xfrm>
            <a:off x="11596994" y="4325112"/>
            <a:ext cx="402336" cy="402336"/>
          </a:xfrm>
          <a:prstGeom prst="diamond">
            <a:avLst/>
          </a:prstGeom>
          <a:solidFill>
            <a:srgbClr val="CBE8F7"/>
          </a:solidFill>
          <a:ln>
            <a:noFill/>
          </a:ln>
          <a:effectLst/>
        </p:spPr>
        <p:txBody>
          <a:bodyPr rtlCol="0" anchor="ctr"/>
          <a:lstStyle/>
          <a:p>
            <a:pPr algn="ctr"/>
          </a:p>
        </p:txBody>
      </p:sp>
      <p:sp>
        <p:nvSpPr>
          <p:cNvPr id="11" name="Diamond 10"/>
          <p:cNvSpPr/>
          <p:nvPr/>
        </p:nvSpPr>
        <p:spPr>
          <a:xfrm>
            <a:off x="11596994" y="5330951"/>
            <a:ext cx="402336" cy="402336"/>
          </a:xfrm>
          <a:prstGeom prst="diamond">
            <a:avLst/>
          </a:prstGeom>
          <a:solidFill>
            <a:srgbClr val="CBE8F7"/>
          </a:solidFill>
          <a:ln>
            <a:noFill/>
          </a:ln>
          <a:effectLst/>
        </p:spPr>
        <p:txBody>
          <a:bodyPr rtlCol="0" anchor="ctr"/>
          <a:lstStyle/>
          <a:p>
            <a:pPr algn="ctr"/>
          </a:p>
        </p:txBody>
      </p:sp>
      <p:sp>
        <p:nvSpPr>
          <p:cNvPr id="12" name="Diamond 11"/>
          <p:cNvSpPr/>
          <p:nvPr/>
        </p:nvSpPr>
        <p:spPr>
          <a:xfrm>
            <a:off x="10725912" y="5833872"/>
            <a:ext cx="402336" cy="402336"/>
          </a:xfrm>
          <a:prstGeom prst="diamond">
            <a:avLst/>
          </a:prstGeom>
          <a:solidFill>
            <a:srgbClr val="CBE8F7"/>
          </a:solidFill>
          <a:ln>
            <a:noFill/>
          </a:ln>
          <a:effectLst/>
        </p:spPr>
        <p:txBody>
          <a:bodyPr rtlCol="0" anchor="ctr"/>
          <a:lstStyle/>
          <a:p>
            <a:pPr algn="ctr"/>
          </a:p>
        </p:txBody>
      </p:sp>
      <p:sp>
        <p:nvSpPr>
          <p:cNvPr id="13" name="Diamond 12"/>
          <p:cNvSpPr/>
          <p:nvPr/>
        </p:nvSpPr>
        <p:spPr>
          <a:xfrm>
            <a:off x="9854830" y="5330952"/>
            <a:ext cx="402336" cy="402336"/>
          </a:xfrm>
          <a:prstGeom prst="diamond">
            <a:avLst/>
          </a:prstGeom>
          <a:solidFill>
            <a:srgbClr val="CBE8F7"/>
          </a:solidFill>
          <a:ln>
            <a:noFill/>
          </a:ln>
          <a:effectLst/>
        </p:spPr>
        <p:txBody>
          <a:bodyPr rtlCol="0" anchor="ctr"/>
          <a:lstStyle/>
          <a:p>
            <a:pPr algn="ctr"/>
          </a:p>
        </p:txBody>
      </p:sp>
      <p:sp>
        <p:nvSpPr>
          <p:cNvPr id="14" name="Diamond 13"/>
          <p:cNvSpPr/>
          <p:nvPr/>
        </p:nvSpPr>
        <p:spPr>
          <a:xfrm>
            <a:off x="9854830" y="4325112"/>
            <a:ext cx="402336" cy="402336"/>
          </a:xfrm>
          <a:prstGeom prst="diamond">
            <a:avLst/>
          </a:prstGeom>
          <a:solidFill>
            <a:srgbClr val="CBE8F7"/>
          </a:solidFill>
          <a:ln>
            <a:noFill/>
          </a:ln>
          <a:effectLst/>
        </p:spPr>
        <p:txBody>
          <a:bodyPr rtlCol="0" anchor="ctr"/>
          <a:lstStyle/>
          <a:p>
            <a:pPr algn="ctr"/>
          </a:p>
        </p:txBody>
      </p:sp>
      <p:sp>
        <p:nvSpPr>
          <p:cNvPr id="15" name="Oval 14"/>
          <p:cNvSpPr/>
          <p:nvPr/>
        </p:nvSpPr>
        <p:spPr>
          <a:xfrm>
            <a:off x="10685679" y="4787799"/>
            <a:ext cx="482803" cy="482803"/>
          </a:xfrm>
          <a:prstGeom prst="ellipse">
            <a:avLst/>
          </a:prstGeom>
          <a:solidFill>
            <a:srgbClr val="CBE8F7"/>
          </a:solidFill>
          <a:ln>
            <a:noFill/>
          </a:ln>
          <a:effectLst/>
        </p:spPr>
        <p:txBody>
          <a:bodyPr rtlCol="0" anchor="ctr"/>
          <a:lstStyle/>
          <a:p>
            <a:pPr algn="ctr"/>
          </a:p>
        </p:txBody>
      </p:sp>
      <p:sp>
        <p:nvSpPr>
          <p:cNvPr id="16" name="Rounded Rectangle 15"/>
          <p:cNvSpPr/>
          <p:nvPr/>
        </p:nvSpPr>
        <p:spPr>
          <a:xfrm>
            <a:off x="909646" y="484632"/>
            <a:ext cx="46085" cy="384048"/>
          </a:xfrm>
          <a:prstGeom prst="roundRect">
            <a:avLst>
              <a:gd name="adj" fmla="val 50000"/>
            </a:avLst>
          </a:prstGeom>
          <a:solidFill>
            <a:srgbClr val="29B5E8"/>
          </a:solidFill>
          <a:ln>
            <a:noFill/>
          </a:ln>
          <a:effectLst/>
        </p:spPr>
        <p:txBody>
          <a:bodyPr rtlCol="0" anchor="ctr"/>
          <a:lstStyle/>
          <a:p>
            <a:pPr algn="ctr"/>
          </a:p>
        </p:txBody>
      </p:sp>
      <p:sp>
        <p:nvSpPr>
          <p:cNvPr id="17" name="Rounded Rectangle 16"/>
          <p:cNvSpPr/>
          <p:nvPr/>
        </p:nvSpPr>
        <p:spPr>
          <a:xfrm rot="3600000">
            <a:off x="909646" y="484632"/>
            <a:ext cx="46085" cy="384048"/>
          </a:xfrm>
          <a:prstGeom prst="roundRect">
            <a:avLst>
              <a:gd name="adj" fmla="val 50000"/>
            </a:avLst>
          </a:prstGeom>
          <a:solidFill>
            <a:srgbClr val="29B5E8"/>
          </a:solidFill>
          <a:ln>
            <a:noFill/>
          </a:ln>
          <a:effectLst/>
        </p:spPr>
        <p:txBody>
          <a:bodyPr rtlCol="0" anchor="ctr"/>
          <a:lstStyle/>
          <a:p>
            <a:pPr algn="ctr"/>
          </a:p>
        </p:txBody>
      </p:sp>
      <p:sp>
        <p:nvSpPr>
          <p:cNvPr id="18" name="Rounded Rectangle 17"/>
          <p:cNvSpPr/>
          <p:nvPr/>
        </p:nvSpPr>
        <p:spPr>
          <a:xfrm rot="7200000">
            <a:off x="909646" y="484632"/>
            <a:ext cx="46085" cy="384048"/>
          </a:xfrm>
          <a:prstGeom prst="roundRect">
            <a:avLst>
              <a:gd name="adj" fmla="val 50000"/>
            </a:avLst>
          </a:prstGeom>
          <a:solidFill>
            <a:srgbClr val="29B5E8"/>
          </a:solidFill>
          <a:ln>
            <a:noFill/>
          </a:ln>
          <a:effectLst/>
        </p:spPr>
        <p:txBody>
          <a:bodyPr rtlCol="0" anchor="ctr"/>
          <a:lstStyle/>
          <a:p>
            <a:pPr algn="ctr"/>
          </a:p>
        </p:txBody>
      </p:sp>
      <p:sp>
        <p:nvSpPr>
          <p:cNvPr id="19" name="Diamond 18"/>
          <p:cNvSpPr/>
          <p:nvPr/>
        </p:nvSpPr>
        <p:spPr>
          <a:xfrm>
            <a:off x="894284" y="446228"/>
            <a:ext cx="76809" cy="76809"/>
          </a:xfrm>
          <a:prstGeom prst="diamond">
            <a:avLst/>
          </a:prstGeom>
          <a:solidFill>
            <a:srgbClr val="29B5E8"/>
          </a:solidFill>
          <a:ln>
            <a:noFill/>
          </a:ln>
          <a:effectLst/>
        </p:spPr>
        <p:txBody>
          <a:bodyPr rtlCol="0" anchor="ctr"/>
          <a:lstStyle/>
          <a:p>
            <a:pPr algn="ctr"/>
          </a:p>
        </p:txBody>
      </p:sp>
      <p:sp>
        <p:nvSpPr>
          <p:cNvPr id="20" name="Diamond 19"/>
          <p:cNvSpPr/>
          <p:nvPr/>
        </p:nvSpPr>
        <p:spPr>
          <a:xfrm>
            <a:off x="1060581" y="542240"/>
            <a:ext cx="76809" cy="76809"/>
          </a:xfrm>
          <a:prstGeom prst="diamond">
            <a:avLst/>
          </a:prstGeom>
          <a:solidFill>
            <a:srgbClr val="29B5E8"/>
          </a:solidFill>
          <a:ln>
            <a:noFill/>
          </a:ln>
          <a:effectLst/>
        </p:spPr>
        <p:txBody>
          <a:bodyPr rtlCol="0" anchor="ctr"/>
          <a:lstStyle/>
          <a:p>
            <a:pPr algn="ctr"/>
          </a:p>
        </p:txBody>
      </p:sp>
      <p:sp>
        <p:nvSpPr>
          <p:cNvPr id="21" name="Diamond 20"/>
          <p:cNvSpPr/>
          <p:nvPr/>
        </p:nvSpPr>
        <p:spPr>
          <a:xfrm>
            <a:off x="1060581" y="734263"/>
            <a:ext cx="76809" cy="76809"/>
          </a:xfrm>
          <a:prstGeom prst="diamond">
            <a:avLst/>
          </a:prstGeom>
          <a:solidFill>
            <a:srgbClr val="29B5E8"/>
          </a:solidFill>
          <a:ln>
            <a:noFill/>
          </a:ln>
          <a:effectLst/>
        </p:spPr>
        <p:txBody>
          <a:bodyPr rtlCol="0" anchor="ctr"/>
          <a:lstStyle/>
          <a:p>
            <a:pPr algn="ctr"/>
          </a:p>
        </p:txBody>
      </p:sp>
      <p:sp>
        <p:nvSpPr>
          <p:cNvPr id="22" name="Diamond 21"/>
          <p:cNvSpPr/>
          <p:nvPr/>
        </p:nvSpPr>
        <p:spPr>
          <a:xfrm>
            <a:off x="894284" y="830276"/>
            <a:ext cx="76809" cy="76809"/>
          </a:xfrm>
          <a:prstGeom prst="diamond">
            <a:avLst/>
          </a:prstGeom>
          <a:solidFill>
            <a:srgbClr val="29B5E8"/>
          </a:solidFill>
          <a:ln>
            <a:noFill/>
          </a:ln>
          <a:effectLst/>
        </p:spPr>
        <p:txBody>
          <a:bodyPr rtlCol="0" anchor="ctr"/>
          <a:lstStyle/>
          <a:p>
            <a:pPr algn="ctr"/>
          </a:p>
        </p:txBody>
      </p:sp>
      <p:sp>
        <p:nvSpPr>
          <p:cNvPr id="23" name="Diamond 22"/>
          <p:cNvSpPr/>
          <p:nvPr/>
        </p:nvSpPr>
        <p:spPr>
          <a:xfrm>
            <a:off x="727987" y="734264"/>
            <a:ext cx="76809" cy="76809"/>
          </a:xfrm>
          <a:prstGeom prst="diamond">
            <a:avLst/>
          </a:prstGeom>
          <a:solidFill>
            <a:srgbClr val="29B5E8"/>
          </a:solidFill>
          <a:ln>
            <a:noFill/>
          </a:ln>
          <a:effectLst/>
        </p:spPr>
        <p:txBody>
          <a:bodyPr rtlCol="0" anchor="ctr"/>
          <a:lstStyle/>
          <a:p>
            <a:pPr algn="ctr"/>
          </a:p>
        </p:txBody>
      </p:sp>
      <p:sp>
        <p:nvSpPr>
          <p:cNvPr id="24" name="Diamond 23"/>
          <p:cNvSpPr/>
          <p:nvPr/>
        </p:nvSpPr>
        <p:spPr>
          <a:xfrm>
            <a:off x="727987" y="542240"/>
            <a:ext cx="76809" cy="76809"/>
          </a:xfrm>
          <a:prstGeom prst="diamond">
            <a:avLst/>
          </a:prstGeom>
          <a:solidFill>
            <a:srgbClr val="29B5E8"/>
          </a:solidFill>
          <a:ln>
            <a:noFill/>
          </a:ln>
          <a:effectLst/>
        </p:spPr>
        <p:txBody>
          <a:bodyPr rtlCol="0" anchor="ctr"/>
          <a:lstStyle/>
          <a:p>
            <a:pPr algn="ctr"/>
          </a:p>
        </p:txBody>
      </p:sp>
      <p:sp>
        <p:nvSpPr>
          <p:cNvPr id="25" name="Oval 24"/>
          <p:cNvSpPr/>
          <p:nvPr/>
        </p:nvSpPr>
        <p:spPr>
          <a:xfrm>
            <a:off x="886603" y="630571"/>
            <a:ext cx="92171" cy="92171"/>
          </a:xfrm>
          <a:prstGeom prst="ellipse">
            <a:avLst/>
          </a:prstGeom>
          <a:solidFill>
            <a:srgbClr val="29B5E8"/>
          </a:solidFill>
          <a:ln>
            <a:noFill/>
          </a:ln>
          <a:effectLst/>
        </p:spPr>
        <p:txBody>
          <a:bodyPr rtlCol="0" anchor="ctr"/>
          <a:lstStyle/>
          <a:p>
            <a:pPr algn="ctr"/>
          </a:p>
        </p:txBody>
      </p:sp>
      <p:sp>
        <p:nvSpPr>
          <p:cNvPr id="26" name="TextBox 25"/>
          <p:cNvSpPr txBox="1"/>
          <p:nvPr/>
        </p:nvSpPr>
        <p:spPr>
          <a:xfrm>
            <a:off x="1325880" y="502920"/>
            <a:ext cx="5486400" cy="365760"/>
          </a:xfrm>
          <a:prstGeom prst="rect">
            <a:avLst/>
          </a:prstGeom>
          <a:noFill/>
        </p:spPr>
        <p:txBody>
          <a:bodyPr wrap="square">
            <a:spAutoFit/>
          </a:bodyPr>
          <a:lstStyle/>
          <a:p>
            <a:pPr algn="l">
              <a:defRPr sz="1300" b="1" i="0">
                <a:solidFill>
                  <a:srgbClr val="11567F"/>
                </a:solidFill>
                <a:latin typeface="Segoe UI Semibold"/>
              </a:defRPr>
            </a:pPr>
            <a:r>
              <a:rPr spc="250"/>
              <a:t>SNOWFLAKE ON AWS</a:t>
            </a:r>
          </a:p>
        </p:txBody>
      </p:sp>
      <p:sp>
        <p:nvSpPr>
          <p:cNvPr id="27" name="TextBox 26"/>
          <p:cNvSpPr txBox="1"/>
          <p:nvPr/>
        </p:nvSpPr>
        <p:spPr>
          <a:xfrm>
            <a:off x="8503920" y="502920"/>
            <a:ext cx="2953512" cy="365760"/>
          </a:xfrm>
          <a:prstGeom prst="rect">
            <a:avLst/>
          </a:prstGeom>
          <a:noFill/>
        </p:spPr>
        <p:txBody>
          <a:bodyPr wrap="square">
            <a:spAutoFit/>
          </a:bodyPr>
          <a:lstStyle/>
          <a:p>
            <a:pPr algn="r">
              <a:defRPr sz="1200" b="1" i="0">
                <a:solidFill>
                  <a:srgbClr val="5A7184"/>
                </a:solidFill>
                <a:latin typeface="Segoe UI"/>
              </a:defRPr>
            </a:pPr>
            <a:r>
              <a:rPr spc="150"/>
              <a:t>HANDS-ON LAB</a:t>
            </a:r>
          </a:p>
        </p:txBody>
      </p:sp>
      <p:sp>
        <p:nvSpPr>
          <p:cNvPr id="28" name="Rectangle 27"/>
          <p:cNvSpPr/>
          <p:nvPr/>
        </p:nvSpPr>
        <p:spPr>
          <a:xfrm>
            <a:off x="758952" y="1755648"/>
            <a:ext cx="73152" cy="310896"/>
          </a:xfrm>
          <a:prstGeom prst="rect">
            <a:avLst/>
          </a:prstGeom>
          <a:solidFill>
            <a:srgbClr val="29B5E8"/>
          </a:solidFill>
          <a:ln>
            <a:noFill/>
          </a:ln>
          <a:effectLst/>
        </p:spPr>
        <p:txBody>
          <a:bodyPr rtlCol="0" anchor="ctr"/>
          <a:lstStyle/>
          <a:p>
            <a:pPr algn="ctr"/>
          </a:p>
        </p:txBody>
      </p:sp>
      <p:sp>
        <p:nvSpPr>
          <p:cNvPr id="29" name="TextBox 28"/>
          <p:cNvSpPr txBox="1"/>
          <p:nvPr/>
        </p:nvSpPr>
        <p:spPr>
          <a:xfrm>
            <a:off x="978408" y="1700784"/>
            <a:ext cx="8229600" cy="365760"/>
          </a:xfrm>
          <a:prstGeom prst="rect">
            <a:avLst/>
          </a:prstGeom>
          <a:noFill/>
        </p:spPr>
        <p:txBody>
          <a:bodyPr wrap="square">
            <a:spAutoFit/>
          </a:bodyPr>
          <a:lstStyle/>
          <a:p>
            <a:pPr algn="l">
              <a:defRPr sz="1500" b="1" i="0">
                <a:solidFill>
                  <a:srgbClr val="29B5E8"/>
                </a:solidFill>
                <a:latin typeface="Segoe UI Semibold"/>
              </a:defRPr>
            </a:pPr>
            <a:r>
              <a:rPr spc="200"/>
              <a:t>KAFKA, SNOWPIPE STREAMING AND DYNAMIC TABLES</a:t>
            </a:r>
          </a:p>
        </p:txBody>
      </p:sp>
      <p:sp>
        <p:nvSpPr>
          <p:cNvPr id="30" name="TextBox 29"/>
          <p:cNvSpPr txBox="1"/>
          <p:nvPr/>
        </p:nvSpPr>
        <p:spPr>
          <a:xfrm>
            <a:off x="731520" y="2240280"/>
            <a:ext cx="9692640" cy="1188720"/>
          </a:xfrm>
          <a:prstGeom prst="rect">
            <a:avLst/>
          </a:prstGeom>
          <a:noFill/>
        </p:spPr>
        <p:txBody>
          <a:bodyPr wrap="square">
            <a:spAutoFit/>
          </a:bodyPr>
          <a:lstStyle/>
          <a:p>
            <a:pPr algn="l">
              <a:defRPr sz="4000" b="1" i="0">
                <a:solidFill>
                  <a:srgbClr val="11283B"/>
                </a:solidFill>
                <a:latin typeface="Segoe UI Semibold"/>
              </a:defRPr>
            </a:pPr>
            <a:r>
              <a:t>Voltway</a:t>
            </a:r>
          </a:p>
        </p:txBody>
      </p:sp>
      <p:sp>
        <p:nvSpPr>
          <p:cNvPr id="31" name="TextBox 30"/>
          <p:cNvSpPr txBox="1"/>
          <p:nvPr/>
        </p:nvSpPr>
        <p:spPr>
          <a:xfrm>
            <a:off x="731520" y="3200400"/>
            <a:ext cx="8961120" cy="914400"/>
          </a:xfrm>
          <a:prstGeom prst="rect">
            <a:avLst/>
          </a:prstGeom>
          <a:noFill/>
        </p:spPr>
        <p:txBody>
          <a:bodyPr wrap="square">
            <a:spAutoFit/>
          </a:bodyPr>
          <a:lstStyle/>
          <a:p>
            <a:pPr algn="l">
              <a:defRPr sz="2600" b="1" i="0">
                <a:solidFill>
                  <a:srgbClr val="29B5E8"/>
                </a:solidFill>
                <a:latin typeface="Segoe UI Semibold"/>
              </a:defRPr>
            </a:pPr>
            <a:r>
              <a:t>Stream EV charger events into live KPIs, with nobody running load jobs</a:t>
            </a:r>
          </a:p>
        </p:txBody>
      </p:sp>
      <p:sp>
        <p:nvSpPr>
          <p:cNvPr id="32" name="Rectangle 31"/>
          <p:cNvSpPr/>
          <p:nvPr/>
        </p:nvSpPr>
        <p:spPr>
          <a:xfrm>
            <a:off x="731520" y="4315968"/>
            <a:ext cx="2743200" cy="27432"/>
          </a:xfrm>
          <a:prstGeom prst="rect">
            <a:avLst/>
          </a:prstGeom>
          <a:solidFill>
            <a:srgbClr val="29B5E8"/>
          </a:solidFill>
          <a:ln>
            <a:noFill/>
          </a:ln>
          <a:effectLst/>
        </p:spPr>
        <p:txBody>
          <a:bodyPr rtlCol="0" anchor="ctr"/>
          <a:lstStyle/>
          <a:p>
            <a:pPr algn="ctr"/>
          </a:p>
        </p:txBody>
      </p:sp>
      <p:sp>
        <p:nvSpPr>
          <p:cNvPr id="33" name="TextBox 32"/>
          <p:cNvSpPr txBox="1"/>
          <p:nvPr/>
        </p:nvSpPr>
        <p:spPr>
          <a:xfrm>
            <a:off x="731520" y="4526280"/>
            <a:ext cx="8595360" cy="640080"/>
          </a:xfrm>
          <a:prstGeom prst="rect">
            <a:avLst/>
          </a:prstGeom>
          <a:noFill/>
        </p:spPr>
        <p:txBody>
          <a:bodyPr wrap="square">
            <a:spAutoFit/>
          </a:bodyPr>
          <a:lstStyle/>
          <a:p>
            <a:pPr algn="l">
              <a:defRPr sz="2000" b="0" i="0">
                <a:solidFill>
                  <a:srgbClr val="5A7184"/>
                </a:solidFill>
                <a:latin typeface="Segoe UI Semibold"/>
              </a:defRPr>
            </a:pPr>
            <a:r>
              <a:t>Intermediate  •  Should take you no more than a couple of hours</a:t>
            </a:r>
          </a:p>
        </p:txBody>
      </p:sp>
      <p:sp>
        <p:nvSpPr>
          <p:cNvPr id="34" name="TextBox 33"/>
          <p:cNvSpPr txBox="1"/>
          <p:nvPr/>
        </p:nvSpPr>
        <p:spPr>
          <a:xfrm>
            <a:off x="731520" y="5230368"/>
            <a:ext cx="8595360" cy="548640"/>
          </a:xfrm>
          <a:prstGeom prst="rect">
            <a:avLst/>
          </a:prstGeom>
          <a:noFill/>
        </p:spPr>
        <p:txBody>
          <a:bodyPr wrap="square">
            <a:spAutoFit/>
          </a:bodyPr>
          <a:lstStyle/>
          <a:p>
            <a:pPr algn="l">
              <a:defRPr sz="1500" b="0" i="0">
                <a:solidFill>
                  <a:srgbClr val="5A7184"/>
                </a:solidFill>
                <a:latin typeface="Segoe UI"/>
              </a:defRPr>
            </a:pPr>
            <a:r>
              <a:t>Uses what you learned in Section 9, plus dynamic tables from Section 6</a:t>
            </a:r>
          </a:p>
        </p:txBody>
      </p:sp>
      <p:sp>
        <p:nvSpPr>
          <p:cNvPr id="35" name="TextBox 34"/>
          <p:cNvSpPr txBox="1"/>
          <p:nvPr/>
        </p:nvSpPr>
        <p:spPr>
          <a:xfrm>
            <a:off x="11155680" y="6400800"/>
            <a:ext cx="914400" cy="365760"/>
          </a:xfrm>
          <a:prstGeom prst="rect">
            <a:avLst/>
          </a:prstGeom>
          <a:noFill/>
        </p:spPr>
        <p:txBody>
          <a:bodyPr wrap="square">
            <a:spAutoFit/>
          </a:bodyPr>
          <a:lstStyle/>
          <a:p>
            <a:pPr algn="r">
              <a:defRPr sz="1000" b="0" i="0">
                <a:solidFill>
                  <a:srgbClr val="5A7184"/>
                </a:solidFill>
                <a:latin typeface="Segoe UI"/>
              </a:defRPr>
            </a:pPr>
            <a: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EAF3FA"/>
          </a:solidFill>
          <a:ln>
            <a:noFill/>
          </a:ln>
          <a:effectLst/>
        </p:spPr>
        <p:txBody>
          <a:bodyPr rtlCol="0" anchor="ctr"/>
          <a:lstStyle/>
          <a:p>
            <a:pPr algn="ctr"/>
          </a:p>
        </p:txBody>
      </p:sp>
      <p:sp>
        <p:nvSpPr>
          <p:cNvPr id="4" name="TextBox 3"/>
          <p:cNvSpPr txBox="1"/>
          <p:nvPr/>
        </p:nvSpPr>
        <p:spPr>
          <a:xfrm>
            <a:off x="731520" y="6473952"/>
            <a:ext cx="7680960" cy="320040"/>
          </a:xfrm>
          <a:prstGeom prst="rect">
            <a:avLst/>
          </a:prstGeom>
          <a:noFill/>
        </p:spPr>
        <p:txBody>
          <a:bodyPr wrap="square">
            <a:spAutoFit/>
          </a:bodyPr>
          <a:lstStyle/>
          <a:p>
            <a:pPr algn="l">
              <a:defRPr sz="900" b="0" i="1">
                <a:solidFill>
                  <a:srgbClr val="5A7184"/>
                </a:solidFill>
                <a:latin typeface="Segoe UI"/>
              </a:defRPr>
            </a:pPr>
            <a:r>
              <a:t>Snowflake on AWS  •  Build &amp; Architect Data Pipelines</a:t>
            </a:r>
          </a:p>
        </p:txBody>
      </p:sp>
      <p:sp>
        <p:nvSpPr>
          <p:cNvPr id="5" name="TextBox 4"/>
          <p:cNvSpPr txBox="1"/>
          <p:nvPr/>
        </p:nvSpPr>
        <p:spPr>
          <a:xfrm>
            <a:off x="8595360" y="6473952"/>
            <a:ext cx="2377440" cy="320040"/>
          </a:xfrm>
          <a:prstGeom prst="rect">
            <a:avLst/>
          </a:prstGeom>
          <a:noFill/>
        </p:spPr>
        <p:txBody>
          <a:bodyPr wrap="square">
            <a:spAutoFit/>
          </a:bodyPr>
          <a:lstStyle/>
          <a:p>
            <a:pPr algn="ctr">
              <a:defRPr sz="900" b="0" i="0">
                <a:solidFill>
                  <a:srgbClr val="11567F"/>
                </a:solidFill>
                <a:latin typeface="Segoe UI Semibold"/>
              </a:defRPr>
            </a:pPr>
            <a:r>
              <a:t>cognifydata.com</a:t>
            </a:r>
          </a:p>
        </p:txBody>
      </p:sp>
      <p:sp>
        <p:nvSpPr>
          <p:cNvPr id="6" name="TextBox 5"/>
          <p:cNvSpPr txBox="1"/>
          <p:nvPr/>
        </p:nvSpPr>
        <p:spPr>
          <a:xfrm>
            <a:off x="731520" y="365760"/>
            <a:ext cx="10698480" cy="640080"/>
          </a:xfrm>
          <a:prstGeom prst="rect">
            <a:avLst/>
          </a:prstGeom>
          <a:noFill/>
        </p:spPr>
        <p:txBody>
          <a:bodyPr wrap="square">
            <a:spAutoFit/>
          </a:bodyPr>
          <a:lstStyle/>
          <a:p>
            <a:pPr algn="l">
              <a:defRPr sz="3200" b="1" i="0">
                <a:solidFill>
                  <a:srgbClr val="11283B"/>
                </a:solidFill>
                <a:latin typeface="Segoe UI Semibold"/>
              </a:defRPr>
            </a:pPr>
            <a:r>
              <a:t>The Scenario</a:t>
            </a:r>
          </a:p>
        </p:txBody>
      </p:sp>
      <p:sp>
        <p:nvSpPr>
          <p:cNvPr id="7" name="Rectangle 6"/>
          <p:cNvSpPr/>
          <p:nvPr/>
        </p:nvSpPr>
        <p:spPr>
          <a:xfrm>
            <a:off x="731520" y="1005840"/>
            <a:ext cx="2286000" cy="27432"/>
          </a:xfrm>
          <a:prstGeom prst="rect">
            <a:avLst/>
          </a:prstGeom>
          <a:solidFill>
            <a:srgbClr val="E8833A"/>
          </a:solidFill>
          <a:ln>
            <a:noFill/>
          </a:ln>
          <a:effectLst/>
        </p:spPr>
        <p:txBody>
          <a:bodyPr rtlCol="0" anchor="ctr"/>
          <a:lstStyle/>
          <a:p>
            <a:pPr algn="ctr"/>
          </a:p>
        </p:txBody>
      </p:sp>
      <p:sp>
        <p:nvSpPr>
          <p:cNvPr id="8" name="TextBox 7"/>
          <p:cNvSpPr txBox="1"/>
          <p:nvPr/>
        </p:nvSpPr>
        <p:spPr>
          <a:xfrm>
            <a:off x="731520" y="1170432"/>
            <a:ext cx="10698480" cy="457200"/>
          </a:xfrm>
          <a:prstGeom prst="rect">
            <a:avLst/>
          </a:prstGeom>
          <a:noFill/>
        </p:spPr>
        <p:txBody>
          <a:bodyPr wrap="square">
            <a:spAutoFit/>
          </a:bodyPr>
          <a:lstStyle/>
          <a:p>
            <a:pPr algn="l">
              <a:defRPr sz="1600" b="0" i="1">
                <a:solidFill>
                  <a:srgbClr val="5A7184"/>
                </a:solidFill>
                <a:latin typeface="Segoe UI"/>
              </a:defRPr>
            </a:pPr>
            <a:r>
              <a:t>An EV fast-charging network that needs its numbers within a minute</a:t>
            </a:r>
          </a:p>
        </p:txBody>
      </p:sp>
      <p:sp>
        <p:nvSpPr>
          <p:cNvPr id="9" name="Rounded Rectangle 8"/>
          <p:cNvSpPr/>
          <p:nvPr/>
        </p:nvSpPr>
        <p:spPr>
          <a:xfrm>
            <a:off x="731520" y="1783080"/>
            <a:ext cx="10698480" cy="1005840"/>
          </a:xfrm>
          <a:prstGeom prst="roundRect">
            <a:avLst>
              <a:gd name="adj" fmla="val 8000"/>
            </a:avLst>
          </a:prstGeom>
          <a:solidFill>
            <a:srgbClr val="F4F8FB"/>
          </a:solidFill>
          <a:ln w="19050">
            <a:solidFill>
              <a:srgbClr val="29B5E8"/>
            </a:solidFill>
          </a:ln>
          <a:effectLst/>
        </p:spPr>
        <p:txBody>
          <a:bodyPr rtlCol="0" anchor="ctr"/>
          <a:lstStyle/>
          <a:p>
            <a:pPr algn="ctr"/>
          </a:p>
        </p:txBody>
      </p:sp>
      <p:sp>
        <p:nvSpPr>
          <p:cNvPr id="10" name="Oval 9"/>
          <p:cNvSpPr/>
          <p:nvPr/>
        </p:nvSpPr>
        <p:spPr>
          <a:xfrm>
            <a:off x="1051560" y="2011680"/>
            <a:ext cx="548640" cy="548640"/>
          </a:xfrm>
          <a:prstGeom prst="ellipse">
            <a:avLst/>
          </a:prstGeom>
          <a:solidFill>
            <a:srgbClr val="29B5E8"/>
          </a:solidFill>
          <a:ln>
            <a:noFill/>
          </a:ln>
          <a:effectLst/>
        </p:spPr>
        <p:txBody>
          <a:bodyPr rtlCol="0" anchor="ctr" wrap="none"/>
          <a:lstStyle/>
          <a:p>
            <a:pPr algn="ctr">
              <a:defRPr sz="1000">
                <a:solidFill>
                  <a:srgbClr val="FFFFFF"/>
                </a:solidFill>
              </a:defRPr>
            </a:pPr>
            <a:r>
              <a:t>⚡</a:t>
            </a:r>
          </a:p>
        </p:txBody>
      </p:sp>
      <p:sp>
        <p:nvSpPr>
          <p:cNvPr id="11" name="TextBox 10"/>
          <p:cNvSpPr txBox="1"/>
          <p:nvPr/>
        </p:nvSpPr>
        <p:spPr>
          <a:xfrm>
            <a:off x="1828800" y="1929384"/>
            <a:ext cx="9326880" cy="411480"/>
          </a:xfrm>
          <a:prstGeom prst="rect">
            <a:avLst/>
          </a:prstGeom>
          <a:noFill/>
        </p:spPr>
        <p:txBody>
          <a:bodyPr wrap="square">
            <a:spAutoFit/>
          </a:bodyPr>
          <a:lstStyle/>
          <a:p>
            <a:pPr algn="l">
              <a:defRPr sz="1800" b="1" i="0">
                <a:solidFill>
                  <a:srgbClr val="11283B"/>
                </a:solidFill>
                <a:latin typeface="Segoe UI"/>
              </a:defRPr>
            </a:pPr>
            <a:r>
              <a:t>12 chargers, 5 stations, all talking to Kafka</a:t>
            </a:r>
          </a:p>
        </p:txBody>
      </p:sp>
      <p:sp>
        <p:nvSpPr>
          <p:cNvPr id="12" name="TextBox 11"/>
          <p:cNvSpPr txBox="1"/>
          <p:nvPr/>
        </p:nvSpPr>
        <p:spPr>
          <a:xfrm>
            <a:off x="1828800" y="2350008"/>
            <a:ext cx="9326880" cy="402336"/>
          </a:xfrm>
          <a:prstGeom prst="rect">
            <a:avLst/>
          </a:prstGeom>
          <a:noFill/>
        </p:spPr>
        <p:txBody>
          <a:bodyPr wrap="square">
            <a:spAutoFit/>
          </a:bodyPr>
          <a:lstStyle/>
          <a:p>
            <a:pPr algn="l">
              <a:defRPr sz="1350" b="0" i="0">
                <a:solidFill>
                  <a:srgbClr val="5A7184"/>
                </a:solidFill>
                <a:latin typeface="Segoe UI"/>
              </a:defRPr>
            </a:pPr>
            <a:r>
              <a:t>Every charger sends its charging sessions and status changes to two Kafka topics.</a:t>
            </a:r>
          </a:p>
        </p:txBody>
      </p:sp>
      <p:sp>
        <p:nvSpPr>
          <p:cNvPr id="13" name="Rounded Rectangle 12"/>
          <p:cNvSpPr/>
          <p:nvPr/>
        </p:nvSpPr>
        <p:spPr>
          <a:xfrm>
            <a:off x="731520" y="2916936"/>
            <a:ext cx="10698480" cy="1005840"/>
          </a:xfrm>
          <a:prstGeom prst="roundRect">
            <a:avLst>
              <a:gd name="adj" fmla="val 8000"/>
            </a:avLst>
          </a:prstGeom>
          <a:solidFill>
            <a:srgbClr val="F4F8FB"/>
          </a:solidFill>
          <a:ln w="19050">
            <a:solidFill>
              <a:srgbClr val="E8833A"/>
            </a:solidFill>
          </a:ln>
          <a:effectLst/>
        </p:spPr>
        <p:txBody>
          <a:bodyPr rtlCol="0" anchor="ctr"/>
          <a:lstStyle/>
          <a:p>
            <a:pPr algn="ctr"/>
          </a:p>
        </p:txBody>
      </p:sp>
      <p:sp>
        <p:nvSpPr>
          <p:cNvPr id="14" name="Oval 13"/>
          <p:cNvSpPr/>
          <p:nvPr/>
        </p:nvSpPr>
        <p:spPr>
          <a:xfrm>
            <a:off x="1051560" y="3145536"/>
            <a:ext cx="548640" cy="548640"/>
          </a:xfrm>
          <a:prstGeom prst="ellipse">
            <a:avLst/>
          </a:prstGeom>
          <a:solidFill>
            <a:srgbClr val="E8833A"/>
          </a:solidFill>
          <a:ln>
            <a:noFill/>
          </a:ln>
          <a:effectLst/>
        </p:spPr>
        <p:txBody>
          <a:bodyPr rtlCol="0" anchor="ctr" wrap="none"/>
          <a:lstStyle/>
          <a:p>
            <a:pPr algn="ctr">
              <a:defRPr sz="1000">
                <a:solidFill>
                  <a:srgbClr val="FFFFFF"/>
                </a:solidFill>
              </a:defRPr>
            </a:pPr>
            <a:r>
              <a:t>📊</a:t>
            </a:r>
          </a:p>
        </p:txBody>
      </p:sp>
      <p:sp>
        <p:nvSpPr>
          <p:cNvPr id="15" name="TextBox 14"/>
          <p:cNvSpPr txBox="1"/>
          <p:nvPr/>
        </p:nvSpPr>
        <p:spPr>
          <a:xfrm>
            <a:off x="1828800" y="3063240"/>
            <a:ext cx="9326880" cy="411480"/>
          </a:xfrm>
          <a:prstGeom prst="rect">
            <a:avLst/>
          </a:prstGeom>
          <a:noFill/>
        </p:spPr>
        <p:txBody>
          <a:bodyPr wrap="square">
            <a:spAutoFit/>
          </a:bodyPr>
          <a:lstStyle/>
          <a:p>
            <a:pPr algn="l">
              <a:defRPr sz="1800" b="1" i="0">
                <a:solidFill>
                  <a:srgbClr val="11283B"/>
                </a:solidFill>
                <a:latin typeface="Segoe UI"/>
              </a:defRPr>
            </a:pPr>
            <a:r>
              <a:t>Operations wants it live, with no load jobs</a:t>
            </a:r>
          </a:p>
        </p:txBody>
      </p:sp>
      <p:sp>
        <p:nvSpPr>
          <p:cNvPr id="16" name="TextBox 15"/>
          <p:cNvSpPr txBox="1"/>
          <p:nvPr/>
        </p:nvSpPr>
        <p:spPr>
          <a:xfrm>
            <a:off x="1828800" y="3483864"/>
            <a:ext cx="9326880" cy="402336"/>
          </a:xfrm>
          <a:prstGeom prst="rect">
            <a:avLst/>
          </a:prstGeom>
          <a:noFill/>
        </p:spPr>
        <p:txBody>
          <a:bodyPr wrap="square">
            <a:spAutoFit/>
          </a:bodyPr>
          <a:lstStyle/>
          <a:p>
            <a:pPr algn="l">
              <a:defRPr sz="1350" b="0" i="0">
                <a:solidFill>
                  <a:srgbClr val="5A7184"/>
                </a:solidFill>
                <a:latin typeface="Segoe UI"/>
              </a:defRPr>
            </a:pPr>
            <a:r>
              <a:t>Energy, revenue and charger health in Snowflake within a minute, without anyone running a load.</a:t>
            </a:r>
          </a:p>
        </p:txBody>
      </p:sp>
      <p:sp>
        <p:nvSpPr>
          <p:cNvPr id="17" name="Rounded Rectangle 16"/>
          <p:cNvSpPr/>
          <p:nvPr/>
        </p:nvSpPr>
        <p:spPr>
          <a:xfrm>
            <a:off x="731520" y="4050792"/>
            <a:ext cx="10698480" cy="1005840"/>
          </a:xfrm>
          <a:prstGeom prst="roundRect">
            <a:avLst>
              <a:gd name="adj" fmla="val 8000"/>
            </a:avLst>
          </a:prstGeom>
          <a:solidFill>
            <a:srgbClr val="F4F8FB"/>
          </a:solidFill>
          <a:ln w="19050">
            <a:solidFill>
              <a:srgbClr val="E5484D"/>
            </a:solidFill>
          </a:ln>
          <a:effectLst/>
        </p:spPr>
        <p:txBody>
          <a:bodyPr rtlCol="0" anchor="ctr"/>
          <a:lstStyle/>
          <a:p>
            <a:pPr algn="ctr"/>
          </a:p>
        </p:txBody>
      </p:sp>
      <p:sp>
        <p:nvSpPr>
          <p:cNvPr id="18" name="Oval 17"/>
          <p:cNvSpPr/>
          <p:nvPr/>
        </p:nvSpPr>
        <p:spPr>
          <a:xfrm>
            <a:off x="1051560" y="4279392"/>
            <a:ext cx="548640" cy="548640"/>
          </a:xfrm>
          <a:prstGeom prst="ellipse">
            <a:avLst/>
          </a:prstGeom>
          <a:solidFill>
            <a:srgbClr val="E5484D"/>
          </a:solidFill>
          <a:ln>
            <a:noFill/>
          </a:ln>
          <a:effectLst/>
        </p:spPr>
        <p:txBody>
          <a:bodyPr rtlCol="0" anchor="ctr" wrap="none"/>
          <a:lstStyle/>
          <a:p>
            <a:pPr algn="ctr">
              <a:defRPr sz="1000">
                <a:solidFill>
                  <a:srgbClr val="FFFFFF"/>
                </a:solidFill>
              </a:defRPr>
            </a:pPr>
            <a:r>
              <a:t>⚠️</a:t>
            </a:r>
          </a:p>
        </p:txBody>
      </p:sp>
      <p:sp>
        <p:nvSpPr>
          <p:cNvPr id="19" name="TextBox 18"/>
          <p:cNvSpPr txBox="1"/>
          <p:nvPr/>
        </p:nvSpPr>
        <p:spPr>
          <a:xfrm>
            <a:off x="1828800" y="4197096"/>
            <a:ext cx="9326880" cy="411480"/>
          </a:xfrm>
          <a:prstGeom prst="rect">
            <a:avLst/>
          </a:prstGeom>
          <a:noFill/>
        </p:spPr>
        <p:txBody>
          <a:bodyPr wrap="square">
            <a:spAutoFit/>
          </a:bodyPr>
          <a:lstStyle/>
          <a:p>
            <a:pPr algn="l">
              <a:defRPr sz="1800" b="1" i="0">
                <a:solidFill>
                  <a:srgbClr val="11283B"/>
                </a:solidFill>
                <a:latin typeface="Segoe UI"/>
              </a:defRPr>
            </a:pPr>
            <a:r>
              <a:t>And real streams are messy</a:t>
            </a:r>
          </a:p>
        </p:txBody>
      </p:sp>
      <p:sp>
        <p:nvSpPr>
          <p:cNvPr id="20" name="TextBox 19"/>
          <p:cNvSpPr txBox="1"/>
          <p:nvPr/>
        </p:nvSpPr>
        <p:spPr>
          <a:xfrm>
            <a:off x="1828800" y="4617720"/>
            <a:ext cx="9326880" cy="402336"/>
          </a:xfrm>
          <a:prstGeom prst="rect">
            <a:avLst/>
          </a:prstGeom>
          <a:noFill/>
        </p:spPr>
        <p:txBody>
          <a:bodyPr wrap="square">
            <a:spAutoFit/>
          </a:bodyPr>
          <a:lstStyle/>
          <a:p>
            <a:pPr algn="l">
              <a:defRPr sz="1350" b="0" i="0">
                <a:solidFill>
                  <a:srgbClr val="5A7184"/>
                </a:solidFill>
                <a:latin typeface="Segoe UI"/>
              </a:defRPr>
            </a:pPr>
            <a:r>
              <a:t>Some events arrive twice, a firmware bug sends broken JSON, and an offline charger sends its events hours late.</a:t>
            </a:r>
          </a:p>
        </p:txBody>
      </p:sp>
      <p:sp>
        <p:nvSpPr>
          <p:cNvPr id="21" name="Rounded Rectangle 20"/>
          <p:cNvSpPr/>
          <p:nvPr/>
        </p:nvSpPr>
        <p:spPr>
          <a:xfrm>
            <a:off x="731520" y="5230368"/>
            <a:ext cx="10698480" cy="960120"/>
          </a:xfrm>
          <a:prstGeom prst="roundRect">
            <a:avLst>
              <a:gd name="adj" fmla="val 8000"/>
            </a:avLst>
          </a:prstGeom>
          <a:solidFill>
            <a:srgbClr val="EAF3FA"/>
          </a:solidFill>
          <a:ln w="19050">
            <a:solidFill>
              <a:srgbClr val="1BA37A"/>
            </a:solidFill>
          </a:ln>
          <a:effectLst/>
        </p:spPr>
        <p:txBody>
          <a:bodyPr rtlCol="0" anchor="ctr"/>
          <a:lstStyle/>
          <a:p>
            <a:pPr algn="ctr"/>
          </a:p>
        </p:txBody>
      </p:sp>
      <p:sp>
        <p:nvSpPr>
          <p:cNvPr id="22" name="Oval 21"/>
          <p:cNvSpPr/>
          <p:nvPr/>
        </p:nvSpPr>
        <p:spPr>
          <a:xfrm>
            <a:off x="987552" y="5504688"/>
            <a:ext cx="420624" cy="420624"/>
          </a:xfrm>
          <a:prstGeom prst="ellipse">
            <a:avLst/>
          </a:prstGeom>
          <a:solidFill>
            <a:srgbClr val="1BA37A"/>
          </a:solidFill>
          <a:ln>
            <a:noFill/>
          </a:ln>
          <a:effectLst/>
        </p:spPr>
        <p:txBody>
          <a:bodyPr rtlCol="0" anchor="ctr" wrap="none"/>
          <a:lstStyle/>
          <a:p>
            <a:pPr algn="ctr">
              <a:defRPr sz="800">
                <a:solidFill>
                  <a:srgbClr val="FFFFFF"/>
                </a:solidFill>
              </a:defRPr>
            </a:pPr>
            <a:r>
              <a:t>📥</a:t>
            </a:r>
          </a:p>
        </p:txBody>
      </p:sp>
      <p:sp>
        <p:nvSpPr>
          <p:cNvPr id="23" name="TextBox 22"/>
          <p:cNvSpPr txBox="1"/>
          <p:nvPr/>
        </p:nvSpPr>
        <p:spPr>
          <a:xfrm>
            <a:off x="1645920" y="5321807"/>
            <a:ext cx="9509760" cy="274320"/>
          </a:xfrm>
          <a:prstGeom prst="rect">
            <a:avLst/>
          </a:prstGeom>
          <a:noFill/>
        </p:spPr>
        <p:txBody>
          <a:bodyPr wrap="square">
            <a:spAutoFit/>
          </a:bodyPr>
          <a:lstStyle/>
          <a:p>
            <a:pPr algn="l">
              <a:defRPr sz="1050" b="1" i="0">
                <a:solidFill>
                  <a:srgbClr val="5A7184"/>
                </a:solidFill>
                <a:latin typeface="Segoe UI"/>
              </a:defRPr>
            </a:pPr>
            <a:r>
              <a:t>THE DATA</a:t>
            </a:r>
          </a:p>
        </p:txBody>
      </p:sp>
      <p:sp>
        <p:nvSpPr>
          <p:cNvPr id="24" name="TextBox 23"/>
          <p:cNvSpPr txBox="1"/>
          <p:nvPr/>
        </p:nvSpPr>
        <p:spPr>
          <a:xfrm>
            <a:off x="1645920" y="5577840"/>
            <a:ext cx="9601200" cy="566928"/>
          </a:xfrm>
          <a:prstGeom prst="rect">
            <a:avLst/>
          </a:prstGeom>
          <a:noFill/>
        </p:spPr>
        <p:txBody>
          <a:bodyPr wrap="square">
            <a:spAutoFit/>
          </a:bodyPr>
          <a:lstStyle/>
          <a:p>
            <a:pPr algn="l">
              <a:defRPr sz="1350" b="0" i="0">
                <a:solidFill>
                  <a:srgbClr val="11283B"/>
                </a:solidFill>
                <a:latin typeface="Segoe UI"/>
              </a:defRPr>
            </a:pPr>
            <a:r>
              <a:t>One day of charger traffic and the Docker setup for Kafka, both in the starter files.</a:t>
            </a:r>
          </a:p>
        </p:txBody>
      </p:sp>
      <p:sp>
        <p:nvSpPr>
          <p:cNvPr id="25" name="TextBox 24"/>
          <p:cNvSpPr txBox="1"/>
          <p:nvPr/>
        </p:nvSpPr>
        <p:spPr>
          <a:xfrm>
            <a:off x="11155680" y="6400800"/>
            <a:ext cx="914400" cy="365760"/>
          </a:xfrm>
          <a:prstGeom prst="rect">
            <a:avLst/>
          </a:prstGeom>
          <a:noFill/>
        </p:spPr>
        <p:txBody>
          <a:bodyPr wrap="square">
            <a:spAutoFit/>
          </a:bodyPr>
          <a:lstStyle/>
          <a:p>
            <a:pPr algn="r">
              <a:defRPr sz="1000" b="0" i="0">
                <a:solidFill>
                  <a:srgbClr val="5A7184"/>
                </a:solidFill>
                <a:latin typeface="Segoe UI"/>
              </a:defRPr>
            </a:pPr>
            <a: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EAF3FA"/>
          </a:solidFill>
          <a:ln>
            <a:noFill/>
          </a:ln>
          <a:effectLst/>
        </p:spPr>
        <p:txBody>
          <a:bodyPr rtlCol="0" anchor="ctr"/>
          <a:lstStyle/>
          <a:p>
            <a:pPr algn="ctr"/>
          </a:p>
        </p:txBody>
      </p:sp>
      <p:sp>
        <p:nvSpPr>
          <p:cNvPr id="4" name="TextBox 3"/>
          <p:cNvSpPr txBox="1"/>
          <p:nvPr/>
        </p:nvSpPr>
        <p:spPr>
          <a:xfrm>
            <a:off x="731520" y="6473952"/>
            <a:ext cx="7680960" cy="320040"/>
          </a:xfrm>
          <a:prstGeom prst="rect">
            <a:avLst/>
          </a:prstGeom>
          <a:noFill/>
        </p:spPr>
        <p:txBody>
          <a:bodyPr wrap="square">
            <a:spAutoFit/>
          </a:bodyPr>
          <a:lstStyle/>
          <a:p>
            <a:pPr algn="l">
              <a:defRPr sz="900" b="0" i="1">
                <a:solidFill>
                  <a:srgbClr val="5A7184"/>
                </a:solidFill>
                <a:latin typeface="Segoe UI"/>
              </a:defRPr>
            </a:pPr>
            <a:r>
              <a:t>Snowflake on AWS  •  Build &amp; Architect Data Pipelines</a:t>
            </a:r>
          </a:p>
        </p:txBody>
      </p:sp>
      <p:sp>
        <p:nvSpPr>
          <p:cNvPr id="5" name="TextBox 4"/>
          <p:cNvSpPr txBox="1"/>
          <p:nvPr/>
        </p:nvSpPr>
        <p:spPr>
          <a:xfrm>
            <a:off x="8595360" y="6473952"/>
            <a:ext cx="2377440" cy="320040"/>
          </a:xfrm>
          <a:prstGeom prst="rect">
            <a:avLst/>
          </a:prstGeom>
          <a:noFill/>
        </p:spPr>
        <p:txBody>
          <a:bodyPr wrap="square">
            <a:spAutoFit/>
          </a:bodyPr>
          <a:lstStyle/>
          <a:p>
            <a:pPr algn="ctr">
              <a:defRPr sz="900" b="0" i="0">
                <a:solidFill>
                  <a:srgbClr val="11567F"/>
                </a:solidFill>
                <a:latin typeface="Segoe UI Semibold"/>
              </a:defRPr>
            </a:pPr>
            <a:r>
              <a:t>cognifydata.com</a:t>
            </a:r>
          </a:p>
        </p:txBody>
      </p:sp>
      <p:sp>
        <p:nvSpPr>
          <p:cNvPr id="6" name="TextBox 5"/>
          <p:cNvSpPr txBox="1"/>
          <p:nvPr/>
        </p:nvSpPr>
        <p:spPr>
          <a:xfrm>
            <a:off x="731520" y="365760"/>
            <a:ext cx="10698480" cy="640080"/>
          </a:xfrm>
          <a:prstGeom prst="rect">
            <a:avLst/>
          </a:prstGeom>
          <a:noFill/>
        </p:spPr>
        <p:txBody>
          <a:bodyPr wrap="square">
            <a:spAutoFit/>
          </a:bodyPr>
          <a:lstStyle/>
          <a:p>
            <a:pPr algn="l">
              <a:defRPr sz="3200" b="1" i="0">
                <a:solidFill>
                  <a:srgbClr val="11283B"/>
                </a:solidFill>
                <a:latin typeface="Segoe UI Semibold"/>
              </a:defRPr>
            </a:pPr>
            <a:r>
              <a:t>Your Tasks</a:t>
            </a:r>
          </a:p>
        </p:txBody>
      </p:sp>
      <p:sp>
        <p:nvSpPr>
          <p:cNvPr id="7" name="Rectangle 6"/>
          <p:cNvSpPr/>
          <p:nvPr/>
        </p:nvSpPr>
        <p:spPr>
          <a:xfrm>
            <a:off x="731520" y="1005840"/>
            <a:ext cx="2286000" cy="27432"/>
          </a:xfrm>
          <a:prstGeom prst="rect">
            <a:avLst/>
          </a:prstGeom>
          <a:solidFill>
            <a:srgbClr val="29B5E8"/>
          </a:solidFill>
          <a:ln>
            <a:noFill/>
          </a:ln>
          <a:effectLst/>
        </p:spPr>
        <p:txBody>
          <a:bodyPr rtlCol="0" anchor="ctr"/>
          <a:lstStyle/>
          <a:p>
            <a:pPr algn="ctr"/>
          </a:p>
        </p:txBody>
      </p:sp>
      <p:sp>
        <p:nvSpPr>
          <p:cNvPr id="8" name="TextBox 7"/>
          <p:cNvSpPr txBox="1"/>
          <p:nvPr/>
        </p:nvSpPr>
        <p:spPr>
          <a:xfrm>
            <a:off x="731520" y="1170432"/>
            <a:ext cx="10698480" cy="457200"/>
          </a:xfrm>
          <a:prstGeom prst="rect">
            <a:avLst/>
          </a:prstGeom>
          <a:noFill/>
        </p:spPr>
        <p:txBody>
          <a:bodyPr wrap="square">
            <a:spAutoFit/>
          </a:bodyPr>
          <a:lstStyle/>
          <a:p>
            <a:pPr algn="l">
              <a:defRPr sz="1600" b="0" i="1">
                <a:solidFill>
                  <a:srgbClr val="5A7184"/>
                </a:solidFill>
                <a:latin typeface="Segoe UI"/>
              </a:defRPr>
            </a:pPr>
            <a:r>
              <a:t>Try it yourself first with the starter files, then compare with the full solution</a:t>
            </a:r>
          </a:p>
        </p:txBody>
      </p:sp>
      <p:sp>
        <p:nvSpPr>
          <p:cNvPr id="9" name="Rounded Rectangle 8"/>
          <p:cNvSpPr/>
          <p:nvPr/>
        </p:nvSpPr>
        <p:spPr>
          <a:xfrm>
            <a:off x="731520" y="1691640"/>
            <a:ext cx="5257800" cy="603504"/>
          </a:xfrm>
          <a:prstGeom prst="roundRect">
            <a:avLst>
              <a:gd name="adj" fmla="val 8000"/>
            </a:avLst>
          </a:prstGeom>
          <a:solidFill>
            <a:srgbClr val="F4F8FB"/>
          </a:solidFill>
          <a:ln w="19050">
            <a:solidFill>
              <a:srgbClr val="29B5E8"/>
            </a:solidFill>
          </a:ln>
          <a:effectLst/>
        </p:spPr>
        <p:txBody>
          <a:bodyPr rtlCol="0" anchor="ctr"/>
          <a:lstStyle/>
          <a:p>
            <a:pPr algn="ctr"/>
          </a:p>
        </p:txBody>
      </p:sp>
      <p:sp>
        <p:nvSpPr>
          <p:cNvPr id="10" name="Oval 9"/>
          <p:cNvSpPr/>
          <p:nvPr/>
        </p:nvSpPr>
        <p:spPr>
          <a:xfrm>
            <a:off x="886968" y="1810512"/>
            <a:ext cx="365760" cy="365760"/>
          </a:xfrm>
          <a:prstGeom prst="ellipse">
            <a:avLst/>
          </a:prstGeom>
          <a:solidFill>
            <a:srgbClr val="29B5E8"/>
          </a:solidFill>
          <a:ln>
            <a:noFill/>
          </a:ln>
          <a:effectLst/>
        </p:spPr>
        <p:txBody>
          <a:bodyPr rtlCol="0" anchor="ctr" wrap="none"/>
          <a:lstStyle/>
          <a:p>
            <a:pPr algn="ctr">
              <a:defRPr sz="700">
                <a:solidFill>
                  <a:srgbClr val="FFFFFF"/>
                </a:solidFill>
              </a:defRPr>
            </a:pPr>
            <a:r>
              <a:t>1</a:t>
            </a:r>
          </a:p>
        </p:txBody>
      </p:sp>
      <p:sp>
        <p:nvSpPr>
          <p:cNvPr id="11" name="TextBox 10"/>
          <p:cNvSpPr txBox="1"/>
          <p:nvPr/>
        </p:nvSpPr>
        <p:spPr>
          <a:xfrm>
            <a:off x="1417320" y="1691640"/>
            <a:ext cx="4434840" cy="603504"/>
          </a:xfrm>
          <a:prstGeom prst="rect">
            <a:avLst/>
          </a:prstGeom>
          <a:noFill/>
        </p:spPr>
        <p:txBody>
          <a:bodyPr wrap="square" anchor="ctr">
            <a:spAutoFit/>
          </a:bodyPr>
          <a:lstStyle/>
          <a:p>
            <a:pPr algn="l">
              <a:defRPr sz="1350" b="1" i="0">
                <a:solidFill>
                  <a:srgbClr val="11283B"/>
                </a:solidFill>
                <a:latin typeface="Segoe UI"/>
              </a:defRPr>
            </a:pPr>
            <a:r>
              <a:t>Give the Kafka connector its own secure login, with least privilege</a:t>
            </a:r>
          </a:p>
        </p:txBody>
      </p:sp>
      <p:sp>
        <p:nvSpPr>
          <p:cNvPr id="12" name="Rounded Rectangle 11"/>
          <p:cNvSpPr/>
          <p:nvPr/>
        </p:nvSpPr>
        <p:spPr>
          <a:xfrm>
            <a:off x="6172200" y="1691640"/>
            <a:ext cx="5257800" cy="603504"/>
          </a:xfrm>
          <a:prstGeom prst="roundRect">
            <a:avLst>
              <a:gd name="adj" fmla="val 8000"/>
            </a:avLst>
          </a:prstGeom>
          <a:solidFill>
            <a:srgbClr val="F4F8FB"/>
          </a:solidFill>
          <a:ln w="19050">
            <a:solidFill>
              <a:srgbClr val="6B5BD2"/>
            </a:solidFill>
          </a:ln>
          <a:effectLst/>
        </p:spPr>
        <p:txBody>
          <a:bodyPr rtlCol="0" anchor="ctr"/>
          <a:lstStyle/>
          <a:p>
            <a:pPr algn="ctr"/>
          </a:p>
        </p:txBody>
      </p:sp>
      <p:sp>
        <p:nvSpPr>
          <p:cNvPr id="13" name="Oval 12"/>
          <p:cNvSpPr/>
          <p:nvPr/>
        </p:nvSpPr>
        <p:spPr>
          <a:xfrm>
            <a:off x="6327648" y="1810512"/>
            <a:ext cx="365760" cy="365760"/>
          </a:xfrm>
          <a:prstGeom prst="ellipse">
            <a:avLst/>
          </a:prstGeom>
          <a:solidFill>
            <a:srgbClr val="6B5BD2"/>
          </a:solidFill>
          <a:ln>
            <a:noFill/>
          </a:ln>
          <a:effectLst/>
        </p:spPr>
        <p:txBody>
          <a:bodyPr rtlCol="0" anchor="ctr" wrap="none"/>
          <a:lstStyle/>
          <a:p>
            <a:pPr algn="ctr">
              <a:defRPr sz="700">
                <a:solidFill>
                  <a:srgbClr val="FFFFFF"/>
                </a:solidFill>
              </a:defRPr>
            </a:pPr>
            <a:r>
              <a:t>2</a:t>
            </a:r>
          </a:p>
        </p:txBody>
      </p:sp>
      <p:sp>
        <p:nvSpPr>
          <p:cNvPr id="14" name="TextBox 13"/>
          <p:cNvSpPr txBox="1"/>
          <p:nvPr/>
        </p:nvSpPr>
        <p:spPr>
          <a:xfrm>
            <a:off x="6858000" y="1691640"/>
            <a:ext cx="4434840" cy="603504"/>
          </a:xfrm>
          <a:prstGeom prst="rect">
            <a:avLst/>
          </a:prstGeom>
          <a:noFill/>
        </p:spPr>
        <p:txBody>
          <a:bodyPr wrap="square" anchor="ctr">
            <a:spAutoFit/>
          </a:bodyPr>
          <a:lstStyle/>
          <a:p>
            <a:pPr algn="l">
              <a:defRPr sz="1350" b="1" i="0">
                <a:solidFill>
                  <a:srgbClr val="11283B"/>
                </a:solidFill>
                <a:latin typeface="Segoe UI"/>
              </a:defRPr>
            </a:pPr>
            <a:r>
              <a:t>Stream both Kafka topics into Snowflake, with no load jobs</a:t>
            </a:r>
          </a:p>
        </p:txBody>
      </p:sp>
      <p:sp>
        <p:nvSpPr>
          <p:cNvPr id="15" name="Rounded Rectangle 14"/>
          <p:cNvSpPr/>
          <p:nvPr/>
        </p:nvSpPr>
        <p:spPr>
          <a:xfrm>
            <a:off x="731520" y="2404872"/>
            <a:ext cx="5257800" cy="603504"/>
          </a:xfrm>
          <a:prstGeom prst="roundRect">
            <a:avLst>
              <a:gd name="adj" fmla="val 8000"/>
            </a:avLst>
          </a:prstGeom>
          <a:solidFill>
            <a:srgbClr val="F4F8FB"/>
          </a:solidFill>
          <a:ln w="19050">
            <a:solidFill>
              <a:srgbClr val="E8833A"/>
            </a:solidFill>
          </a:ln>
          <a:effectLst/>
        </p:spPr>
        <p:txBody>
          <a:bodyPr rtlCol="0" anchor="ctr"/>
          <a:lstStyle/>
          <a:p>
            <a:pPr algn="ctr"/>
          </a:p>
        </p:txBody>
      </p:sp>
      <p:sp>
        <p:nvSpPr>
          <p:cNvPr id="16" name="Oval 15"/>
          <p:cNvSpPr/>
          <p:nvPr/>
        </p:nvSpPr>
        <p:spPr>
          <a:xfrm>
            <a:off x="886968" y="2523744"/>
            <a:ext cx="365760" cy="365760"/>
          </a:xfrm>
          <a:prstGeom prst="ellipse">
            <a:avLst/>
          </a:prstGeom>
          <a:solidFill>
            <a:srgbClr val="E8833A"/>
          </a:solidFill>
          <a:ln>
            <a:noFill/>
          </a:ln>
          <a:effectLst/>
        </p:spPr>
        <p:txBody>
          <a:bodyPr rtlCol="0" anchor="ctr" wrap="none"/>
          <a:lstStyle/>
          <a:p>
            <a:pPr algn="ctr">
              <a:defRPr sz="700">
                <a:solidFill>
                  <a:srgbClr val="FFFFFF"/>
                </a:solidFill>
              </a:defRPr>
            </a:pPr>
            <a:r>
              <a:t>3</a:t>
            </a:r>
          </a:p>
        </p:txBody>
      </p:sp>
      <p:sp>
        <p:nvSpPr>
          <p:cNvPr id="17" name="TextBox 16"/>
          <p:cNvSpPr txBox="1"/>
          <p:nvPr/>
        </p:nvSpPr>
        <p:spPr>
          <a:xfrm>
            <a:off x="1417320" y="2404872"/>
            <a:ext cx="4434840" cy="603504"/>
          </a:xfrm>
          <a:prstGeom prst="rect">
            <a:avLst/>
          </a:prstGeom>
          <a:noFill/>
        </p:spPr>
        <p:txBody>
          <a:bodyPr wrap="square" anchor="ctr">
            <a:spAutoFit/>
          </a:bodyPr>
          <a:lstStyle/>
          <a:p>
            <a:pPr algn="l">
              <a:defRPr sz="1350" b="1" i="0">
                <a:solidFill>
                  <a:srgbClr val="11283B"/>
                </a:solidFill>
                <a:latin typeface="Segoe UI"/>
              </a:defRPr>
            </a:pPr>
            <a:r>
              <a:t>Turn raw events into sessions, hourly KPIs and charger health</a:t>
            </a:r>
          </a:p>
        </p:txBody>
      </p:sp>
      <p:sp>
        <p:nvSpPr>
          <p:cNvPr id="18" name="Rounded Rectangle 17"/>
          <p:cNvSpPr/>
          <p:nvPr/>
        </p:nvSpPr>
        <p:spPr>
          <a:xfrm>
            <a:off x="6172200" y="2404872"/>
            <a:ext cx="5257800" cy="603504"/>
          </a:xfrm>
          <a:prstGeom prst="roundRect">
            <a:avLst>
              <a:gd name="adj" fmla="val 8000"/>
            </a:avLst>
          </a:prstGeom>
          <a:solidFill>
            <a:srgbClr val="F4F8FB"/>
          </a:solidFill>
          <a:ln w="19050">
            <a:solidFill>
              <a:srgbClr val="1BA37A"/>
            </a:solidFill>
          </a:ln>
          <a:effectLst/>
        </p:spPr>
        <p:txBody>
          <a:bodyPr rtlCol="0" anchor="ctr"/>
          <a:lstStyle/>
          <a:p>
            <a:pPr algn="ctr"/>
          </a:p>
        </p:txBody>
      </p:sp>
      <p:sp>
        <p:nvSpPr>
          <p:cNvPr id="19" name="Oval 18"/>
          <p:cNvSpPr/>
          <p:nvPr/>
        </p:nvSpPr>
        <p:spPr>
          <a:xfrm>
            <a:off x="6327648" y="2523744"/>
            <a:ext cx="365760" cy="365760"/>
          </a:xfrm>
          <a:prstGeom prst="ellipse">
            <a:avLst/>
          </a:prstGeom>
          <a:solidFill>
            <a:srgbClr val="1BA37A"/>
          </a:solidFill>
          <a:ln>
            <a:noFill/>
          </a:ln>
          <a:effectLst/>
        </p:spPr>
        <p:txBody>
          <a:bodyPr rtlCol="0" anchor="ctr" wrap="none"/>
          <a:lstStyle/>
          <a:p>
            <a:pPr algn="ctr">
              <a:defRPr sz="700">
                <a:solidFill>
                  <a:srgbClr val="FFFFFF"/>
                </a:solidFill>
              </a:defRPr>
            </a:pPr>
            <a:r>
              <a:t>4</a:t>
            </a:r>
          </a:p>
        </p:txBody>
      </p:sp>
      <p:sp>
        <p:nvSpPr>
          <p:cNvPr id="20" name="TextBox 19"/>
          <p:cNvSpPr txBox="1"/>
          <p:nvPr/>
        </p:nvSpPr>
        <p:spPr>
          <a:xfrm>
            <a:off x="6858000" y="2404872"/>
            <a:ext cx="4434840" cy="603504"/>
          </a:xfrm>
          <a:prstGeom prst="rect">
            <a:avLst/>
          </a:prstGeom>
          <a:noFill/>
        </p:spPr>
        <p:txBody>
          <a:bodyPr wrap="square" anchor="ctr">
            <a:spAutoFit/>
          </a:bodyPr>
          <a:lstStyle/>
          <a:p>
            <a:pPr algn="l">
              <a:defRPr sz="1350" b="1" i="0">
                <a:solidFill>
                  <a:srgbClr val="11283B"/>
                </a:solidFill>
                <a:latin typeface="Segoe UI"/>
              </a:defRPr>
            </a:pPr>
            <a:r>
              <a:t>Make sure duplicate events don't inflate the numbers</a:t>
            </a:r>
          </a:p>
        </p:txBody>
      </p:sp>
      <p:sp>
        <p:nvSpPr>
          <p:cNvPr id="21" name="Rounded Rectangle 20"/>
          <p:cNvSpPr/>
          <p:nvPr/>
        </p:nvSpPr>
        <p:spPr>
          <a:xfrm>
            <a:off x="731520" y="3118104"/>
            <a:ext cx="5257800" cy="603504"/>
          </a:xfrm>
          <a:prstGeom prst="roundRect">
            <a:avLst>
              <a:gd name="adj" fmla="val 8000"/>
            </a:avLst>
          </a:prstGeom>
          <a:solidFill>
            <a:srgbClr val="F4F8FB"/>
          </a:solidFill>
          <a:ln w="19050">
            <a:solidFill>
              <a:srgbClr val="E5484D"/>
            </a:solidFill>
          </a:ln>
          <a:effectLst/>
        </p:spPr>
        <p:txBody>
          <a:bodyPr rtlCol="0" anchor="ctr"/>
          <a:lstStyle/>
          <a:p>
            <a:pPr algn="ctr"/>
          </a:p>
        </p:txBody>
      </p:sp>
      <p:sp>
        <p:nvSpPr>
          <p:cNvPr id="22" name="Oval 21"/>
          <p:cNvSpPr/>
          <p:nvPr/>
        </p:nvSpPr>
        <p:spPr>
          <a:xfrm>
            <a:off x="886968" y="3236976"/>
            <a:ext cx="365760" cy="365760"/>
          </a:xfrm>
          <a:prstGeom prst="ellipse">
            <a:avLst/>
          </a:prstGeom>
          <a:solidFill>
            <a:srgbClr val="E5484D"/>
          </a:solidFill>
          <a:ln>
            <a:noFill/>
          </a:ln>
          <a:effectLst/>
        </p:spPr>
        <p:txBody>
          <a:bodyPr rtlCol="0" anchor="ctr" wrap="none"/>
          <a:lstStyle/>
          <a:p>
            <a:pPr algn="ctr">
              <a:defRPr sz="700">
                <a:solidFill>
                  <a:srgbClr val="FFFFFF"/>
                </a:solidFill>
              </a:defRPr>
            </a:pPr>
            <a:r>
              <a:t>5</a:t>
            </a:r>
          </a:p>
        </p:txBody>
      </p:sp>
      <p:sp>
        <p:nvSpPr>
          <p:cNvPr id="23" name="TextBox 22"/>
          <p:cNvSpPr txBox="1"/>
          <p:nvPr/>
        </p:nvSpPr>
        <p:spPr>
          <a:xfrm>
            <a:off x="1417320" y="3118104"/>
            <a:ext cx="4434840" cy="603504"/>
          </a:xfrm>
          <a:prstGeom prst="rect">
            <a:avLst/>
          </a:prstGeom>
          <a:noFill/>
        </p:spPr>
        <p:txBody>
          <a:bodyPr wrap="square" anchor="ctr">
            <a:spAutoFit/>
          </a:bodyPr>
          <a:lstStyle/>
          <a:p>
            <a:pPr algn="l">
              <a:defRPr sz="1350" b="1" i="0">
                <a:solidFill>
                  <a:srgbClr val="11283B"/>
                </a:solidFill>
                <a:latin typeface="Segoe UI"/>
              </a:defRPr>
            </a:pPr>
            <a:r>
              <a:t>Keep a broken message from stopping the pipeline</a:t>
            </a:r>
          </a:p>
        </p:txBody>
      </p:sp>
      <p:sp>
        <p:nvSpPr>
          <p:cNvPr id="24" name="Rounded Rectangle 23"/>
          <p:cNvSpPr/>
          <p:nvPr/>
        </p:nvSpPr>
        <p:spPr>
          <a:xfrm>
            <a:off x="6172200" y="3118104"/>
            <a:ext cx="5257800" cy="603504"/>
          </a:xfrm>
          <a:prstGeom prst="roundRect">
            <a:avLst>
              <a:gd name="adj" fmla="val 8000"/>
            </a:avLst>
          </a:prstGeom>
          <a:solidFill>
            <a:srgbClr val="F4F8FB"/>
          </a:solidFill>
          <a:ln w="19050">
            <a:solidFill>
              <a:srgbClr val="11567F"/>
            </a:solidFill>
          </a:ln>
          <a:effectLst/>
        </p:spPr>
        <p:txBody>
          <a:bodyPr rtlCol="0" anchor="ctr"/>
          <a:lstStyle/>
          <a:p>
            <a:pPr algn="ctr"/>
          </a:p>
        </p:txBody>
      </p:sp>
      <p:sp>
        <p:nvSpPr>
          <p:cNvPr id="25" name="Oval 24"/>
          <p:cNvSpPr/>
          <p:nvPr/>
        </p:nvSpPr>
        <p:spPr>
          <a:xfrm>
            <a:off x="6327648" y="3236976"/>
            <a:ext cx="365760" cy="365760"/>
          </a:xfrm>
          <a:prstGeom prst="ellipse">
            <a:avLst/>
          </a:prstGeom>
          <a:solidFill>
            <a:srgbClr val="11567F"/>
          </a:solidFill>
          <a:ln>
            <a:noFill/>
          </a:ln>
          <a:effectLst/>
        </p:spPr>
        <p:txBody>
          <a:bodyPr rtlCol="0" anchor="ctr" wrap="none"/>
          <a:lstStyle/>
          <a:p>
            <a:pPr algn="ctr">
              <a:defRPr sz="700">
                <a:solidFill>
                  <a:srgbClr val="FFFFFF"/>
                </a:solidFill>
              </a:defRPr>
            </a:pPr>
            <a:r>
              <a:t>6</a:t>
            </a:r>
          </a:p>
        </p:txBody>
      </p:sp>
      <p:sp>
        <p:nvSpPr>
          <p:cNvPr id="26" name="TextBox 25"/>
          <p:cNvSpPr txBox="1"/>
          <p:nvPr/>
        </p:nvSpPr>
        <p:spPr>
          <a:xfrm>
            <a:off x="6858000" y="3118104"/>
            <a:ext cx="4434840" cy="603504"/>
          </a:xfrm>
          <a:prstGeom prst="rect">
            <a:avLst/>
          </a:prstGeom>
          <a:noFill/>
        </p:spPr>
        <p:txBody>
          <a:bodyPr wrap="square" anchor="ctr">
            <a:spAutoFit/>
          </a:bodyPr>
          <a:lstStyle/>
          <a:p>
            <a:pPr algn="l">
              <a:defRPr sz="1350" b="1" i="0">
                <a:solidFill>
                  <a:srgbClr val="11283B"/>
                </a:solidFill>
                <a:latin typeface="Segoe UI"/>
              </a:defRPr>
            </a:pPr>
            <a:r>
              <a:t>Let late events correct the numbers already reported</a:t>
            </a:r>
          </a:p>
        </p:txBody>
      </p:sp>
      <p:sp>
        <p:nvSpPr>
          <p:cNvPr id="27" name="Rounded Rectangle 26">
            <a:hlinkClick r:id="rId2"/>
          </p:cNvPr>
          <p:cNvSpPr/>
          <p:nvPr/>
        </p:nvSpPr>
        <p:spPr>
          <a:xfrm>
            <a:off x="731520" y="3977639"/>
            <a:ext cx="10698480" cy="1280160"/>
          </a:xfrm>
          <a:prstGeom prst="roundRect">
            <a:avLst>
              <a:gd name="adj" fmla="val 8000"/>
            </a:avLst>
          </a:prstGeom>
          <a:solidFill>
            <a:srgbClr val="EAF3FA"/>
          </a:solidFill>
          <a:ln w="19050">
            <a:solidFill>
              <a:srgbClr val="11567F"/>
            </a:solidFill>
          </a:ln>
          <a:effectLst/>
        </p:spPr>
        <p:txBody>
          <a:bodyPr rtlCol="0" anchor="ctr"/>
          <a:lstStyle/>
          <a:p>
            <a:pPr algn="ctr"/>
          </a:p>
        </p:txBody>
      </p:sp>
      <p:sp>
        <p:nvSpPr>
          <p:cNvPr id="28" name="Oval 27"/>
          <p:cNvSpPr/>
          <p:nvPr/>
        </p:nvSpPr>
        <p:spPr>
          <a:xfrm>
            <a:off x="1051560" y="4160520"/>
            <a:ext cx="420624" cy="420624"/>
          </a:xfrm>
          <a:prstGeom prst="ellipse">
            <a:avLst/>
          </a:prstGeom>
          <a:solidFill>
            <a:srgbClr val="11567F"/>
          </a:solidFill>
          <a:ln>
            <a:noFill/>
          </a:ln>
          <a:effectLst/>
        </p:spPr>
        <p:txBody>
          <a:bodyPr rtlCol="0" anchor="ctr" wrap="none"/>
          <a:lstStyle/>
          <a:p>
            <a:pPr algn="ctr">
              <a:defRPr sz="800">
                <a:solidFill>
                  <a:srgbClr val="FFFFFF"/>
                </a:solidFill>
              </a:defRPr>
            </a:pPr>
            <a:r>
              <a:t>🔗</a:t>
            </a:r>
          </a:p>
        </p:txBody>
      </p:sp>
      <p:sp>
        <p:nvSpPr>
          <p:cNvPr id="29" name="TextBox 28"/>
          <p:cNvSpPr txBox="1"/>
          <p:nvPr/>
        </p:nvSpPr>
        <p:spPr>
          <a:xfrm>
            <a:off x="1691640" y="4160520"/>
            <a:ext cx="8229600" cy="365760"/>
          </a:xfrm>
          <a:prstGeom prst="rect">
            <a:avLst/>
          </a:prstGeom>
          <a:noFill/>
        </p:spPr>
        <p:txBody>
          <a:bodyPr wrap="square">
            <a:spAutoFit/>
          </a:bodyPr>
          <a:lstStyle/>
          <a:p>
            <a:pPr algn="l">
              <a:defRPr sz="1200" b="1" i="0">
                <a:solidFill>
                  <a:srgbClr val="5A7184"/>
                </a:solidFill>
                <a:latin typeface="Segoe UI"/>
              </a:defRPr>
            </a:pPr>
            <a:r>
              <a:rPr spc="150"/>
              <a:t>FULL SOLUTION, WALKTHROUGH AND SOURCE CODE</a:t>
            </a:r>
          </a:p>
        </p:txBody>
      </p:sp>
      <p:sp>
        <p:nvSpPr>
          <p:cNvPr id="30" name="TextBox 29"/>
          <p:cNvSpPr txBox="1"/>
          <p:nvPr/>
        </p:nvSpPr>
        <p:spPr>
          <a:xfrm>
            <a:off x="914400" y="4617720"/>
            <a:ext cx="10332720" cy="502920"/>
          </a:xfrm>
          <a:prstGeom prst="rect">
            <a:avLst/>
          </a:prstGeom>
          <a:noFill/>
        </p:spPr>
        <p:txBody>
          <a:bodyPr wrap="none" anchor="ctr">
            <a:spAutoFit/>
          </a:bodyPr>
          <a:lstStyle/>
          <a:p>
            <a:pPr algn="ctr"/>
            <a:r>
              <a:rPr sz="1600" b="1" u="sng">
                <a:solidFill>
                  <a:srgbClr val="11567F"/>
                </a:solidFill>
                <a:latin typeface="Segoe UI Semibold"/>
                <a:hlinkClick r:id="rId2"/>
              </a:rPr>
              <a:t>https://cognifydata.com/labs/snowflake-kafka-snowpipe-streaming-dynamic-tables</a:t>
            </a:r>
          </a:p>
        </p:txBody>
      </p:sp>
      <p:sp>
        <p:nvSpPr>
          <p:cNvPr id="31" name="Rounded Rectangle 30"/>
          <p:cNvSpPr/>
          <p:nvPr/>
        </p:nvSpPr>
        <p:spPr>
          <a:xfrm>
            <a:off x="731520" y="5422392"/>
            <a:ext cx="3429000" cy="530352"/>
          </a:xfrm>
          <a:prstGeom prst="roundRect">
            <a:avLst>
              <a:gd name="adj" fmla="val 8000"/>
            </a:avLst>
          </a:prstGeom>
          <a:solidFill>
            <a:srgbClr val="FFFFFF"/>
          </a:solidFill>
          <a:ln w="19050">
            <a:solidFill>
              <a:srgbClr val="1BA37A"/>
            </a:solidFill>
          </a:ln>
          <a:effectLst/>
        </p:spPr>
        <p:txBody>
          <a:bodyPr rtlCol="0" anchor="ctr"/>
          <a:lstStyle/>
          <a:p>
            <a:pPr algn="ctr"/>
          </a:p>
        </p:txBody>
      </p:sp>
      <p:sp>
        <p:nvSpPr>
          <p:cNvPr id="32" name="Oval 31"/>
          <p:cNvSpPr/>
          <p:nvPr/>
        </p:nvSpPr>
        <p:spPr>
          <a:xfrm>
            <a:off x="914400" y="5513831"/>
            <a:ext cx="347472" cy="347472"/>
          </a:xfrm>
          <a:prstGeom prst="ellipse">
            <a:avLst/>
          </a:prstGeom>
          <a:solidFill>
            <a:srgbClr val="1BA37A"/>
          </a:solidFill>
          <a:ln>
            <a:noFill/>
          </a:ln>
          <a:effectLst/>
        </p:spPr>
        <p:txBody>
          <a:bodyPr rtlCol="0" anchor="ctr" wrap="none"/>
          <a:lstStyle/>
          <a:p>
            <a:pPr algn="ctr">
              <a:defRPr sz="600">
                <a:solidFill>
                  <a:srgbClr val="FFFFFF"/>
                </a:solidFill>
              </a:defRPr>
            </a:pPr>
            <a:r>
              <a:t>📎</a:t>
            </a:r>
          </a:p>
        </p:txBody>
      </p:sp>
      <p:sp>
        <p:nvSpPr>
          <p:cNvPr id="33" name="TextBox 32"/>
          <p:cNvSpPr txBox="1"/>
          <p:nvPr/>
        </p:nvSpPr>
        <p:spPr>
          <a:xfrm>
            <a:off x="1371600" y="5422392"/>
            <a:ext cx="2743200" cy="530352"/>
          </a:xfrm>
          <a:prstGeom prst="rect">
            <a:avLst/>
          </a:prstGeom>
          <a:noFill/>
        </p:spPr>
        <p:txBody>
          <a:bodyPr wrap="square" anchor="ctr">
            <a:spAutoFit/>
          </a:bodyPr>
          <a:lstStyle/>
          <a:p>
            <a:pPr algn="l">
              <a:defRPr sz="1400" b="1" i="0">
                <a:solidFill>
                  <a:srgbClr val="11283B"/>
                </a:solidFill>
                <a:latin typeface="Segoe UI"/>
              </a:defRPr>
            </a:pPr>
            <a:r>
              <a:t>Starter files attached</a:t>
            </a:r>
          </a:p>
        </p:txBody>
      </p:sp>
      <p:sp>
        <p:nvSpPr>
          <p:cNvPr id="34" name="Rounded Rectangle 33"/>
          <p:cNvSpPr/>
          <p:nvPr/>
        </p:nvSpPr>
        <p:spPr>
          <a:xfrm>
            <a:off x="4366260" y="5422392"/>
            <a:ext cx="3429000" cy="530352"/>
          </a:xfrm>
          <a:prstGeom prst="roundRect">
            <a:avLst>
              <a:gd name="adj" fmla="val 8000"/>
            </a:avLst>
          </a:prstGeom>
          <a:solidFill>
            <a:srgbClr val="FFFFFF"/>
          </a:solidFill>
          <a:ln w="19050">
            <a:solidFill>
              <a:srgbClr val="1BA37A"/>
            </a:solidFill>
          </a:ln>
          <a:effectLst/>
        </p:spPr>
        <p:txBody>
          <a:bodyPr rtlCol="0" anchor="ctr"/>
          <a:lstStyle/>
          <a:p>
            <a:pPr algn="ctr"/>
          </a:p>
        </p:txBody>
      </p:sp>
      <p:sp>
        <p:nvSpPr>
          <p:cNvPr id="35" name="Oval 34"/>
          <p:cNvSpPr/>
          <p:nvPr/>
        </p:nvSpPr>
        <p:spPr>
          <a:xfrm>
            <a:off x="4549140" y="5513831"/>
            <a:ext cx="347472" cy="347472"/>
          </a:xfrm>
          <a:prstGeom prst="ellipse">
            <a:avLst/>
          </a:prstGeom>
          <a:solidFill>
            <a:srgbClr val="1BA37A"/>
          </a:solidFill>
          <a:ln>
            <a:noFill/>
          </a:ln>
          <a:effectLst/>
        </p:spPr>
        <p:txBody>
          <a:bodyPr rtlCol="0" anchor="ctr" wrap="none"/>
          <a:lstStyle/>
          <a:p>
            <a:pPr algn="ctr">
              <a:defRPr sz="600">
                <a:solidFill>
                  <a:srgbClr val="FFFFFF"/>
                </a:solidFill>
              </a:defRPr>
            </a:pPr>
            <a:r>
              <a:t>✓</a:t>
            </a:r>
          </a:p>
        </p:txBody>
      </p:sp>
      <p:sp>
        <p:nvSpPr>
          <p:cNvPr id="36" name="TextBox 35"/>
          <p:cNvSpPr txBox="1"/>
          <p:nvPr/>
        </p:nvSpPr>
        <p:spPr>
          <a:xfrm>
            <a:off x="5006340" y="5422392"/>
            <a:ext cx="2743200" cy="530352"/>
          </a:xfrm>
          <a:prstGeom prst="rect">
            <a:avLst/>
          </a:prstGeom>
          <a:noFill/>
        </p:spPr>
        <p:txBody>
          <a:bodyPr wrap="square" anchor="ctr">
            <a:spAutoFit/>
          </a:bodyPr>
          <a:lstStyle/>
          <a:p>
            <a:pPr algn="l">
              <a:defRPr sz="1400" b="1" i="0">
                <a:solidFill>
                  <a:srgbClr val="11283B"/>
                </a:solidFill>
                <a:latin typeface="Segoe UI"/>
              </a:defRPr>
            </a:pPr>
            <a:r>
              <a:t>Free, no sign-up</a:t>
            </a:r>
          </a:p>
        </p:txBody>
      </p:sp>
      <p:sp>
        <p:nvSpPr>
          <p:cNvPr id="37" name="Rounded Rectangle 36"/>
          <p:cNvSpPr/>
          <p:nvPr/>
        </p:nvSpPr>
        <p:spPr>
          <a:xfrm>
            <a:off x="8001000" y="5422392"/>
            <a:ext cx="3429000" cy="530352"/>
          </a:xfrm>
          <a:prstGeom prst="roundRect">
            <a:avLst>
              <a:gd name="adj" fmla="val 8000"/>
            </a:avLst>
          </a:prstGeom>
          <a:solidFill>
            <a:srgbClr val="FFFFFF"/>
          </a:solidFill>
          <a:ln w="19050">
            <a:solidFill>
              <a:srgbClr val="1BA37A"/>
            </a:solidFill>
          </a:ln>
          <a:effectLst/>
        </p:spPr>
        <p:txBody>
          <a:bodyPr rtlCol="0" anchor="ctr"/>
          <a:lstStyle/>
          <a:p>
            <a:pPr algn="ctr"/>
          </a:p>
        </p:txBody>
      </p:sp>
      <p:sp>
        <p:nvSpPr>
          <p:cNvPr id="38" name="Oval 37"/>
          <p:cNvSpPr/>
          <p:nvPr/>
        </p:nvSpPr>
        <p:spPr>
          <a:xfrm>
            <a:off x="8183879" y="5513831"/>
            <a:ext cx="347472" cy="347472"/>
          </a:xfrm>
          <a:prstGeom prst="ellipse">
            <a:avLst/>
          </a:prstGeom>
          <a:solidFill>
            <a:srgbClr val="1BA37A"/>
          </a:solidFill>
          <a:ln>
            <a:noFill/>
          </a:ln>
          <a:effectLst/>
        </p:spPr>
        <p:txBody>
          <a:bodyPr rtlCol="0" anchor="ctr" wrap="none"/>
          <a:lstStyle/>
          <a:p>
            <a:pPr algn="ctr">
              <a:defRPr sz="600">
                <a:solidFill>
                  <a:srgbClr val="FFFFFF"/>
                </a:solidFill>
              </a:defRPr>
            </a:pPr>
            <a:r>
              <a:t>✓</a:t>
            </a:r>
          </a:p>
        </p:txBody>
      </p:sp>
      <p:sp>
        <p:nvSpPr>
          <p:cNvPr id="39" name="TextBox 38"/>
          <p:cNvSpPr txBox="1"/>
          <p:nvPr/>
        </p:nvSpPr>
        <p:spPr>
          <a:xfrm>
            <a:off x="8641080" y="5422392"/>
            <a:ext cx="2743200" cy="530352"/>
          </a:xfrm>
          <a:prstGeom prst="rect">
            <a:avLst/>
          </a:prstGeom>
          <a:noFill/>
        </p:spPr>
        <p:txBody>
          <a:bodyPr wrap="square" anchor="ctr">
            <a:spAutoFit/>
          </a:bodyPr>
          <a:lstStyle/>
          <a:p>
            <a:pPr algn="l">
              <a:defRPr sz="1400" b="1" i="0">
                <a:solidFill>
                  <a:srgbClr val="11283B"/>
                </a:solidFill>
                <a:latin typeface="Segoe UI"/>
              </a:defRPr>
            </a:pPr>
            <a:r>
              <a:t>Step-by-step solution</a:t>
            </a:r>
          </a:p>
        </p:txBody>
      </p:sp>
      <p:sp>
        <p:nvSpPr>
          <p:cNvPr id="40" name="TextBox 39"/>
          <p:cNvSpPr txBox="1"/>
          <p:nvPr/>
        </p:nvSpPr>
        <p:spPr>
          <a:xfrm>
            <a:off x="11155680" y="6400800"/>
            <a:ext cx="914400" cy="365760"/>
          </a:xfrm>
          <a:prstGeom prst="rect">
            <a:avLst/>
          </a:prstGeom>
          <a:noFill/>
        </p:spPr>
        <p:txBody>
          <a:bodyPr wrap="square">
            <a:spAutoFit/>
          </a:bodyPr>
          <a:lstStyle/>
          <a:p>
            <a:pPr algn="r">
              <a:defRPr sz="1000" b="0" i="0">
                <a:solidFill>
                  <a:srgbClr val="5A7184"/>
                </a:solidFill>
                <a:latin typeface="Segoe UI"/>
              </a:defRPr>
            </a:pPr>
            <a: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1567F"/>
      </a:hlink>
      <a:folHlink>
        <a:srgbClr val="11567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