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your first assignment. In this one, you take raw usage events from a SaaS product and turn them into data the business can trust. It brings together what you learned in Section 2 and Section 3, so warehouses, tables, views and Time Travel. It's a beginner level assignment, and it shouldn't take you more than a couple of hours.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scenario. You're a data engineer at a company called PulseMetrics, which sells an analytics product to other businesses. Every time a customer does something in the product, like opening a dashboard or exporting a file, it's recorded as an event, and these events arrive as nested JSON. Three teams depend on this data, and each one wants something different. The analysts want quick numbers, finance wants the billing data locked down, and the platform team wants to keep compute costs under control. And to make things worse, someone on your team deletes some data by mistake, and drops a table as well. The data is small, 8 accounts, 8 subscriptions and 6 usage events, and the starter script loads it for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your tasks. First, set up compute for loading and for the analysts, and make sure the spend can't run away. The resource monitors from Section 2 are what you need here. Then pick the right table type for each table, and ask yourself which data you'd actually need to recover if something went wrong. Next, turn the nested JSON into rows the analysts can query. After that, give each team its own view: one for reporting, one for the daily numbers the analysts check all day, and one for billing that only finance can see. Then recover the data that was deleted by mistake, and the table that was dropped. That's exactly what Time Travel from Section 3 is for. And finally, give the team a dev copy of the schema, so the next risky change doesn't happen in production. The starter files are attached to this lecture, so download them before you begin. They load the data for you and lay out each task, so you can get straight to work. Have a go on your own first, and once you're done, compare your work with the full solution on my website, at the link on screen. It walks through every step with the source code, it's free, and you don't need to sign 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gnifydata.com/labs/saas-snowflake-core-fundamentals" TargetMode="External"/><Relationship Id="rId3"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Rounded Rectangle 5"/>
          <p:cNvSpPr/>
          <p:nvPr/>
        </p:nvSpPr>
        <p:spPr>
          <a:xfrm>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7" name="Rounded Rectangle 6"/>
          <p:cNvSpPr/>
          <p:nvPr/>
        </p:nvSpPr>
        <p:spPr>
          <a:xfrm rot="3600000">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8" name="Rounded Rectangle 7"/>
          <p:cNvSpPr/>
          <p:nvPr/>
        </p:nvSpPr>
        <p:spPr>
          <a:xfrm rot="7200000">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9" name="Diamond 8"/>
          <p:cNvSpPr/>
          <p:nvPr/>
        </p:nvSpPr>
        <p:spPr>
          <a:xfrm>
            <a:off x="10725912" y="3822192"/>
            <a:ext cx="402336" cy="402336"/>
          </a:xfrm>
          <a:prstGeom prst="diamond">
            <a:avLst/>
          </a:prstGeom>
          <a:solidFill>
            <a:srgbClr val="CBE8F7"/>
          </a:solidFill>
          <a:ln>
            <a:noFill/>
          </a:ln>
          <a:effectLst/>
        </p:spPr>
        <p:txBody>
          <a:bodyPr rtlCol="0" anchor="ctr"/>
          <a:lstStyle/>
          <a:p>
            <a:pPr algn="ctr"/>
          </a:p>
        </p:txBody>
      </p:sp>
      <p:sp>
        <p:nvSpPr>
          <p:cNvPr id="10" name="Diamond 9"/>
          <p:cNvSpPr/>
          <p:nvPr/>
        </p:nvSpPr>
        <p:spPr>
          <a:xfrm>
            <a:off x="11596994" y="4325112"/>
            <a:ext cx="402336" cy="402336"/>
          </a:xfrm>
          <a:prstGeom prst="diamond">
            <a:avLst/>
          </a:prstGeom>
          <a:solidFill>
            <a:srgbClr val="CBE8F7"/>
          </a:solidFill>
          <a:ln>
            <a:noFill/>
          </a:ln>
          <a:effectLst/>
        </p:spPr>
        <p:txBody>
          <a:bodyPr rtlCol="0" anchor="ctr"/>
          <a:lstStyle/>
          <a:p>
            <a:pPr algn="ctr"/>
          </a:p>
        </p:txBody>
      </p:sp>
      <p:sp>
        <p:nvSpPr>
          <p:cNvPr id="11" name="Diamond 10"/>
          <p:cNvSpPr/>
          <p:nvPr/>
        </p:nvSpPr>
        <p:spPr>
          <a:xfrm>
            <a:off x="11596994" y="5330951"/>
            <a:ext cx="402336" cy="402336"/>
          </a:xfrm>
          <a:prstGeom prst="diamond">
            <a:avLst/>
          </a:prstGeom>
          <a:solidFill>
            <a:srgbClr val="CBE8F7"/>
          </a:solidFill>
          <a:ln>
            <a:noFill/>
          </a:ln>
          <a:effectLst/>
        </p:spPr>
        <p:txBody>
          <a:bodyPr rtlCol="0" anchor="ctr"/>
          <a:lstStyle/>
          <a:p>
            <a:pPr algn="ctr"/>
          </a:p>
        </p:txBody>
      </p:sp>
      <p:sp>
        <p:nvSpPr>
          <p:cNvPr id="12" name="Diamond 11"/>
          <p:cNvSpPr/>
          <p:nvPr/>
        </p:nvSpPr>
        <p:spPr>
          <a:xfrm>
            <a:off x="10725912" y="5833872"/>
            <a:ext cx="402336" cy="402336"/>
          </a:xfrm>
          <a:prstGeom prst="diamond">
            <a:avLst/>
          </a:prstGeom>
          <a:solidFill>
            <a:srgbClr val="CBE8F7"/>
          </a:solidFill>
          <a:ln>
            <a:noFill/>
          </a:ln>
          <a:effectLst/>
        </p:spPr>
        <p:txBody>
          <a:bodyPr rtlCol="0" anchor="ctr"/>
          <a:lstStyle/>
          <a:p>
            <a:pPr algn="ctr"/>
          </a:p>
        </p:txBody>
      </p:sp>
      <p:sp>
        <p:nvSpPr>
          <p:cNvPr id="13" name="Diamond 12"/>
          <p:cNvSpPr/>
          <p:nvPr/>
        </p:nvSpPr>
        <p:spPr>
          <a:xfrm>
            <a:off x="9854830" y="5330952"/>
            <a:ext cx="402336" cy="402336"/>
          </a:xfrm>
          <a:prstGeom prst="diamond">
            <a:avLst/>
          </a:prstGeom>
          <a:solidFill>
            <a:srgbClr val="CBE8F7"/>
          </a:solidFill>
          <a:ln>
            <a:noFill/>
          </a:ln>
          <a:effectLst/>
        </p:spPr>
        <p:txBody>
          <a:bodyPr rtlCol="0" anchor="ctr"/>
          <a:lstStyle/>
          <a:p>
            <a:pPr algn="ctr"/>
          </a:p>
        </p:txBody>
      </p:sp>
      <p:sp>
        <p:nvSpPr>
          <p:cNvPr id="14" name="Diamond 13"/>
          <p:cNvSpPr/>
          <p:nvPr/>
        </p:nvSpPr>
        <p:spPr>
          <a:xfrm>
            <a:off x="9854830" y="4325112"/>
            <a:ext cx="402336" cy="402336"/>
          </a:xfrm>
          <a:prstGeom prst="diamond">
            <a:avLst/>
          </a:prstGeom>
          <a:solidFill>
            <a:srgbClr val="CBE8F7"/>
          </a:solidFill>
          <a:ln>
            <a:noFill/>
          </a:ln>
          <a:effectLst/>
        </p:spPr>
        <p:txBody>
          <a:bodyPr rtlCol="0" anchor="ctr"/>
          <a:lstStyle/>
          <a:p>
            <a:pPr algn="ctr"/>
          </a:p>
        </p:txBody>
      </p:sp>
      <p:sp>
        <p:nvSpPr>
          <p:cNvPr id="15" name="Oval 14"/>
          <p:cNvSpPr/>
          <p:nvPr/>
        </p:nvSpPr>
        <p:spPr>
          <a:xfrm>
            <a:off x="10685679" y="4787799"/>
            <a:ext cx="482803" cy="482803"/>
          </a:xfrm>
          <a:prstGeom prst="ellipse">
            <a:avLst/>
          </a:prstGeom>
          <a:solidFill>
            <a:srgbClr val="CBE8F7"/>
          </a:solidFill>
          <a:ln>
            <a:noFill/>
          </a:ln>
          <a:effectLst/>
        </p:spPr>
        <p:txBody>
          <a:bodyPr rtlCol="0" anchor="ctr"/>
          <a:lstStyle/>
          <a:p>
            <a:pPr algn="ctr"/>
          </a:p>
        </p:txBody>
      </p:sp>
      <p:sp>
        <p:nvSpPr>
          <p:cNvPr id="16" name="Rounded Rectangle 15"/>
          <p:cNvSpPr/>
          <p:nvPr/>
        </p:nvSpPr>
        <p:spPr>
          <a:xfrm>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7" name="Rounded Rectangle 16"/>
          <p:cNvSpPr/>
          <p:nvPr/>
        </p:nvSpPr>
        <p:spPr>
          <a:xfrm rot="3600000">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8" name="Rounded Rectangle 17"/>
          <p:cNvSpPr/>
          <p:nvPr/>
        </p:nvSpPr>
        <p:spPr>
          <a:xfrm rot="7200000">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9" name="Diamond 18"/>
          <p:cNvSpPr/>
          <p:nvPr/>
        </p:nvSpPr>
        <p:spPr>
          <a:xfrm>
            <a:off x="894284" y="446228"/>
            <a:ext cx="76809" cy="76809"/>
          </a:xfrm>
          <a:prstGeom prst="diamond">
            <a:avLst/>
          </a:prstGeom>
          <a:solidFill>
            <a:srgbClr val="29B5E8"/>
          </a:solidFill>
          <a:ln>
            <a:noFill/>
          </a:ln>
          <a:effectLst/>
        </p:spPr>
        <p:txBody>
          <a:bodyPr rtlCol="0" anchor="ctr"/>
          <a:lstStyle/>
          <a:p>
            <a:pPr algn="ctr"/>
          </a:p>
        </p:txBody>
      </p:sp>
      <p:sp>
        <p:nvSpPr>
          <p:cNvPr id="20" name="Diamond 19"/>
          <p:cNvSpPr/>
          <p:nvPr/>
        </p:nvSpPr>
        <p:spPr>
          <a:xfrm>
            <a:off x="1060581" y="542240"/>
            <a:ext cx="76809" cy="76809"/>
          </a:xfrm>
          <a:prstGeom prst="diamond">
            <a:avLst/>
          </a:prstGeom>
          <a:solidFill>
            <a:srgbClr val="29B5E8"/>
          </a:solidFill>
          <a:ln>
            <a:noFill/>
          </a:ln>
          <a:effectLst/>
        </p:spPr>
        <p:txBody>
          <a:bodyPr rtlCol="0" anchor="ctr"/>
          <a:lstStyle/>
          <a:p>
            <a:pPr algn="ctr"/>
          </a:p>
        </p:txBody>
      </p:sp>
      <p:sp>
        <p:nvSpPr>
          <p:cNvPr id="21" name="Diamond 20"/>
          <p:cNvSpPr/>
          <p:nvPr/>
        </p:nvSpPr>
        <p:spPr>
          <a:xfrm>
            <a:off x="1060581" y="734263"/>
            <a:ext cx="76809" cy="76809"/>
          </a:xfrm>
          <a:prstGeom prst="diamond">
            <a:avLst/>
          </a:prstGeom>
          <a:solidFill>
            <a:srgbClr val="29B5E8"/>
          </a:solidFill>
          <a:ln>
            <a:noFill/>
          </a:ln>
          <a:effectLst/>
        </p:spPr>
        <p:txBody>
          <a:bodyPr rtlCol="0" anchor="ctr"/>
          <a:lstStyle/>
          <a:p>
            <a:pPr algn="ctr"/>
          </a:p>
        </p:txBody>
      </p:sp>
      <p:sp>
        <p:nvSpPr>
          <p:cNvPr id="22" name="Diamond 21"/>
          <p:cNvSpPr/>
          <p:nvPr/>
        </p:nvSpPr>
        <p:spPr>
          <a:xfrm>
            <a:off x="894284" y="830276"/>
            <a:ext cx="76809" cy="76809"/>
          </a:xfrm>
          <a:prstGeom prst="diamond">
            <a:avLst/>
          </a:prstGeom>
          <a:solidFill>
            <a:srgbClr val="29B5E8"/>
          </a:solidFill>
          <a:ln>
            <a:noFill/>
          </a:ln>
          <a:effectLst/>
        </p:spPr>
        <p:txBody>
          <a:bodyPr rtlCol="0" anchor="ctr"/>
          <a:lstStyle/>
          <a:p>
            <a:pPr algn="ctr"/>
          </a:p>
        </p:txBody>
      </p:sp>
      <p:sp>
        <p:nvSpPr>
          <p:cNvPr id="23" name="Diamond 22"/>
          <p:cNvSpPr/>
          <p:nvPr/>
        </p:nvSpPr>
        <p:spPr>
          <a:xfrm>
            <a:off x="727987" y="734264"/>
            <a:ext cx="76809" cy="76809"/>
          </a:xfrm>
          <a:prstGeom prst="diamond">
            <a:avLst/>
          </a:prstGeom>
          <a:solidFill>
            <a:srgbClr val="29B5E8"/>
          </a:solidFill>
          <a:ln>
            <a:noFill/>
          </a:ln>
          <a:effectLst/>
        </p:spPr>
        <p:txBody>
          <a:bodyPr rtlCol="0" anchor="ctr"/>
          <a:lstStyle/>
          <a:p>
            <a:pPr algn="ctr"/>
          </a:p>
        </p:txBody>
      </p:sp>
      <p:sp>
        <p:nvSpPr>
          <p:cNvPr id="24" name="Diamond 23"/>
          <p:cNvSpPr/>
          <p:nvPr/>
        </p:nvSpPr>
        <p:spPr>
          <a:xfrm>
            <a:off x="727987" y="542240"/>
            <a:ext cx="76809" cy="76809"/>
          </a:xfrm>
          <a:prstGeom prst="diamond">
            <a:avLst/>
          </a:prstGeom>
          <a:solidFill>
            <a:srgbClr val="29B5E8"/>
          </a:solidFill>
          <a:ln>
            <a:noFill/>
          </a:ln>
          <a:effectLst/>
        </p:spPr>
        <p:txBody>
          <a:bodyPr rtlCol="0" anchor="ctr"/>
          <a:lstStyle/>
          <a:p>
            <a:pPr algn="ctr"/>
          </a:p>
        </p:txBody>
      </p:sp>
      <p:sp>
        <p:nvSpPr>
          <p:cNvPr id="25" name="Oval 24"/>
          <p:cNvSpPr/>
          <p:nvPr/>
        </p:nvSpPr>
        <p:spPr>
          <a:xfrm>
            <a:off x="886603" y="630571"/>
            <a:ext cx="92171" cy="92171"/>
          </a:xfrm>
          <a:prstGeom prst="ellipse">
            <a:avLst/>
          </a:prstGeom>
          <a:solidFill>
            <a:srgbClr val="29B5E8"/>
          </a:solidFill>
          <a:ln>
            <a:noFill/>
          </a:ln>
          <a:effectLst/>
        </p:spPr>
        <p:txBody>
          <a:bodyPr rtlCol="0" anchor="ctr"/>
          <a:lstStyle/>
          <a:p>
            <a:pPr algn="ctr"/>
          </a:p>
        </p:txBody>
      </p:sp>
      <p:sp>
        <p:nvSpPr>
          <p:cNvPr id="26" name="TextBox 25"/>
          <p:cNvSpPr txBox="1"/>
          <p:nvPr/>
        </p:nvSpPr>
        <p:spPr>
          <a:xfrm>
            <a:off x="1325880" y="502920"/>
            <a:ext cx="5486400" cy="365760"/>
          </a:xfrm>
          <a:prstGeom prst="rect">
            <a:avLst/>
          </a:prstGeom>
          <a:noFill/>
        </p:spPr>
        <p:txBody>
          <a:bodyPr wrap="square">
            <a:spAutoFit/>
          </a:bodyPr>
          <a:lstStyle/>
          <a:p>
            <a:pPr algn="l">
              <a:defRPr sz="1300" b="1" i="0">
                <a:solidFill>
                  <a:srgbClr val="11567F"/>
                </a:solidFill>
                <a:latin typeface="Segoe UI Semibold"/>
              </a:defRPr>
            </a:pPr>
            <a:r>
              <a:rPr spc="250"/>
              <a:t>SNOWFLAKE ON AWS</a:t>
            </a:r>
          </a:p>
        </p:txBody>
      </p:sp>
      <p:sp>
        <p:nvSpPr>
          <p:cNvPr id="27" name="TextBox 26"/>
          <p:cNvSpPr txBox="1"/>
          <p:nvPr/>
        </p:nvSpPr>
        <p:spPr>
          <a:xfrm>
            <a:off x="8503920" y="502920"/>
            <a:ext cx="2953512" cy="365760"/>
          </a:xfrm>
          <a:prstGeom prst="rect">
            <a:avLst/>
          </a:prstGeom>
          <a:noFill/>
        </p:spPr>
        <p:txBody>
          <a:bodyPr wrap="square">
            <a:spAutoFit/>
          </a:bodyPr>
          <a:lstStyle/>
          <a:p>
            <a:pPr algn="r">
              <a:defRPr sz="1200" b="1" i="0">
                <a:solidFill>
                  <a:srgbClr val="5A7184"/>
                </a:solidFill>
                <a:latin typeface="Segoe UI"/>
              </a:defRPr>
            </a:pPr>
            <a:r>
              <a:rPr spc="150"/>
              <a:t>HANDS-ON LAB</a:t>
            </a:r>
          </a:p>
        </p:txBody>
      </p:sp>
      <p:sp>
        <p:nvSpPr>
          <p:cNvPr id="28" name="Rectangle 27"/>
          <p:cNvSpPr/>
          <p:nvPr/>
        </p:nvSpPr>
        <p:spPr>
          <a:xfrm>
            <a:off x="758952" y="1755648"/>
            <a:ext cx="73152" cy="310896"/>
          </a:xfrm>
          <a:prstGeom prst="rect">
            <a:avLst/>
          </a:prstGeom>
          <a:solidFill>
            <a:srgbClr val="29B5E8"/>
          </a:solidFill>
          <a:ln>
            <a:noFill/>
          </a:ln>
          <a:effectLst/>
        </p:spPr>
        <p:txBody>
          <a:bodyPr rtlCol="0" anchor="ctr"/>
          <a:lstStyle/>
          <a:p>
            <a:pPr algn="ctr"/>
          </a:p>
        </p:txBody>
      </p:sp>
      <p:sp>
        <p:nvSpPr>
          <p:cNvPr id="29" name="TextBox 28"/>
          <p:cNvSpPr txBox="1"/>
          <p:nvPr/>
        </p:nvSpPr>
        <p:spPr>
          <a:xfrm>
            <a:off x="978408" y="1700784"/>
            <a:ext cx="8229600" cy="365760"/>
          </a:xfrm>
          <a:prstGeom prst="rect">
            <a:avLst/>
          </a:prstGeom>
          <a:noFill/>
        </p:spPr>
        <p:txBody>
          <a:bodyPr wrap="square">
            <a:spAutoFit/>
          </a:bodyPr>
          <a:lstStyle/>
          <a:p>
            <a:pPr algn="l">
              <a:defRPr sz="1500" b="1" i="0">
                <a:solidFill>
                  <a:srgbClr val="29B5E8"/>
                </a:solidFill>
                <a:latin typeface="Segoe UI Semibold"/>
              </a:defRPr>
            </a:pPr>
            <a:r>
              <a:rPr spc="200"/>
              <a:t>WAREHOUSES, TABLES, VIEWS AND TIME TRAVEL</a:t>
            </a:r>
          </a:p>
        </p:txBody>
      </p:sp>
      <p:sp>
        <p:nvSpPr>
          <p:cNvPr id="30" name="TextBox 29"/>
          <p:cNvSpPr txBox="1"/>
          <p:nvPr/>
        </p:nvSpPr>
        <p:spPr>
          <a:xfrm>
            <a:off x="731520" y="2240280"/>
            <a:ext cx="9692640" cy="1188720"/>
          </a:xfrm>
          <a:prstGeom prst="rect">
            <a:avLst/>
          </a:prstGeom>
          <a:noFill/>
        </p:spPr>
        <p:txBody>
          <a:bodyPr wrap="square">
            <a:spAutoFit/>
          </a:bodyPr>
          <a:lstStyle/>
          <a:p>
            <a:pPr algn="l">
              <a:defRPr sz="4000" b="1" i="0">
                <a:solidFill>
                  <a:srgbClr val="11283B"/>
                </a:solidFill>
                <a:latin typeface="Segoe UI Semibold"/>
              </a:defRPr>
            </a:pPr>
            <a:r>
              <a:t>PulseMetrics</a:t>
            </a:r>
          </a:p>
        </p:txBody>
      </p:sp>
      <p:sp>
        <p:nvSpPr>
          <p:cNvPr id="31" name="TextBox 30"/>
          <p:cNvSpPr txBox="1"/>
          <p:nvPr/>
        </p:nvSpPr>
        <p:spPr>
          <a:xfrm>
            <a:off x="731520" y="3200400"/>
            <a:ext cx="8961120" cy="914400"/>
          </a:xfrm>
          <a:prstGeom prst="rect">
            <a:avLst/>
          </a:prstGeom>
          <a:noFill/>
        </p:spPr>
        <p:txBody>
          <a:bodyPr wrap="square">
            <a:spAutoFit/>
          </a:bodyPr>
          <a:lstStyle/>
          <a:p>
            <a:pPr algn="l">
              <a:defRPr sz="2600" b="1" i="0">
                <a:solidFill>
                  <a:srgbClr val="29B5E8"/>
                </a:solidFill>
                <a:latin typeface="Segoe UI Semibold"/>
              </a:defRPr>
            </a:pPr>
            <a:r>
              <a:t>Turn raw SaaS usage events into data the business can trust</a:t>
            </a:r>
          </a:p>
        </p:txBody>
      </p:sp>
      <p:sp>
        <p:nvSpPr>
          <p:cNvPr id="32" name="Rectangle 31"/>
          <p:cNvSpPr/>
          <p:nvPr/>
        </p:nvSpPr>
        <p:spPr>
          <a:xfrm>
            <a:off x="731520" y="4315968"/>
            <a:ext cx="2743200" cy="27432"/>
          </a:xfrm>
          <a:prstGeom prst="rect">
            <a:avLst/>
          </a:prstGeom>
          <a:solidFill>
            <a:srgbClr val="29B5E8"/>
          </a:solidFill>
          <a:ln>
            <a:noFill/>
          </a:ln>
          <a:effectLst/>
        </p:spPr>
        <p:txBody>
          <a:bodyPr rtlCol="0" anchor="ctr"/>
          <a:lstStyle/>
          <a:p>
            <a:pPr algn="ctr"/>
          </a:p>
        </p:txBody>
      </p:sp>
      <p:sp>
        <p:nvSpPr>
          <p:cNvPr id="33" name="TextBox 32"/>
          <p:cNvSpPr txBox="1"/>
          <p:nvPr/>
        </p:nvSpPr>
        <p:spPr>
          <a:xfrm>
            <a:off x="731520" y="4526280"/>
            <a:ext cx="8595360" cy="640080"/>
          </a:xfrm>
          <a:prstGeom prst="rect">
            <a:avLst/>
          </a:prstGeom>
          <a:noFill/>
        </p:spPr>
        <p:txBody>
          <a:bodyPr wrap="square">
            <a:spAutoFit/>
          </a:bodyPr>
          <a:lstStyle/>
          <a:p>
            <a:pPr algn="l">
              <a:defRPr sz="2000" b="0" i="0">
                <a:solidFill>
                  <a:srgbClr val="5A7184"/>
                </a:solidFill>
                <a:latin typeface="Segoe UI Semibold"/>
              </a:defRPr>
            </a:pPr>
            <a:r>
              <a:t>Beginner  •  Should take you no more than a couple of hours</a:t>
            </a:r>
          </a:p>
        </p:txBody>
      </p:sp>
      <p:sp>
        <p:nvSpPr>
          <p:cNvPr id="34" name="TextBox 33"/>
          <p:cNvSpPr txBox="1"/>
          <p:nvPr/>
        </p:nvSpPr>
        <p:spPr>
          <a:xfrm>
            <a:off x="731520" y="5230368"/>
            <a:ext cx="8595360" cy="548640"/>
          </a:xfrm>
          <a:prstGeom prst="rect">
            <a:avLst/>
          </a:prstGeom>
          <a:noFill/>
        </p:spPr>
        <p:txBody>
          <a:bodyPr wrap="square">
            <a:spAutoFit/>
          </a:bodyPr>
          <a:lstStyle/>
          <a:p>
            <a:pPr algn="l">
              <a:defRPr sz="1500" b="0" i="0">
                <a:solidFill>
                  <a:srgbClr val="5A7184"/>
                </a:solidFill>
                <a:latin typeface="Segoe UI"/>
              </a:defRPr>
            </a:pPr>
            <a:r>
              <a:t>Uses what you learned in Section 2 and Section 3</a:t>
            </a:r>
          </a:p>
        </p:txBody>
      </p:sp>
      <p:sp>
        <p:nvSpPr>
          <p:cNvPr id="35" name="TextBox 34"/>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TextBox 5"/>
          <p:cNvSpPr txBox="1"/>
          <p:nvPr/>
        </p:nvSpPr>
        <p:spPr>
          <a:xfrm>
            <a:off x="731520" y="365760"/>
            <a:ext cx="10698480" cy="640080"/>
          </a:xfrm>
          <a:prstGeom prst="rect">
            <a:avLst/>
          </a:prstGeom>
          <a:noFill/>
        </p:spPr>
        <p:txBody>
          <a:bodyPr wrap="square">
            <a:spAutoFit/>
          </a:bodyPr>
          <a:lstStyle/>
          <a:p>
            <a:pPr algn="l">
              <a:defRPr sz="3200" b="1" i="0">
                <a:solidFill>
                  <a:srgbClr val="11283B"/>
                </a:solidFill>
                <a:latin typeface="Segoe UI Semibold"/>
              </a:defRPr>
            </a:pPr>
            <a:r>
              <a:t>The Scenario</a:t>
            </a:r>
          </a:p>
        </p:txBody>
      </p:sp>
      <p:sp>
        <p:nvSpPr>
          <p:cNvPr id="7" name="Rectangle 6"/>
          <p:cNvSpPr/>
          <p:nvPr/>
        </p:nvSpPr>
        <p:spPr>
          <a:xfrm>
            <a:off x="731520" y="1005840"/>
            <a:ext cx="2286000" cy="27432"/>
          </a:xfrm>
          <a:prstGeom prst="rect">
            <a:avLst/>
          </a:prstGeom>
          <a:solidFill>
            <a:srgbClr val="E8833A"/>
          </a:solidFill>
          <a:ln>
            <a:noFill/>
          </a:ln>
          <a:effectLst/>
        </p:spPr>
        <p:txBody>
          <a:bodyPr rtlCol="0" anchor="ctr"/>
          <a:lstStyle/>
          <a:p>
            <a:pPr algn="ctr"/>
          </a:p>
        </p:txBody>
      </p:sp>
      <p:sp>
        <p:nvSpPr>
          <p:cNvPr id="8" name="TextBox 7"/>
          <p:cNvSpPr txBox="1"/>
          <p:nvPr/>
        </p:nvSpPr>
        <p:spPr>
          <a:xfrm>
            <a:off x="731520" y="1170432"/>
            <a:ext cx="10698480" cy="457200"/>
          </a:xfrm>
          <a:prstGeom prst="rect">
            <a:avLst/>
          </a:prstGeom>
          <a:noFill/>
        </p:spPr>
        <p:txBody>
          <a:bodyPr wrap="square">
            <a:spAutoFit/>
          </a:bodyPr>
          <a:lstStyle/>
          <a:p>
            <a:pPr algn="l">
              <a:defRPr sz="1600" b="0" i="1">
                <a:solidFill>
                  <a:srgbClr val="5A7184"/>
                </a:solidFill>
                <a:latin typeface="Segoe UI"/>
              </a:defRPr>
            </a:pPr>
            <a:r>
              <a:t>A B2B SaaS analytics platform with a growing pile of raw activity</a:t>
            </a:r>
          </a:p>
        </p:txBody>
      </p:sp>
      <p:sp>
        <p:nvSpPr>
          <p:cNvPr id="9" name="Rounded Rectangle 8"/>
          <p:cNvSpPr/>
          <p:nvPr/>
        </p:nvSpPr>
        <p:spPr>
          <a:xfrm>
            <a:off x="731520" y="1783080"/>
            <a:ext cx="10698480" cy="1005840"/>
          </a:xfrm>
          <a:prstGeom prst="roundRect">
            <a:avLst>
              <a:gd name="adj" fmla="val 8000"/>
            </a:avLst>
          </a:prstGeom>
          <a:solidFill>
            <a:srgbClr val="F4F8FB"/>
          </a:solidFill>
          <a:ln w="19050">
            <a:solidFill>
              <a:srgbClr val="29B5E8"/>
            </a:solidFill>
          </a:ln>
          <a:effectLst/>
        </p:spPr>
        <p:txBody>
          <a:bodyPr rtlCol="0" anchor="ctr"/>
          <a:lstStyle/>
          <a:p>
            <a:pPr algn="ctr"/>
          </a:p>
        </p:txBody>
      </p:sp>
      <p:sp>
        <p:nvSpPr>
          <p:cNvPr id="10" name="Oval 9"/>
          <p:cNvSpPr/>
          <p:nvPr/>
        </p:nvSpPr>
        <p:spPr>
          <a:xfrm>
            <a:off x="1051560" y="2011680"/>
            <a:ext cx="548640" cy="548640"/>
          </a:xfrm>
          <a:prstGeom prst="ellipse">
            <a:avLst/>
          </a:prstGeom>
          <a:solidFill>
            <a:srgbClr val="29B5E8"/>
          </a:solidFill>
          <a:ln>
            <a:noFill/>
          </a:ln>
          <a:effectLst/>
        </p:spPr>
        <p:txBody>
          <a:bodyPr rtlCol="0" anchor="ctr" wrap="none"/>
          <a:lstStyle/>
          <a:p>
            <a:pPr algn="ctr">
              <a:defRPr sz="1000">
                <a:solidFill>
                  <a:srgbClr val="FFFFFF"/>
                </a:solidFill>
              </a:defRPr>
            </a:pPr>
            <a:r>
              <a:t>📈</a:t>
            </a:r>
          </a:p>
        </p:txBody>
      </p:sp>
      <p:sp>
        <p:nvSpPr>
          <p:cNvPr id="11" name="TextBox 10"/>
          <p:cNvSpPr txBox="1"/>
          <p:nvPr/>
        </p:nvSpPr>
        <p:spPr>
          <a:xfrm>
            <a:off x="1828800" y="1929384"/>
            <a:ext cx="9326880" cy="411480"/>
          </a:xfrm>
          <a:prstGeom prst="rect">
            <a:avLst/>
          </a:prstGeom>
          <a:noFill/>
        </p:spPr>
        <p:txBody>
          <a:bodyPr wrap="square">
            <a:spAutoFit/>
          </a:bodyPr>
          <a:lstStyle/>
          <a:p>
            <a:pPr algn="l">
              <a:defRPr sz="1800" b="1" i="0">
                <a:solidFill>
                  <a:srgbClr val="11283B"/>
                </a:solidFill>
                <a:latin typeface="Segoe UI"/>
              </a:defRPr>
            </a:pPr>
            <a:r>
              <a:t>Every customer action becomes an event</a:t>
            </a:r>
          </a:p>
        </p:txBody>
      </p:sp>
      <p:sp>
        <p:nvSpPr>
          <p:cNvPr id="12" name="TextBox 11"/>
          <p:cNvSpPr txBox="1"/>
          <p:nvPr/>
        </p:nvSpPr>
        <p:spPr>
          <a:xfrm>
            <a:off x="1828800" y="2350008"/>
            <a:ext cx="9326880" cy="402336"/>
          </a:xfrm>
          <a:prstGeom prst="rect">
            <a:avLst/>
          </a:prstGeom>
          <a:noFill/>
        </p:spPr>
        <p:txBody>
          <a:bodyPr wrap="square">
            <a:spAutoFit/>
          </a:bodyPr>
          <a:lstStyle/>
          <a:p>
            <a:pPr algn="l">
              <a:defRPr sz="1350" b="0" i="0">
                <a:solidFill>
                  <a:srgbClr val="5A7184"/>
                </a:solidFill>
                <a:latin typeface="Segoe UI"/>
              </a:defRPr>
            </a:pPr>
            <a:r>
              <a:t>Dashboard views, API calls and exports arrive as nested JSON, one event holding several feature line items.</a:t>
            </a:r>
          </a:p>
        </p:txBody>
      </p:sp>
      <p:sp>
        <p:nvSpPr>
          <p:cNvPr id="13" name="Rounded Rectangle 12"/>
          <p:cNvSpPr/>
          <p:nvPr/>
        </p:nvSpPr>
        <p:spPr>
          <a:xfrm>
            <a:off x="731520" y="2916936"/>
            <a:ext cx="10698480" cy="1005840"/>
          </a:xfrm>
          <a:prstGeom prst="roundRect">
            <a:avLst>
              <a:gd name="adj" fmla="val 8000"/>
            </a:avLst>
          </a:prstGeom>
          <a:solidFill>
            <a:srgbClr val="F4F8FB"/>
          </a:solidFill>
          <a:ln w="19050">
            <a:solidFill>
              <a:srgbClr val="E8833A"/>
            </a:solidFill>
          </a:ln>
          <a:effectLst/>
        </p:spPr>
        <p:txBody>
          <a:bodyPr rtlCol="0" anchor="ctr"/>
          <a:lstStyle/>
          <a:p>
            <a:pPr algn="ctr"/>
          </a:p>
        </p:txBody>
      </p:sp>
      <p:sp>
        <p:nvSpPr>
          <p:cNvPr id="14" name="Oval 13"/>
          <p:cNvSpPr/>
          <p:nvPr/>
        </p:nvSpPr>
        <p:spPr>
          <a:xfrm>
            <a:off x="1051560" y="3145536"/>
            <a:ext cx="548640" cy="548640"/>
          </a:xfrm>
          <a:prstGeom prst="ellipse">
            <a:avLst/>
          </a:prstGeom>
          <a:solidFill>
            <a:srgbClr val="E8833A"/>
          </a:solidFill>
          <a:ln>
            <a:noFill/>
          </a:ln>
          <a:effectLst/>
        </p:spPr>
        <p:txBody>
          <a:bodyPr rtlCol="0" anchor="ctr" wrap="none"/>
          <a:lstStyle/>
          <a:p>
            <a:pPr algn="ctr">
              <a:defRPr sz="1000">
                <a:solidFill>
                  <a:srgbClr val="FFFFFF"/>
                </a:solidFill>
              </a:defRPr>
            </a:pPr>
            <a:r>
              <a:t>👥</a:t>
            </a:r>
          </a:p>
        </p:txBody>
      </p:sp>
      <p:sp>
        <p:nvSpPr>
          <p:cNvPr id="15" name="TextBox 14"/>
          <p:cNvSpPr txBox="1"/>
          <p:nvPr/>
        </p:nvSpPr>
        <p:spPr>
          <a:xfrm>
            <a:off x="1828800" y="3063240"/>
            <a:ext cx="9326880" cy="411480"/>
          </a:xfrm>
          <a:prstGeom prst="rect">
            <a:avLst/>
          </a:prstGeom>
          <a:noFill/>
        </p:spPr>
        <p:txBody>
          <a:bodyPr wrap="square">
            <a:spAutoFit/>
          </a:bodyPr>
          <a:lstStyle/>
          <a:p>
            <a:pPr algn="l">
              <a:defRPr sz="1800" b="1" i="0">
                <a:solidFill>
                  <a:srgbClr val="11283B"/>
                </a:solidFill>
                <a:latin typeface="Segoe UI"/>
              </a:defRPr>
            </a:pPr>
            <a:r>
              <a:t>Three teams want three different things</a:t>
            </a:r>
          </a:p>
        </p:txBody>
      </p:sp>
      <p:sp>
        <p:nvSpPr>
          <p:cNvPr id="16" name="TextBox 15"/>
          <p:cNvSpPr txBox="1"/>
          <p:nvPr/>
        </p:nvSpPr>
        <p:spPr>
          <a:xfrm>
            <a:off x="1828800" y="3483864"/>
            <a:ext cx="9326880" cy="402336"/>
          </a:xfrm>
          <a:prstGeom prst="rect">
            <a:avLst/>
          </a:prstGeom>
          <a:noFill/>
        </p:spPr>
        <p:txBody>
          <a:bodyPr wrap="square">
            <a:spAutoFit/>
          </a:bodyPr>
          <a:lstStyle/>
          <a:p>
            <a:pPr algn="l">
              <a:defRPr sz="1350" b="0" i="0">
                <a:solidFill>
                  <a:srgbClr val="5A7184"/>
                </a:solidFill>
                <a:latin typeface="Segoe UI"/>
              </a:defRPr>
            </a:pPr>
            <a:r>
              <a:t>Analysts want fast numbers, finance wants billing data locked down, and the platform team wants costs under control.</a:t>
            </a:r>
          </a:p>
        </p:txBody>
      </p:sp>
      <p:sp>
        <p:nvSpPr>
          <p:cNvPr id="17" name="Rounded Rectangle 16"/>
          <p:cNvSpPr/>
          <p:nvPr/>
        </p:nvSpPr>
        <p:spPr>
          <a:xfrm>
            <a:off x="731520" y="4050792"/>
            <a:ext cx="10698480" cy="1005840"/>
          </a:xfrm>
          <a:prstGeom prst="roundRect">
            <a:avLst>
              <a:gd name="adj" fmla="val 8000"/>
            </a:avLst>
          </a:prstGeom>
          <a:solidFill>
            <a:srgbClr val="F4F8FB"/>
          </a:solidFill>
          <a:ln w="19050">
            <a:solidFill>
              <a:srgbClr val="E5484D"/>
            </a:solidFill>
          </a:ln>
          <a:effectLst/>
        </p:spPr>
        <p:txBody>
          <a:bodyPr rtlCol="0" anchor="ctr"/>
          <a:lstStyle/>
          <a:p>
            <a:pPr algn="ctr"/>
          </a:p>
        </p:txBody>
      </p:sp>
      <p:sp>
        <p:nvSpPr>
          <p:cNvPr id="18" name="Oval 17"/>
          <p:cNvSpPr/>
          <p:nvPr/>
        </p:nvSpPr>
        <p:spPr>
          <a:xfrm>
            <a:off x="1051560" y="4279392"/>
            <a:ext cx="548640" cy="548640"/>
          </a:xfrm>
          <a:prstGeom prst="ellipse">
            <a:avLst/>
          </a:prstGeom>
          <a:solidFill>
            <a:srgbClr val="E5484D"/>
          </a:solidFill>
          <a:ln>
            <a:noFill/>
          </a:ln>
          <a:effectLst/>
        </p:spPr>
        <p:txBody>
          <a:bodyPr rtlCol="0" anchor="ctr" wrap="none"/>
          <a:lstStyle/>
          <a:p>
            <a:pPr algn="ctr">
              <a:defRPr sz="1000">
                <a:solidFill>
                  <a:srgbClr val="FFFFFF"/>
                </a:solidFill>
              </a:defRPr>
            </a:pPr>
            <a:r>
              <a:t>⚠️</a:t>
            </a:r>
          </a:p>
        </p:txBody>
      </p:sp>
      <p:sp>
        <p:nvSpPr>
          <p:cNvPr id="19" name="TextBox 18"/>
          <p:cNvSpPr txBox="1"/>
          <p:nvPr/>
        </p:nvSpPr>
        <p:spPr>
          <a:xfrm>
            <a:off x="1828800" y="4197096"/>
            <a:ext cx="9326880" cy="411480"/>
          </a:xfrm>
          <a:prstGeom prst="rect">
            <a:avLst/>
          </a:prstGeom>
          <a:noFill/>
        </p:spPr>
        <p:txBody>
          <a:bodyPr wrap="square">
            <a:spAutoFit/>
          </a:bodyPr>
          <a:lstStyle/>
          <a:p>
            <a:pPr algn="l">
              <a:defRPr sz="1800" b="1" i="0">
                <a:solidFill>
                  <a:srgbClr val="11283B"/>
                </a:solidFill>
                <a:latin typeface="Segoe UI"/>
              </a:defRPr>
            </a:pPr>
            <a:r>
              <a:t>And some of it gets deleted by mistake</a:t>
            </a:r>
          </a:p>
        </p:txBody>
      </p:sp>
      <p:sp>
        <p:nvSpPr>
          <p:cNvPr id="20" name="TextBox 19"/>
          <p:cNvSpPr txBox="1"/>
          <p:nvPr/>
        </p:nvSpPr>
        <p:spPr>
          <a:xfrm>
            <a:off x="1828800" y="4617720"/>
            <a:ext cx="9326880" cy="402336"/>
          </a:xfrm>
          <a:prstGeom prst="rect">
            <a:avLst/>
          </a:prstGeom>
          <a:noFill/>
        </p:spPr>
        <p:txBody>
          <a:bodyPr wrap="square">
            <a:spAutoFit/>
          </a:bodyPr>
          <a:lstStyle/>
          <a:p>
            <a:pPr algn="l">
              <a:defRPr sz="1350" b="0" i="0">
                <a:solidFill>
                  <a:srgbClr val="5A7184"/>
                </a:solidFill>
                <a:latin typeface="Segoe UI"/>
              </a:defRPr>
            </a:pPr>
            <a:r>
              <a:t>Someone on your team deletes data and drops a table by accident. You have to get both back.</a:t>
            </a:r>
          </a:p>
        </p:txBody>
      </p:sp>
      <p:sp>
        <p:nvSpPr>
          <p:cNvPr id="21" name="Rounded Rectangle 20"/>
          <p:cNvSpPr/>
          <p:nvPr/>
        </p:nvSpPr>
        <p:spPr>
          <a:xfrm>
            <a:off x="731520" y="5230368"/>
            <a:ext cx="10698480" cy="960120"/>
          </a:xfrm>
          <a:prstGeom prst="roundRect">
            <a:avLst>
              <a:gd name="adj" fmla="val 8000"/>
            </a:avLst>
          </a:prstGeom>
          <a:solidFill>
            <a:srgbClr val="EAF3FA"/>
          </a:solidFill>
          <a:ln w="19050">
            <a:solidFill>
              <a:srgbClr val="1BA37A"/>
            </a:solidFill>
          </a:ln>
          <a:effectLst/>
        </p:spPr>
        <p:txBody>
          <a:bodyPr rtlCol="0" anchor="ctr"/>
          <a:lstStyle/>
          <a:p>
            <a:pPr algn="ctr"/>
          </a:p>
        </p:txBody>
      </p:sp>
      <p:sp>
        <p:nvSpPr>
          <p:cNvPr id="22" name="Oval 21"/>
          <p:cNvSpPr/>
          <p:nvPr/>
        </p:nvSpPr>
        <p:spPr>
          <a:xfrm>
            <a:off x="987552" y="5504688"/>
            <a:ext cx="420624" cy="420624"/>
          </a:xfrm>
          <a:prstGeom prst="ellipse">
            <a:avLst/>
          </a:prstGeom>
          <a:solidFill>
            <a:srgbClr val="1BA37A"/>
          </a:solidFill>
          <a:ln>
            <a:noFill/>
          </a:ln>
          <a:effectLst/>
        </p:spPr>
        <p:txBody>
          <a:bodyPr rtlCol="0" anchor="ctr" wrap="none"/>
          <a:lstStyle/>
          <a:p>
            <a:pPr algn="ctr">
              <a:defRPr sz="800">
                <a:solidFill>
                  <a:srgbClr val="FFFFFF"/>
                </a:solidFill>
              </a:defRPr>
            </a:pPr>
            <a:r>
              <a:t>📋</a:t>
            </a:r>
          </a:p>
        </p:txBody>
      </p:sp>
      <p:sp>
        <p:nvSpPr>
          <p:cNvPr id="23" name="TextBox 22"/>
          <p:cNvSpPr txBox="1"/>
          <p:nvPr/>
        </p:nvSpPr>
        <p:spPr>
          <a:xfrm>
            <a:off x="1645920" y="5321807"/>
            <a:ext cx="9509760" cy="274320"/>
          </a:xfrm>
          <a:prstGeom prst="rect">
            <a:avLst/>
          </a:prstGeom>
          <a:noFill/>
        </p:spPr>
        <p:txBody>
          <a:bodyPr wrap="square">
            <a:spAutoFit/>
          </a:bodyPr>
          <a:lstStyle/>
          <a:p>
            <a:pPr algn="l">
              <a:defRPr sz="1050" b="1" i="0">
                <a:solidFill>
                  <a:srgbClr val="5A7184"/>
                </a:solidFill>
                <a:latin typeface="Segoe UI"/>
              </a:defRPr>
            </a:pPr>
            <a:r>
              <a:t>THE DATA</a:t>
            </a:r>
          </a:p>
        </p:txBody>
      </p:sp>
      <p:sp>
        <p:nvSpPr>
          <p:cNvPr id="24" name="TextBox 23"/>
          <p:cNvSpPr txBox="1"/>
          <p:nvPr/>
        </p:nvSpPr>
        <p:spPr>
          <a:xfrm>
            <a:off x="1645920" y="5577840"/>
            <a:ext cx="9601200" cy="566928"/>
          </a:xfrm>
          <a:prstGeom prst="rect">
            <a:avLst/>
          </a:prstGeom>
          <a:noFill/>
        </p:spPr>
        <p:txBody>
          <a:bodyPr wrap="square">
            <a:spAutoFit/>
          </a:bodyPr>
          <a:lstStyle/>
          <a:p>
            <a:pPr algn="l">
              <a:defRPr sz="1350" b="0" i="0">
                <a:solidFill>
                  <a:srgbClr val="11283B"/>
                </a:solidFill>
                <a:latin typeface="Segoe UI"/>
              </a:defRPr>
            </a:pPr>
            <a:r>
              <a:t>8 accounts, 8 subscriptions and 6 nested JSON usage events. The starter script loads them for you.</a:t>
            </a:r>
          </a:p>
        </p:txBody>
      </p:sp>
      <p:sp>
        <p:nvSpPr>
          <p:cNvPr id="25" name="TextBox 24"/>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TextBox 5"/>
          <p:cNvSpPr txBox="1"/>
          <p:nvPr/>
        </p:nvSpPr>
        <p:spPr>
          <a:xfrm>
            <a:off x="731520" y="365760"/>
            <a:ext cx="10698480" cy="640080"/>
          </a:xfrm>
          <a:prstGeom prst="rect">
            <a:avLst/>
          </a:prstGeom>
          <a:noFill/>
        </p:spPr>
        <p:txBody>
          <a:bodyPr wrap="square">
            <a:spAutoFit/>
          </a:bodyPr>
          <a:lstStyle/>
          <a:p>
            <a:pPr algn="l">
              <a:defRPr sz="3200" b="1" i="0">
                <a:solidFill>
                  <a:srgbClr val="11283B"/>
                </a:solidFill>
                <a:latin typeface="Segoe UI Semibold"/>
              </a:defRPr>
            </a:pPr>
            <a:r>
              <a:t>Your Tasks</a:t>
            </a:r>
          </a:p>
        </p:txBody>
      </p:sp>
      <p:sp>
        <p:nvSpPr>
          <p:cNvPr id="7" name="Rectangle 6"/>
          <p:cNvSpPr/>
          <p:nvPr/>
        </p:nvSpPr>
        <p:spPr>
          <a:xfrm>
            <a:off x="731520" y="1005840"/>
            <a:ext cx="2286000" cy="27432"/>
          </a:xfrm>
          <a:prstGeom prst="rect">
            <a:avLst/>
          </a:prstGeom>
          <a:solidFill>
            <a:srgbClr val="29B5E8"/>
          </a:solidFill>
          <a:ln>
            <a:noFill/>
          </a:ln>
          <a:effectLst/>
        </p:spPr>
        <p:txBody>
          <a:bodyPr rtlCol="0" anchor="ctr"/>
          <a:lstStyle/>
          <a:p>
            <a:pPr algn="ctr"/>
          </a:p>
        </p:txBody>
      </p:sp>
      <p:sp>
        <p:nvSpPr>
          <p:cNvPr id="8" name="TextBox 7"/>
          <p:cNvSpPr txBox="1"/>
          <p:nvPr/>
        </p:nvSpPr>
        <p:spPr>
          <a:xfrm>
            <a:off x="731520" y="1170432"/>
            <a:ext cx="10698480" cy="457200"/>
          </a:xfrm>
          <a:prstGeom prst="rect">
            <a:avLst/>
          </a:prstGeom>
          <a:noFill/>
        </p:spPr>
        <p:txBody>
          <a:bodyPr wrap="square">
            <a:spAutoFit/>
          </a:bodyPr>
          <a:lstStyle/>
          <a:p>
            <a:pPr algn="l">
              <a:defRPr sz="1600" b="0" i="1">
                <a:solidFill>
                  <a:srgbClr val="5A7184"/>
                </a:solidFill>
                <a:latin typeface="Segoe UI"/>
              </a:defRPr>
            </a:pPr>
            <a:r>
              <a:t>Try it yourself first with the starter files, then compare with the full solution</a:t>
            </a:r>
          </a:p>
        </p:txBody>
      </p:sp>
      <p:sp>
        <p:nvSpPr>
          <p:cNvPr id="9" name="Rounded Rectangle 8"/>
          <p:cNvSpPr/>
          <p:nvPr/>
        </p:nvSpPr>
        <p:spPr>
          <a:xfrm>
            <a:off x="731520" y="1691640"/>
            <a:ext cx="5257800" cy="603504"/>
          </a:xfrm>
          <a:prstGeom prst="roundRect">
            <a:avLst>
              <a:gd name="adj" fmla="val 8000"/>
            </a:avLst>
          </a:prstGeom>
          <a:solidFill>
            <a:srgbClr val="F4F8FB"/>
          </a:solidFill>
          <a:ln w="19050">
            <a:solidFill>
              <a:srgbClr val="29B5E8"/>
            </a:solidFill>
          </a:ln>
          <a:effectLst/>
        </p:spPr>
        <p:txBody>
          <a:bodyPr rtlCol="0" anchor="ctr"/>
          <a:lstStyle/>
          <a:p>
            <a:pPr algn="ctr"/>
          </a:p>
        </p:txBody>
      </p:sp>
      <p:sp>
        <p:nvSpPr>
          <p:cNvPr id="10" name="Oval 9"/>
          <p:cNvSpPr/>
          <p:nvPr/>
        </p:nvSpPr>
        <p:spPr>
          <a:xfrm>
            <a:off x="886968" y="1810512"/>
            <a:ext cx="365760" cy="365760"/>
          </a:xfrm>
          <a:prstGeom prst="ellipse">
            <a:avLst/>
          </a:prstGeom>
          <a:solidFill>
            <a:srgbClr val="29B5E8"/>
          </a:solidFill>
          <a:ln>
            <a:noFill/>
          </a:ln>
          <a:effectLst/>
        </p:spPr>
        <p:txBody>
          <a:bodyPr rtlCol="0" anchor="ctr" wrap="none"/>
          <a:lstStyle/>
          <a:p>
            <a:pPr algn="ctr">
              <a:defRPr sz="700">
                <a:solidFill>
                  <a:srgbClr val="FFFFFF"/>
                </a:solidFill>
              </a:defRPr>
            </a:pPr>
            <a:r>
              <a:t>1</a:t>
            </a:r>
          </a:p>
        </p:txBody>
      </p:sp>
      <p:sp>
        <p:nvSpPr>
          <p:cNvPr id="11" name="TextBox 10"/>
          <p:cNvSpPr txBox="1"/>
          <p:nvPr/>
        </p:nvSpPr>
        <p:spPr>
          <a:xfrm>
            <a:off x="1417320" y="1691640"/>
            <a:ext cx="4434840" cy="603504"/>
          </a:xfrm>
          <a:prstGeom prst="rect">
            <a:avLst/>
          </a:prstGeom>
          <a:noFill/>
        </p:spPr>
        <p:txBody>
          <a:bodyPr wrap="square" anchor="ctr">
            <a:spAutoFit/>
          </a:bodyPr>
          <a:lstStyle/>
          <a:p>
            <a:pPr algn="l">
              <a:defRPr sz="1350" b="1" i="0">
                <a:solidFill>
                  <a:srgbClr val="11283B"/>
                </a:solidFill>
                <a:latin typeface="Segoe UI"/>
              </a:defRPr>
            </a:pPr>
            <a:r>
              <a:t>Set up compute for loading and for analysts, and cap the spend</a:t>
            </a:r>
          </a:p>
        </p:txBody>
      </p:sp>
      <p:sp>
        <p:nvSpPr>
          <p:cNvPr id="12" name="Rounded Rectangle 11"/>
          <p:cNvSpPr/>
          <p:nvPr/>
        </p:nvSpPr>
        <p:spPr>
          <a:xfrm>
            <a:off x="6172200" y="1691640"/>
            <a:ext cx="5257800" cy="603504"/>
          </a:xfrm>
          <a:prstGeom prst="roundRect">
            <a:avLst>
              <a:gd name="adj" fmla="val 8000"/>
            </a:avLst>
          </a:prstGeom>
          <a:solidFill>
            <a:srgbClr val="F4F8FB"/>
          </a:solidFill>
          <a:ln w="19050">
            <a:solidFill>
              <a:srgbClr val="6B5BD2"/>
            </a:solidFill>
          </a:ln>
          <a:effectLst/>
        </p:spPr>
        <p:txBody>
          <a:bodyPr rtlCol="0" anchor="ctr"/>
          <a:lstStyle/>
          <a:p>
            <a:pPr algn="ctr"/>
          </a:p>
        </p:txBody>
      </p:sp>
      <p:sp>
        <p:nvSpPr>
          <p:cNvPr id="13" name="Oval 12"/>
          <p:cNvSpPr/>
          <p:nvPr/>
        </p:nvSpPr>
        <p:spPr>
          <a:xfrm>
            <a:off x="6327648" y="1810512"/>
            <a:ext cx="365760" cy="365760"/>
          </a:xfrm>
          <a:prstGeom prst="ellipse">
            <a:avLst/>
          </a:prstGeom>
          <a:solidFill>
            <a:srgbClr val="6B5BD2"/>
          </a:solidFill>
          <a:ln>
            <a:noFill/>
          </a:ln>
          <a:effectLst/>
        </p:spPr>
        <p:txBody>
          <a:bodyPr rtlCol="0" anchor="ctr" wrap="none"/>
          <a:lstStyle/>
          <a:p>
            <a:pPr algn="ctr">
              <a:defRPr sz="700">
                <a:solidFill>
                  <a:srgbClr val="FFFFFF"/>
                </a:solidFill>
              </a:defRPr>
            </a:pPr>
            <a:r>
              <a:t>2</a:t>
            </a:r>
          </a:p>
        </p:txBody>
      </p:sp>
      <p:sp>
        <p:nvSpPr>
          <p:cNvPr id="14" name="TextBox 13"/>
          <p:cNvSpPr txBox="1"/>
          <p:nvPr/>
        </p:nvSpPr>
        <p:spPr>
          <a:xfrm>
            <a:off x="6858000" y="1691640"/>
            <a:ext cx="4434840" cy="603504"/>
          </a:xfrm>
          <a:prstGeom prst="rect">
            <a:avLst/>
          </a:prstGeom>
          <a:noFill/>
        </p:spPr>
        <p:txBody>
          <a:bodyPr wrap="square" anchor="ctr">
            <a:spAutoFit/>
          </a:bodyPr>
          <a:lstStyle/>
          <a:p>
            <a:pPr algn="l">
              <a:defRPr sz="1350" b="1" i="0">
                <a:solidFill>
                  <a:srgbClr val="11283B"/>
                </a:solidFill>
                <a:latin typeface="Segoe UI"/>
              </a:defRPr>
            </a:pPr>
            <a:r>
              <a:t>Pick the right table type for each table</a:t>
            </a:r>
          </a:p>
        </p:txBody>
      </p:sp>
      <p:sp>
        <p:nvSpPr>
          <p:cNvPr id="15" name="Rounded Rectangle 14"/>
          <p:cNvSpPr/>
          <p:nvPr/>
        </p:nvSpPr>
        <p:spPr>
          <a:xfrm>
            <a:off x="731520" y="2404872"/>
            <a:ext cx="5257800" cy="603504"/>
          </a:xfrm>
          <a:prstGeom prst="roundRect">
            <a:avLst>
              <a:gd name="adj" fmla="val 8000"/>
            </a:avLst>
          </a:prstGeom>
          <a:solidFill>
            <a:srgbClr val="F4F8FB"/>
          </a:solidFill>
          <a:ln w="19050">
            <a:solidFill>
              <a:srgbClr val="E8833A"/>
            </a:solidFill>
          </a:ln>
          <a:effectLst/>
        </p:spPr>
        <p:txBody>
          <a:bodyPr rtlCol="0" anchor="ctr"/>
          <a:lstStyle/>
          <a:p>
            <a:pPr algn="ctr"/>
          </a:p>
        </p:txBody>
      </p:sp>
      <p:sp>
        <p:nvSpPr>
          <p:cNvPr id="16" name="Oval 15"/>
          <p:cNvSpPr/>
          <p:nvPr/>
        </p:nvSpPr>
        <p:spPr>
          <a:xfrm>
            <a:off x="886968" y="2523744"/>
            <a:ext cx="365760" cy="365760"/>
          </a:xfrm>
          <a:prstGeom prst="ellipse">
            <a:avLst/>
          </a:prstGeom>
          <a:solidFill>
            <a:srgbClr val="E8833A"/>
          </a:solidFill>
          <a:ln>
            <a:noFill/>
          </a:ln>
          <a:effectLst/>
        </p:spPr>
        <p:txBody>
          <a:bodyPr rtlCol="0" anchor="ctr" wrap="none"/>
          <a:lstStyle/>
          <a:p>
            <a:pPr algn="ctr">
              <a:defRPr sz="700">
                <a:solidFill>
                  <a:srgbClr val="FFFFFF"/>
                </a:solidFill>
              </a:defRPr>
            </a:pPr>
            <a:r>
              <a:t>3</a:t>
            </a:r>
          </a:p>
        </p:txBody>
      </p:sp>
      <p:sp>
        <p:nvSpPr>
          <p:cNvPr id="17" name="TextBox 16"/>
          <p:cNvSpPr txBox="1"/>
          <p:nvPr/>
        </p:nvSpPr>
        <p:spPr>
          <a:xfrm>
            <a:off x="1417320" y="2404872"/>
            <a:ext cx="4434840" cy="603504"/>
          </a:xfrm>
          <a:prstGeom prst="rect">
            <a:avLst/>
          </a:prstGeom>
          <a:noFill/>
        </p:spPr>
        <p:txBody>
          <a:bodyPr wrap="square" anchor="ctr">
            <a:spAutoFit/>
          </a:bodyPr>
          <a:lstStyle/>
          <a:p>
            <a:pPr algn="l">
              <a:defRPr sz="1350" b="1" i="0">
                <a:solidFill>
                  <a:srgbClr val="11283B"/>
                </a:solidFill>
                <a:latin typeface="Segoe UI"/>
              </a:defRPr>
            </a:pPr>
            <a:r>
              <a:t>Turn the nested JSON events into rows analysts can query</a:t>
            </a:r>
          </a:p>
        </p:txBody>
      </p:sp>
      <p:sp>
        <p:nvSpPr>
          <p:cNvPr id="18" name="Rounded Rectangle 17"/>
          <p:cNvSpPr/>
          <p:nvPr/>
        </p:nvSpPr>
        <p:spPr>
          <a:xfrm>
            <a:off x="6172200" y="2404872"/>
            <a:ext cx="5257800" cy="603504"/>
          </a:xfrm>
          <a:prstGeom prst="roundRect">
            <a:avLst>
              <a:gd name="adj" fmla="val 8000"/>
            </a:avLst>
          </a:prstGeom>
          <a:solidFill>
            <a:srgbClr val="F4F8FB"/>
          </a:solidFill>
          <a:ln w="19050">
            <a:solidFill>
              <a:srgbClr val="1BA37A"/>
            </a:solidFill>
          </a:ln>
          <a:effectLst/>
        </p:spPr>
        <p:txBody>
          <a:bodyPr rtlCol="0" anchor="ctr"/>
          <a:lstStyle/>
          <a:p>
            <a:pPr algn="ctr"/>
          </a:p>
        </p:txBody>
      </p:sp>
      <p:sp>
        <p:nvSpPr>
          <p:cNvPr id="19" name="Oval 18"/>
          <p:cNvSpPr/>
          <p:nvPr/>
        </p:nvSpPr>
        <p:spPr>
          <a:xfrm>
            <a:off x="6327648" y="2523744"/>
            <a:ext cx="365760" cy="365760"/>
          </a:xfrm>
          <a:prstGeom prst="ellipse">
            <a:avLst/>
          </a:prstGeom>
          <a:solidFill>
            <a:srgbClr val="1BA37A"/>
          </a:solidFill>
          <a:ln>
            <a:noFill/>
          </a:ln>
          <a:effectLst/>
        </p:spPr>
        <p:txBody>
          <a:bodyPr rtlCol="0" anchor="ctr" wrap="none"/>
          <a:lstStyle/>
          <a:p>
            <a:pPr algn="ctr">
              <a:defRPr sz="700">
                <a:solidFill>
                  <a:srgbClr val="FFFFFF"/>
                </a:solidFill>
              </a:defRPr>
            </a:pPr>
            <a:r>
              <a:t>4</a:t>
            </a:r>
          </a:p>
        </p:txBody>
      </p:sp>
      <p:sp>
        <p:nvSpPr>
          <p:cNvPr id="20" name="TextBox 19"/>
          <p:cNvSpPr txBox="1"/>
          <p:nvPr/>
        </p:nvSpPr>
        <p:spPr>
          <a:xfrm>
            <a:off x="6858000" y="2404872"/>
            <a:ext cx="4434840" cy="603504"/>
          </a:xfrm>
          <a:prstGeom prst="rect">
            <a:avLst/>
          </a:prstGeom>
          <a:noFill/>
        </p:spPr>
        <p:txBody>
          <a:bodyPr wrap="square" anchor="ctr">
            <a:spAutoFit/>
          </a:bodyPr>
          <a:lstStyle/>
          <a:p>
            <a:pPr algn="l">
              <a:defRPr sz="1350" b="1" i="0">
                <a:solidFill>
                  <a:srgbClr val="11283B"/>
                </a:solidFill>
                <a:latin typeface="Segoe UI"/>
              </a:defRPr>
            </a:pPr>
            <a:r>
              <a:t>Give each team its own view, with billing visible only to finance</a:t>
            </a:r>
          </a:p>
        </p:txBody>
      </p:sp>
      <p:sp>
        <p:nvSpPr>
          <p:cNvPr id="21" name="Rounded Rectangle 20"/>
          <p:cNvSpPr/>
          <p:nvPr/>
        </p:nvSpPr>
        <p:spPr>
          <a:xfrm>
            <a:off x="731520" y="3118104"/>
            <a:ext cx="5257800" cy="603504"/>
          </a:xfrm>
          <a:prstGeom prst="roundRect">
            <a:avLst>
              <a:gd name="adj" fmla="val 8000"/>
            </a:avLst>
          </a:prstGeom>
          <a:solidFill>
            <a:srgbClr val="F4F8FB"/>
          </a:solidFill>
          <a:ln w="19050">
            <a:solidFill>
              <a:srgbClr val="E5484D"/>
            </a:solidFill>
          </a:ln>
          <a:effectLst/>
        </p:spPr>
        <p:txBody>
          <a:bodyPr rtlCol="0" anchor="ctr"/>
          <a:lstStyle/>
          <a:p>
            <a:pPr algn="ctr"/>
          </a:p>
        </p:txBody>
      </p:sp>
      <p:sp>
        <p:nvSpPr>
          <p:cNvPr id="22" name="Oval 21"/>
          <p:cNvSpPr/>
          <p:nvPr/>
        </p:nvSpPr>
        <p:spPr>
          <a:xfrm>
            <a:off x="886968" y="3236976"/>
            <a:ext cx="365760" cy="365760"/>
          </a:xfrm>
          <a:prstGeom prst="ellipse">
            <a:avLst/>
          </a:prstGeom>
          <a:solidFill>
            <a:srgbClr val="E5484D"/>
          </a:solidFill>
          <a:ln>
            <a:noFill/>
          </a:ln>
          <a:effectLst/>
        </p:spPr>
        <p:txBody>
          <a:bodyPr rtlCol="0" anchor="ctr" wrap="none"/>
          <a:lstStyle/>
          <a:p>
            <a:pPr algn="ctr">
              <a:defRPr sz="700">
                <a:solidFill>
                  <a:srgbClr val="FFFFFF"/>
                </a:solidFill>
              </a:defRPr>
            </a:pPr>
            <a:r>
              <a:t>5</a:t>
            </a:r>
          </a:p>
        </p:txBody>
      </p:sp>
      <p:sp>
        <p:nvSpPr>
          <p:cNvPr id="23" name="TextBox 22"/>
          <p:cNvSpPr txBox="1"/>
          <p:nvPr/>
        </p:nvSpPr>
        <p:spPr>
          <a:xfrm>
            <a:off x="1417320" y="3118104"/>
            <a:ext cx="4434840" cy="603504"/>
          </a:xfrm>
          <a:prstGeom prst="rect">
            <a:avLst/>
          </a:prstGeom>
          <a:noFill/>
        </p:spPr>
        <p:txBody>
          <a:bodyPr wrap="square" anchor="ctr">
            <a:spAutoFit/>
          </a:bodyPr>
          <a:lstStyle/>
          <a:p>
            <a:pPr algn="l">
              <a:defRPr sz="1350" b="1" i="0">
                <a:solidFill>
                  <a:srgbClr val="11283B"/>
                </a:solidFill>
                <a:latin typeface="Segoe UI"/>
              </a:defRPr>
            </a:pPr>
            <a:r>
              <a:t>Recover the deleted data and the dropped table</a:t>
            </a:r>
          </a:p>
        </p:txBody>
      </p:sp>
      <p:sp>
        <p:nvSpPr>
          <p:cNvPr id="24" name="Rounded Rectangle 23"/>
          <p:cNvSpPr/>
          <p:nvPr/>
        </p:nvSpPr>
        <p:spPr>
          <a:xfrm>
            <a:off x="6172200" y="3118104"/>
            <a:ext cx="5257800" cy="603504"/>
          </a:xfrm>
          <a:prstGeom prst="roundRect">
            <a:avLst>
              <a:gd name="adj" fmla="val 8000"/>
            </a:avLst>
          </a:prstGeom>
          <a:solidFill>
            <a:srgbClr val="F4F8FB"/>
          </a:solidFill>
          <a:ln w="19050">
            <a:solidFill>
              <a:srgbClr val="11567F"/>
            </a:solidFill>
          </a:ln>
          <a:effectLst/>
        </p:spPr>
        <p:txBody>
          <a:bodyPr rtlCol="0" anchor="ctr"/>
          <a:lstStyle/>
          <a:p>
            <a:pPr algn="ctr"/>
          </a:p>
        </p:txBody>
      </p:sp>
      <p:sp>
        <p:nvSpPr>
          <p:cNvPr id="25" name="Oval 24"/>
          <p:cNvSpPr/>
          <p:nvPr/>
        </p:nvSpPr>
        <p:spPr>
          <a:xfrm>
            <a:off x="6327648" y="3236976"/>
            <a:ext cx="365760" cy="365760"/>
          </a:xfrm>
          <a:prstGeom prst="ellipse">
            <a:avLst/>
          </a:prstGeom>
          <a:solidFill>
            <a:srgbClr val="11567F"/>
          </a:solidFill>
          <a:ln>
            <a:noFill/>
          </a:ln>
          <a:effectLst/>
        </p:spPr>
        <p:txBody>
          <a:bodyPr rtlCol="0" anchor="ctr" wrap="none"/>
          <a:lstStyle/>
          <a:p>
            <a:pPr algn="ctr">
              <a:defRPr sz="700">
                <a:solidFill>
                  <a:srgbClr val="FFFFFF"/>
                </a:solidFill>
              </a:defRPr>
            </a:pPr>
            <a:r>
              <a:t>6</a:t>
            </a:r>
          </a:p>
        </p:txBody>
      </p:sp>
      <p:sp>
        <p:nvSpPr>
          <p:cNvPr id="26" name="TextBox 25"/>
          <p:cNvSpPr txBox="1"/>
          <p:nvPr/>
        </p:nvSpPr>
        <p:spPr>
          <a:xfrm>
            <a:off x="6858000" y="3118104"/>
            <a:ext cx="4434840" cy="603504"/>
          </a:xfrm>
          <a:prstGeom prst="rect">
            <a:avLst/>
          </a:prstGeom>
          <a:noFill/>
        </p:spPr>
        <p:txBody>
          <a:bodyPr wrap="square" anchor="ctr">
            <a:spAutoFit/>
          </a:bodyPr>
          <a:lstStyle/>
          <a:p>
            <a:pPr algn="l">
              <a:defRPr sz="1350" b="1" i="0">
                <a:solidFill>
                  <a:srgbClr val="11283B"/>
                </a:solidFill>
                <a:latin typeface="Segoe UI"/>
              </a:defRPr>
            </a:pPr>
            <a:r>
              <a:t>Give the team a dev copy of the schema for risky changes</a:t>
            </a:r>
          </a:p>
        </p:txBody>
      </p:sp>
      <p:sp>
        <p:nvSpPr>
          <p:cNvPr id="27" name="Rounded Rectangle 26">
            <a:hlinkClick r:id="rId2"/>
          </p:cNvPr>
          <p:cNvSpPr/>
          <p:nvPr/>
        </p:nvSpPr>
        <p:spPr>
          <a:xfrm>
            <a:off x="731520" y="3977639"/>
            <a:ext cx="10698480" cy="1280160"/>
          </a:xfrm>
          <a:prstGeom prst="roundRect">
            <a:avLst>
              <a:gd name="adj" fmla="val 8000"/>
            </a:avLst>
          </a:prstGeom>
          <a:solidFill>
            <a:srgbClr val="EAF3FA"/>
          </a:solidFill>
          <a:ln w="19050">
            <a:solidFill>
              <a:srgbClr val="11567F"/>
            </a:solidFill>
          </a:ln>
          <a:effectLst/>
        </p:spPr>
        <p:txBody>
          <a:bodyPr rtlCol="0" anchor="ctr"/>
          <a:lstStyle/>
          <a:p>
            <a:pPr algn="ctr"/>
          </a:p>
        </p:txBody>
      </p:sp>
      <p:sp>
        <p:nvSpPr>
          <p:cNvPr id="28" name="Oval 27"/>
          <p:cNvSpPr/>
          <p:nvPr/>
        </p:nvSpPr>
        <p:spPr>
          <a:xfrm>
            <a:off x="1051560" y="4160520"/>
            <a:ext cx="420624" cy="420624"/>
          </a:xfrm>
          <a:prstGeom prst="ellipse">
            <a:avLst/>
          </a:prstGeom>
          <a:solidFill>
            <a:srgbClr val="11567F"/>
          </a:solidFill>
          <a:ln>
            <a:noFill/>
          </a:ln>
          <a:effectLst/>
        </p:spPr>
        <p:txBody>
          <a:bodyPr rtlCol="0" anchor="ctr" wrap="none"/>
          <a:lstStyle/>
          <a:p>
            <a:pPr algn="ctr">
              <a:defRPr sz="800">
                <a:solidFill>
                  <a:srgbClr val="FFFFFF"/>
                </a:solidFill>
              </a:defRPr>
            </a:pPr>
            <a:r>
              <a:t>🔗</a:t>
            </a:r>
          </a:p>
        </p:txBody>
      </p:sp>
      <p:sp>
        <p:nvSpPr>
          <p:cNvPr id="29" name="TextBox 28"/>
          <p:cNvSpPr txBox="1"/>
          <p:nvPr/>
        </p:nvSpPr>
        <p:spPr>
          <a:xfrm>
            <a:off x="1691640" y="4160520"/>
            <a:ext cx="8229600" cy="365760"/>
          </a:xfrm>
          <a:prstGeom prst="rect">
            <a:avLst/>
          </a:prstGeom>
          <a:noFill/>
        </p:spPr>
        <p:txBody>
          <a:bodyPr wrap="square">
            <a:spAutoFit/>
          </a:bodyPr>
          <a:lstStyle/>
          <a:p>
            <a:pPr algn="l">
              <a:defRPr sz="1200" b="1" i="0">
                <a:solidFill>
                  <a:srgbClr val="5A7184"/>
                </a:solidFill>
                <a:latin typeface="Segoe UI"/>
              </a:defRPr>
            </a:pPr>
            <a:r>
              <a:rPr spc="150"/>
              <a:t>FULL SOLUTION, WALKTHROUGH AND SOURCE CODE</a:t>
            </a:r>
          </a:p>
        </p:txBody>
      </p:sp>
      <p:sp>
        <p:nvSpPr>
          <p:cNvPr id="30" name="TextBox 29"/>
          <p:cNvSpPr txBox="1"/>
          <p:nvPr/>
        </p:nvSpPr>
        <p:spPr>
          <a:xfrm>
            <a:off x="914400" y="4617720"/>
            <a:ext cx="10332720" cy="502920"/>
          </a:xfrm>
          <a:prstGeom prst="rect">
            <a:avLst/>
          </a:prstGeom>
          <a:noFill/>
        </p:spPr>
        <p:txBody>
          <a:bodyPr wrap="none" anchor="ctr">
            <a:spAutoFit/>
          </a:bodyPr>
          <a:lstStyle/>
          <a:p>
            <a:pPr algn="ctr"/>
            <a:r>
              <a:rPr sz="2000" b="1" u="sng">
                <a:solidFill>
                  <a:srgbClr val="11567F"/>
                </a:solidFill>
                <a:latin typeface="Segoe UI Semibold"/>
                <a:hlinkClick r:id="rId2"/>
              </a:rPr>
              <a:t>https://cognifydata.com/labs/saas-snowflake-core-fundamentals</a:t>
            </a:r>
          </a:p>
        </p:txBody>
      </p:sp>
      <p:sp>
        <p:nvSpPr>
          <p:cNvPr id="31" name="Rounded Rectangle 30"/>
          <p:cNvSpPr/>
          <p:nvPr/>
        </p:nvSpPr>
        <p:spPr>
          <a:xfrm>
            <a:off x="73152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2" name="Oval 31"/>
          <p:cNvSpPr/>
          <p:nvPr/>
        </p:nvSpPr>
        <p:spPr>
          <a:xfrm>
            <a:off x="914400"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3" name="TextBox 32"/>
          <p:cNvSpPr txBox="1"/>
          <p:nvPr/>
        </p:nvSpPr>
        <p:spPr>
          <a:xfrm>
            <a:off x="1371600" y="5422392"/>
            <a:ext cx="2743200" cy="530352"/>
          </a:xfrm>
          <a:prstGeom prst="rect">
            <a:avLst/>
          </a:prstGeom>
          <a:noFill/>
        </p:spPr>
        <p:txBody>
          <a:bodyPr wrap="square" anchor="ctr">
            <a:spAutoFit/>
          </a:bodyPr>
          <a:lstStyle/>
          <a:p>
            <a:pPr algn="l">
              <a:defRPr sz="1400" b="1" i="0">
                <a:solidFill>
                  <a:srgbClr val="11283B"/>
                </a:solidFill>
                <a:latin typeface="Segoe UI"/>
              </a:defRPr>
            </a:pPr>
            <a:r>
              <a:t>Starter files attached</a:t>
            </a:r>
          </a:p>
        </p:txBody>
      </p:sp>
      <p:sp>
        <p:nvSpPr>
          <p:cNvPr id="34" name="Rounded Rectangle 33"/>
          <p:cNvSpPr/>
          <p:nvPr/>
        </p:nvSpPr>
        <p:spPr>
          <a:xfrm>
            <a:off x="436626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5" name="Oval 34"/>
          <p:cNvSpPr/>
          <p:nvPr/>
        </p:nvSpPr>
        <p:spPr>
          <a:xfrm>
            <a:off x="4549140"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6" name="TextBox 35"/>
          <p:cNvSpPr txBox="1"/>
          <p:nvPr/>
        </p:nvSpPr>
        <p:spPr>
          <a:xfrm>
            <a:off x="5006340" y="5422392"/>
            <a:ext cx="2743200" cy="530352"/>
          </a:xfrm>
          <a:prstGeom prst="rect">
            <a:avLst/>
          </a:prstGeom>
          <a:noFill/>
        </p:spPr>
        <p:txBody>
          <a:bodyPr wrap="square" anchor="ctr">
            <a:spAutoFit/>
          </a:bodyPr>
          <a:lstStyle/>
          <a:p>
            <a:pPr algn="l">
              <a:defRPr sz="1400" b="1" i="0">
                <a:solidFill>
                  <a:srgbClr val="11283B"/>
                </a:solidFill>
                <a:latin typeface="Segoe UI"/>
              </a:defRPr>
            </a:pPr>
            <a:r>
              <a:t>Free, no sign-up</a:t>
            </a:r>
          </a:p>
        </p:txBody>
      </p:sp>
      <p:sp>
        <p:nvSpPr>
          <p:cNvPr id="37" name="Rounded Rectangle 36"/>
          <p:cNvSpPr/>
          <p:nvPr/>
        </p:nvSpPr>
        <p:spPr>
          <a:xfrm>
            <a:off x="800100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8" name="Oval 37"/>
          <p:cNvSpPr/>
          <p:nvPr/>
        </p:nvSpPr>
        <p:spPr>
          <a:xfrm>
            <a:off x="8183879"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9" name="TextBox 38"/>
          <p:cNvSpPr txBox="1"/>
          <p:nvPr/>
        </p:nvSpPr>
        <p:spPr>
          <a:xfrm>
            <a:off x="8641080" y="5422392"/>
            <a:ext cx="2743200" cy="530352"/>
          </a:xfrm>
          <a:prstGeom prst="rect">
            <a:avLst/>
          </a:prstGeom>
          <a:noFill/>
        </p:spPr>
        <p:txBody>
          <a:bodyPr wrap="square" anchor="ctr">
            <a:spAutoFit/>
          </a:bodyPr>
          <a:lstStyle/>
          <a:p>
            <a:pPr algn="l">
              <a:defRPr sz="1400" b="1" i="0">
                <a:solidFill>
                  <a:srgbClr val="11283B"/>
                </a:solidFill>
                <a:latin typeface="Segoe UI"/>
              </a:defRPr>
            </a:pPr>
            <a:r>
              <a:t>Step-by-step solution</a:t>
            </a:r>
          </a:p>
        </p:txBody>
      </p:sp>
      <p:sp>
        <p:nvSpPr>
          <p:cNvPr id="40" name="TextBox 39"/>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1567F"/>
      </a:hlink>
      <a:folHlink>
        <a:srgbClr val="11567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